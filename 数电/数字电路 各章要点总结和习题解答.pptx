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2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8"/>
  </p:notesMasterIdLst>
  <p:sldIdLst>
    <p:sldId id="456" r:id="rId2"/>
    <p:sldId id="477" r:id="rId3"/>
    <p:sldId id="502" r:id="rId4"/>
    <p:sldId id="471" r:id="rId5"/>
    <p:sldId id="472" r:id="rId6"/>
    <p:sldId id="506" r:id="rId7"/>
    <p:sldId id="507" r:id="rId8"/>
    <p:sldId id="504" r:id="rId9"/>
    <p:sldId id="487" r:id="rId10"/>
    <p:sldId id="489" r:id="rId11"/>
    <p:sldId id="486" r:id="rId12"/>
    <p:sldId id="490" r:id="rId13"/>
    <p:sldId id="503" r:id="rId14"/>
    <p:sldId id="509" r:id="rId15"/>
    <p:sldId id="510" r:id="rId16"/>
    <p:sldId id="511" r:id="rId17"/>
    <p:sldId id="508" r:id="rId18"/>
    <p:sldId id="501" r:id="rId19"/>
    <p:sldId id="497" r:id="rId20"/>
    <p:sldId id="498" r:id="rId21"/>
    <p:sldId id="499" r:id="rId22"/>
    <p:sldId id="500" r:id="rId23"/>
    <p:sldId id="512" r:id="rId24"/>
    <p:sldId id="513" r:id="rId25"/>
    <p:sldId id="514" r:id="rId26"/>
    <p:sldId id="517" r:id="rId27"/>
    <p:sldId id="516" r:id="rId28"/>
    <p:sldId id="518" r:id="rId29"/>
    <p:sldId id="515" r:id="rId30"/>
    <p:sldId id="519" r:id="rId31"/>
    <p:sldId id="491" r:id="rId32"/>
    <p:sldId id="492" r:id="rId33"/>
    <p:sldId id="493" r:id="rId34"/>
    <p:sldId id="494" r:id="rId35"/>
    <p:sldId id="495" r:id="rId36"/>
    <p:sldId id="496" r:id="rId37"/>
    <p:sldId id="520" r:id="rId38"/>
    <p:sldId id="521" r:id="rId39"/>
    <p:sldId id="522" r:id="rId40"/>
    <p:sldId id="523" r:id="rId41"/>
    <p:sldId id="524" r:id="rId42"/>
    <p:sldId id="525" r:id="rId43"/>
    <p:sldId id="527" r:id="rId44"/>
    <p:sldId id="528" r:id="rId45"/>
    <p:sldId id="539" r:id="rId46"/>
    <p:sldId id="540" r:id="rId47"/>
    <p:sldId id="541" r:id="rId48"/>
    <p:sldId id="542" r:id="rId49"/>
    <p:sldId id="543" r:id="rId50"/>
    <p:sldId id="544" r:id="rId51"/>
    <p:sldId id="545" r:id="rId52"/>
    <p:sldId id="529" r:id="rId53"/>
    <p:sldId id="530" r:id="rId54"/>
    <p:sldId id="554" r:id="rId55"/>
    <p:sldId id="555" r:id="rId56"/>
    <p:sldId id="556" r:id="rId57"/>
    <p:sldId id="558" r:id="rId58"/>
    <p:sldId id="559" r:id="rId59"/>
    <p:sldId id="560" r:id="rId60"/>
    <p:sldId id="562" r:id="rId61"/>
    <p:sldId id="563" r:id="rId62"/>
    <p:sldId id="564" r:id="rId63"/>
    <p:sldId id="565" r:id="rId64"/>
    <p:sldId id="566" r:id="rId65"/>
    <p:sldId id="567" r:id="rId66"/>
    <p:sldId id="568" r:id="rId67"/>
    <p:sldId id="569" r:id="rId68"/>
    <p:sldId id="570" r:id="rId69"/>
    <p:sldId id="571" r:id="rId70"/>
    <p:sldId id="572" r:id="rId71"/>
    <p:sldId id="573" r:id="rId72"/>
    <p:sldId id="574" r:id="rId73"/>
    <p:sldId id="546" r:id="rId74"/>
    <p:sldId id="547" r:id="rId75"/>
    <p:sldId id="548" r:id="rId76"/>
    <p:sldId id="549" r:id="rId77"/>
    <p:sldId id="550" r:id="rId78"/>
    <p:sldId id="581" r:id="rId79"/>
    <p:sldId id="576" r:id="rId80"/>
    <p:sldId id="577" r:id="rId81"/>
    <p:sldId id="578" r:id="rId82"/>
    <p:sldId id="579" r:id="rId83"/>
    <p:sldId id="584" r:id="rId84"/>
    <p:sldId id="551" r:id="rId85"/>
    <p:sldId id="583" r:id="rId86"/>
    <p:sldId id="582" r:id="rId8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12">
          <p15:clr>
            <a:srgbClr val="A4A3A4"/>
          </p15:clr>
        </p15:guide>
        <p15:guide id="2" pos="210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66FF"/>
    <a:srgbClr val="FF0000"/>
    <a:srgbClr val="CCCC00"/>
    <a:srgbClr val="99CCFF"/>
    <a:srgbClr val="FFFF00"/>
    <a:srgbClr val="00FF00"/>
    <a:srgbClr val="66FFCC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91" d="100"/>
          <a:sy n="91" d="100"/>
        </p:scale>
        <p:origin x="1210" y="58"/>
      </p:cViewPr>
      <p:guideLst>
        <p:guide orient="horz" pos="2184"/>
        <p:guide pos="280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-936" y="-72"/>
      </p:cViewPr>
      <p:guideLst>
        <p:guide orient="horz" pos="2912"/>
        <p:guide pos="210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3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ea typeface="宋体" panose="02010600030101010101" pitchFamily="2" charset="-122"/>
              </a:defRPr>
            </a:lvl1pPr>
          </a:lstStyle>
          <a:p>
            <a:fld id="{55A267CA-2154-42BD-85A2-44546DE7D06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7038" y="2028825"/>
            <a:ext cx="3992562" cy="4176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2028825"/>
            <a:ext cx="3992563" cy="4176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3050" y="549275"/>
            <a:ext cx="2063750" cy="56562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27038" y="549275"/>
            <a:ext cx="6043612" cy="56562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49275"/>
            <a:ext cx="8229600" cy="8842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27038" y="2028825"/>
            <a:ext cx="3992562" cy="4176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2028825"/>
            <a:ext cx="3992563" cy="4176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、文本和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49275"/>
            <a:ext cx="8229600" cy="8842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27038" y="2028825"/>
            <a:ext cx="3992562" cy="4176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2028825"/>
            <a:ext cx="3992563" cy="2011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4192588"/>
            <a:ext cx="3992563" cy="20129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27038" y="549275"/>
            <a:ext cx="8259762" cy="5656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49275"/>
            <a:ext cx="8229600" cy="8842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27038" y="2028825"/>
            <a:ext cx="8137525" cy="4176713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rgbClr val="99CC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15875" y="111125"/>
            <a:ext cx="9128125" cy="346075"/>
            <a:chOff x="0" y="0"/>
            <a:chExt cx="5760" cy="344"/>
          </a:xfrm>
        </p:grpSpPr>
        <p:sp>
          <p:nvSpPr>
            <p:cNvPr id="6147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 b="0">
                <a:latin typeface="Times New Roman" panose="020206030504050203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53" name="Rectangle 4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endParaRPr lang="zh-CN" altLang="en-US" sz="2400" b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54" name="Rectangle 5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endParaRPr lang="zh-CN" altLang="en-US" sz="1800" b="0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55" name="Rectangle 6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endParaRPr lang="zh-CN" altLang="en-US" sz="1800" b="0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56" name="Rectangle 7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endParaRPr lang="zh-CN" altLang="en-US" sz="1800" b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57" name="Rectangle 8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endParaRPr lang="zh-CN" altLang="en-US" sz="1800" b="0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58" name="Rectangle 9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endParaRPr lang="zh-CN" altLang="en-US" sz="2400" b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59" name="Rectangle 10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endParaRPr lang="zh-CN" altLang="en-US" sz="1800" b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60" name="Rectangle 11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endParaRPr lang="zh-CN" altLang="en-US" sz="1800" b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027" name="Group 12"/>
          <p:cNvGrpSpPr/>
          <p:nvPr/>
        </p:nvGrpSpPr>
        <p:grpSpPr bwMode="auto">
          <a:xfrm rot="-5400000">
            <a:off x="5972175" y="4062413"/>
            <a:ext cx="5399087" cy="71438"/>
            <a:chOff x="0" y="0"/>
            <a:chExt cx="5760" cy="344"/>
          </a:xfrm>
        </p:grpSpPr>
        <p:sp>
          <p:nvSpPr>
            <p:cNvPr id="6157" name="Rectangle 13"/>
            <p:cNvSpPr>
              <a:spLocks noChangeArrowheads="1"/>
            </p:cNvSpPr>
            <p:nvPr userDrawn="1"/>
          </p:nvSpPr>
          <p:spPr bwMode="auto">
            <a:xfrm>
              <a:off x="-3" y="-23"/>
              <a:ext cx="181" cy="336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eaVert" wrap="none" anchor="ctr"/>
            <a:lstStyle/>
            <a:p>
              <a:pPr algn="ctr">
                <a:defRPr/>
              </a:pPr>
              <a:endParaRPr lang="zh-CN" altLang="en-US" sz="2400" b="0">
                <a:latin typeface="Times New Roman" panose="020206030504050203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44" name="Rectangle 14"/>
            <p:cNvSpPr>
              <a:spLocks noChangeArrowheads="1"/>
            </p:cNvSpPr>
            <p:nvPr userDrawn="1"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vert="eaVert"/>
            <a:lstStyle/>
            <a:p>
              <a:endParaRPr lang="zh-CN" altLang="en-US" sz="2400" b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5" name="Rectangle 15"/>
            <p:cNvSpPr>
              <a:spLocks noChangeArrowheads="1"/>
            </p:cNvSpPr>
            <p:nvPr userDrawn="1"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vert="eaVert"/>
            <a:lstStyle/>
            <a:p>
              <a:endParaRPr lang="zh-CN" altLang="en-US" sz="1800" b="0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46" name="Rectangle 16"/>
            <p:cNvSpPr>
              <a:spLocks noChangeArrowheads="1"/>
            </p:cNvSpPr>
            <p:nvPr userDrawn="1"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vert="eaVert"/>
            <a:lstStyle/>
            <a:p>
              <a:endParaRPr lang="zh-CN" altLang="en-US" sz="1800" b="0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47" name="Rectangle 17"/>
            <p:cNvSpPr>
              <a:spLocks noChangeArrowheads="1"/>
            </p:cNvSpPr>
            <p:nvPr userDrawn="1"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vert="eaVert"/>
            <a:lstStyle/>
            <a:p>
              <a:endParaRPr lang="zh-CN" altLang="en-US" sz="1800" b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48" name="Rectangle 18"/>
            <p:cNvSpPr>
              <a:spLocks noChangeArrowheads="1"/>
            </p:cNvSpPr>
            <p:nvPr userDrawn="1"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vert="eaVert"/>
            <a:lstStyle/>
            <a:p>
              <a:endParaRPr lang="zh-CN" altLang="en-US" sz="1800" b="0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49" name="Rectangle 19"/>
            <p:cNvSpPr>
              <a:spLocks noChangeArrowheads="1"/>
            </p:cNvSpPr>
            <p:nvPr userDrawn="1"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vert="eaVert"/>
            <a:lstStyle/>
            <a:p>
              <a:endParaRPr lang="zh-CN" altLang="en-US" sz="2400" b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50" name="Rectangle 20"/>
            <p:cNvSpPr>
              <a:spLocks noChangeArrowheads="1"/>
            </p:cNvSpPr>
            <p:nvPr userDrawn="1"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vert="eaVert"/>
            <a:lstStyle/>
            <a:p>
              <a:endParaRPr lang="zh-CN" altLang="en-US" sz="1800" b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51" name="Rectangle 21"/>
            <p:cNvSpPr>
              <a:spLocks noChangeArrowheads="1"/>
            </p:cNvSpPr>
            <p:nvPr userDrawn="1"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vert="eaVert"/>
            <a:lstStyle/>
            <a:p>
              <a:endParaRPr lang="zh-CN" altLang="en-US" sz="1800" b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</p:grpSp>
      <p:pic>
        <p:nvPicPr>
          <p:cNvPr id="1028" name="Picture 22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7269163" y="6362700"/>
            <a:ext cx="12668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67" name="Rectangle 23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88913"/>
            <a:ext cx="8229600" cy="8842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168" name="Rectangle 2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27038" y="1484313"/>
            <a:ext cx="8137525" cy="4721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1031" name="Group 25"/>
          <p:cNvGrpSpPr/>
          <p:nvPr/>
        </p:nvGrpSpPr>
        <p:grpSpPr bwMode="auto">
          <a:xfrm rot="10800000">
            <a:off x="3781425" y="6324600"/>
            <a:ext cx="5399088" cy="71438"/>
            <a:chOff x="0" y="0"/>
            <a:chExt cx="5760" cy="344"/>
          </a:xfrm>
        </p:grpSpPr>
        <p:sp>
          <p:nvSpPr>
            <p:cNvPr id="6170" name="Rectangle 26"/>
            <p:cNvSpPr>
              <a:spLocks noChangeArrowheads="1"/>
            </p:cNvSpPr>
            <p:nvPr userDrawn="1"/>
          </p:nvSpPr>
          <p:spPr bwMode="auto">
            <a:xfrm>
              <a:off x="0" y="-8"/>
              <a:ext cx="180" cy="336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</p:spPr>
          <p:txBody>
            <a:bodyPr rot="10800000" wrap="none" anchor="ctr"/>
            <a:lstStyle/>
            <a:p>
              <a:pPr algn="ctr">
                <a:defRPr/>
              </a:pPr>
              <a:endParaRPr lang="zh-CN" altLang="en-US" sz="2400" b="0">
                <a:latin typeface="Times New Roman" panose="020206030504050203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35" name="Rectangle 27"/>
            <p:cNvSpPr>
              <a:spLocks noChangeArrowheads="1"/>
            </p:cNvSpPr>
            <p:nvPr userDrawn="1"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rot="10800000"/>
            <a:lstStyle/>
            <a:p>
              <a:endParaRPr lang="zh-CN" altLang="en-US" sz="2400" b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36" name="Rectangle 28"/>
            <p:cNvSpPr>
              <a:spLocks noChangeArrowheads="1"/>
            </p:cNvSpPr>
            <p:nvPr userDrawn="1"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rot="10800000"/>
            <a:lstStyle/>
            <a:p>
              <a:endParaRPr lang="zh-CN" altLang="en-US" sz="1800" b="0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37" name="Rectangle 29"/>
            <p:cNvSpPr>
              <a:spLocks noChangeArrowheads="1"/>
            </p:cNvSpPr>
            <p:nvPr userDrawn="1"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rot="10800000"/>
            <a:lstStyle/>
            <a:p>
              <a:endParaRPr lang="zh-CN" altLang="en-US" sz="1800" b="0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38" name="Rectangle 30"/>
            <p:cNvSpPr>
              <a:spLocks noChangeArrowheads="1"/>
            </p:cNvSpPr>
            <p:nvPr userDrawn="1"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rot="10800000"/>
            <a:lstStyle/>
            <a:p>
              <a:endParaRPr lang="zh-CN" altLang="en-US" sz="1800" b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39" name="Rectangle 31"/>
            <p:cNvSpPr>
              <a:spLocks noChangeArrowheads="1"/>
            </p:cNvSpPr>
            <p:nvPr userDrawn="1"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rot="10800000"/>
            <a:lstStyle/>
            <a:p>
              <a:endParaRPr lang="zh-CN" altLang="en-US" sz="1800" b="0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40" name="Rectangle 32"/>
            <p:cNvSpPr>
              <a:spLocks noChangeArrowheads="1"/>
            </p:cNvSpPr>
            <p:nvPr userDrawn="1"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rot="10800000"/>
            <a:lstStyle/>
            <a:p>
              <a:endParaRPr lang="zh-CN" altLang="en-US" sz="2400" b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1" name="Rectangle 33"/>
            <p:cNvSpPr>
              <a:spLocks noChangeArrowheads="1"/>
            </p:cNvSpPr>
            <p:nvPr userDrawn="1"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rot="10800000"/>
            <a:lstStyle/>
            <a:p>
              <a:endParaRPr lang="zh-CN" altLang="en-US" sz="1800" b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42" name="Rectangle 34"/>
            <p:cNvSpPr>
              <a:spLocks noChangeArrowheads="1"/>
            </p:cNvSpPr>
            <p:nvPr userDrawn="1"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rot="10800000"/>
            <a:lstStyle/>
            <a:p>
              <a:endParaRPr lang="zh-CN" altLang="en-US" sz="1800" b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6179" name="Text Box 35"/>
          <p:cNvSpPr txBox="1">
            <a:spLocks noChangeArrowheads="1"/>
          </p:cNvSpPr>
          <p:nvPr/>
        </p:nvSpPr>
        <p:spPr bwMode="auto">
          <a:xfrm>
            <a:off x="1692275" y="6375400"/>
            <a:ext cx="5256213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zh-CN" altLang="en-US" sz="1800" b="0">
              <a:latin typeface="Arial" panose="020B0604020202020204" pitchFamily="34" charset="0"/>
              <a:ea typeface="楷体_GB2312" charset="0"/>
            </a:endParaRPr>
          </a:p>
        </p:txBody>
      </p:sp>
      <p:sp>
        <p:nvSpPr>
          <p:cNvPr id="6181" name="Text Box 37"/>
          <p:cNvSpPr txBox="1">
            <a:spLocks noChangeArrowheads="1"/>
          </p:cNvSpPr>
          <p:nvPr userDrawn="1"/>
        </p:nvSpPr>
        <p:spPr bwMode="auto">
          <a:xfrm>
            <a:off x="5724525" y="66675"/>
            <a:ext cx="37084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00E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《</a:t>
            </a:r>
            <a:r>
              <a:rPr lang="zh-CN" altLang="en-US" sz="2000">
                <a:solidFill>
                  <a:srgbClr val="0000E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数字电子技术基础</a:t>
            </a:r>
            <a:r>
              <a:rPr lang="en-US" altLang="zh-CN" sz="2000">
                <a:solidFill>
                  <a:srgbClr val="0000E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》</a:t>
            </a:r>
            <a:r>
              <a:rPr lang="zh-CN" altLang="en-US" sz="2000">
                <a:solidFill>
                  <a:srgbClr val="0000E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第六版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6381328"/>
            <a:ext cx="1374841" cy="471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kumimoji="1" sz="3200" b="1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200" b="1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Times New Roman" panose="02020603050405020304" charset="0"/>
          <a:ea typeface="楷体_GB2312" charset="0"/>
          <a:cs typeface="楷体_GB2312" charset="0"/>
        </a:defRPr>
      </a:lvl2pPr>
      <a:lvl3pPr algn="l" rtl="0" fontAlgn="base">
        <a:spcBef>
          <a:spcPct val="0"/>
        </a:spcBef>
        <a:spcAft>
          <a:spcPct val="0"/>
        </a:spcAft>
        <a:defRPr kumimoji="1" sz="3200" b="1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Times New Roman" panose="02020603050405020304" charset="0"/>
          <a:ea typeface="楷体_GB2312" charset="0"/>
          <a:cs typeface="楷体_GB2312" charset="0"/>
        </a:defRPr>
      </a:lvl3pPr>
      <a:lvl4pPr algn="l" rtl="0" fontAlgn="base">
        <a:spcBef>
          <a:spcPct val="0"/>
        </a:spcBef>
        <a:spcAft>
          <a:spcPct val="0"/>
        </a:spcAft>
        <a:defRPr kumimoji="1" sz="3200" b="1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Times New Roman" panose="02020603050405020304" charset="0"/>
          <a:ea typeface="楷体_GB2312" charset="0"/>
          <a:cs typeface="楷体_GB2312" charset="0"/>
        </a:defRPr>
      </a:lvl4pPr>
      <a:lvl5pPr algn="l" rtl="0" fontAlgn="base">
        <a:spcBef>
          <a:spcPct val="0"/>
        </a:spcBef>
        <a:spcAft>
          <a:spcPct val="0"/>
        </a:spcAft>
        <a:defRPr kumimoji="1" sz="3200" b="1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Times New Roman" panose="02020603050405020304" charset="0"/>
          <a:ea typeface="楷体_GB2312" charset="0"/>
          <a:cs typeface="楷体_GB2312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Times New Roman" panose="02020603050405020304" charset="0"/>
          <a:ea typeface="楷体_GB2312" charset="0"/>
          <a:cs typeface="楷体_GB2312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Times New Roman" panose="02020603050405020304" charset="0"/>
          <a:ea typeface="楷体_GB2312" charset="0"/>
          <a:cs typeface="楷体_GB2312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Times New Roman" panose="02020603050405020304" charset="0"/>
          <a:ea typeface="楷体_GB2312" charset="0"/>
          <a:cs typeface="楷体_GB2312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Times New Roman" panose="02020603050405020304" charset="0"/>
          <a:ea typeface="楷体_GB2312" charset="0"/>
          <a:cs typeface="楷体_GB2312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2800" b="1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400" b="1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000" b="1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b="1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b="1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effectLst>
            <a:outerShdw blurRad="38100" dist="38100" dir="2700000" algn="tl">
              <a:srgbClr val="DDDDDD"/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5.wmf"/><Relationship Id="rId3" Type="http://schemas.openxmlformats.org/officeDocument/2006/relationships/tags" Target="../tags/tag6.xml"/><Relationship Id="rId7" Type="http://schemas.openxmlformats.org/officeDocument/2006/relationships/image" Target="../media/image41.png"/><Relationship Id="rId12" Type="http://schemas.openxmlformats.org/officeDocument/2006/relationships/oleObject" Target="../embeddings/oleObject6.bin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4.png"/><Relationship Id="rId5" Type="http://schemas.openxmlformats.org/officeDocument/2006/relationships/tags" Target="../tags/tag8.xml"/><Relationship Id="rId10" Type="http://schemas.openxmlformats.org/officeDocument/2006/relationships/image" Target="../media/image43.png"/><Relationship Id="rId4" Type="http://schemas.openxmlformats.org/officeDocument/2006/relationships/tags" Target="../tags/tag7.xml"/><Relationship Id="rId9" Type="http://schemas.openxmlformats.org/officeDocument/2006/relationships/oleObject" Target="../embeddings/oleObject5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slideLayout" Target="../slideLayouts/slideLayout4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5" Type="http://schemas.openxmlformats.org/officeDocument/2006/relationships/image" Target="../media/image63.png"/><Relationship Id="rId10" Type="http://schemas.openxmlformats.org/officeDocument/2006/relationships/tags" Target="../tags/tag18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66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image" Target="../media/image65.png"/><Relationship Id="rId5" Type="http://schemas.openxmlformats.org/officeDocument/2006/relationships/tags" Target="../tags/tag25.xml"/><Relationship Id="rId10" Type="http://schemas.openxmlformats.org/officeDocument/2006/relationships/image" Target="../media/image64.png"/><Relationship Id="rId4" Type="http://schemas.openxmlformats.org/officeDocument/2006/relationships/tags" Target="../tags/tag24.xml"/><Relationship Id="rId9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0.wmf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69.wmf"/><Relationship Id="rId4" Type="http://schemas.openxmlformats.org/officeDocument/2006/relationships/oleObject" Target="../embeddings/oleObject7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4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71.png"/><Relationship Id="rId5" Type="http://schemas.openxmlformats.org/officeDocument/2006/relationships/image" Target="../media/image73.png"/><Relationship Id="rId4" Type="http://schemas.openxmlformats.org/officeDocument/2006/relationships/image" Target="../media/image74.emf"/><Relationship Id="rId9" Type="http://schemas.openxmlformats.org/officeDocument/2006/relationships/image" Target="../media/image6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6" Type="http://schemas.openxmlformats.org/officeDocument/2006/relationships/tags" Target="../tags/tag58.xml"/><Relationship Id="rId21" Type="http://schemas.openxmlformats.org/officeDocument/2006/relationships/tags" Target="../tags/tag53.xml"/><Relationship Id="rId34" Type="http://schemas.openxmlformats.org/officeDocument/2006/relationships/slideLayout" Target="../slideLayouts/slideLayout2.xml"/><Relationship Id="rId42" Type="http://schemas.openxmlformats.org/officeDocument/2006/relationships/image" Target="../media/image101.wmf"/><Relationship Id="rId47" Type="http://schemas.openxmlformats.org/officeDocument/2006/relationships/oleObject" Target="../embeddings/oleObject16.bin"/><Relationship Id="rId50" Type="http://schemas.openxmlformats.org/officeDocument/2006/relationships/oleObject" Target="../embeddings/oleObject18.bin"/><Relationship Id="rId55" Type="http://schemas.openxmlformats.org/officeDocument/2006/relationships/oleObject" Target="../embeddings/oleObject21.bin"/><Relationship Id="rId63" Type="http://schemas.openxmlformats.org/officeDocument/2006/relationships/image" Target="../media/image110.wmf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6" Type="http://schemas.openxmlformats.org/officeDocument/2006/relationships/tags" Target="../tags/tag48.xml"/><Relationship Id="rId29" Type="http://schemas.openxmlformats.org/officeDocument/2006/relationships/tags" Target="../tags/tag61.xml"/><Relationship Id="rId11" Type="http://schemas.openxmlformats.org/officeDocument/2006/relationships/tags" Target="../tags/tag43.xml"/><Relationship Id="rId24" Type="http://schemas.openxmlformats.org/officeDocument/2006/relationships/tags" Target="../tags/tag56.xml"/><Relationship Id="rId32" Type="http://schemas.openxmlformats.org/officeDocument/2006/relationships/tags" Target="../tags/tag64.xml"/><Relationship Id="rId37" Type="http://schemas.openxmlformats.org/officeDocument/2006/relationships/oleObject" Target="../embeddings/oleObject11.bin"/><Relationship Id="rId40" Type="http://schemas.openxmlformats.org/officeDocument/2006/relationships/image" Target="../media/image100.wmf"/><Relationship Id="rId45" Type="http://schemas.openxmlformats.org/officeDocument/2006/relationships/oleObject" Target="../embeddings/oleObject15.bin"/><Relationship Id="rId53" Type="http://schemas.openxmlformats.org/officeDocument/2006/relationships/oleObject" Target="../embeddings/oleObject20.bin"/><Relationship Id="rId58" Type="http://schemas.openxmlformats.org/officeDocument/2006/relationships/oleObject" Target="../embeddings/oleObject23.bin"/><Relationship Id="rId66" Type="http://schemas.openxmlformats.org/officeDocument/2006/relationships/oleObject" Target="../embeddings/oleObject27.bin"/><Relationship Id="rId5" Type="http://schemas.openxmlformats.org/officeDocument/2006/relationships/tags" Target="../tags/tag37.xml"/><Relationship Id="rId61" Type="http://schemas.openxmlformats.org/officeDocument/2006/relationships/image" Target="../media/image109.wmf"/><Relationship Id="rId19" Type="http://schemas.openxmlformats.org/officeDocument/2006/relationships/tags" Target="../tags/tag51.xml"/><Relationship Id="rId14" Type="http://schemas.openxmlformats.org/officeDocument/2006/relationships/tags" Target="../tags/tag46.xml"/><Relationship Id="rId22" Type="http://schemas.openxmlformats.org/officeDocument/2006/relationships/tags" Target="../tags/tag54.xml"/><Relationship Id="rId27" Type="http://schemas.openxmlformats.org/officeDocument/2006/relationships/tags" Target="../tags/tag59.xml"/><Relationship Id="rId30" Type="http://schemas.openxmlformats.org/officeDocument/2006/relationships/tags" Target="../tags/tag62.xml"/><Relationship Id="rId35" Type="http://schemas.openxmlformats.org/officeDocument/2006/relationships/oleObject" Target="../embeddings/oleObject10.bin"/><Relationship Id="rId43" Type="http://schemas.openxmlformats.org/officeDocument/2006/relationships/oleObject" Target="../embeddings/oleObject14.bin"/><Relationship Id="rId48" Type="http://schemas.openxmlformats.org/officeDocument/2006/relationships/image" Target="../media/image104.wmf"/><Relationship Id="rId56" Type="http://schemas.openxmlformats.org/officeDocument/2006/relationships/oleObject" Target="../embeddings/oleObject22.bin"/><Relationship Id="rId64" Type="http://schemas.openxmlformats.org/officeDocument/2006/relationships/oleObject" Target="../embeddings/oleObject26.bin"/><Relationship Id="rId8" Type="http://schemas.openxmlformats.org/officeDocument/2006/relationships/tags" Target="../tags/tag40.xml"/><Relationship Id="rId51" Type="http://schemas.openxmlformats.org/officeDocument/2006/relationships/image" Target="../media/image105.wmf"/><Relationship Id="rId3" Type="http://schemas.openxmlformats.org/officeDocument/2006/relationships/tags" Target="../tags/tag35.xml"/><Relationship Id="rId12" Type="http://schemas.openxmlformats.org/officeDocument/2006/relationships/tags" Target="../tags/tag44.xml"/><Relationship Id="rId17" Type="http://schemas.openxmlformats.org/officeDocument/2006/relationships/tags" Target="../tags/tag49.xml"/><Relationship Id="rId25" Type="http://schemas.openxmlformats.org/officeDocument/2006/relationships/tags" Target="../tags/tag57.xml"/><Relationship Id="rId33" Type="http://schemas.openxmlformats.org/officeDocument/2006/relationships/tags" Target="../tags/tag65.xml"/><Relationship Id="rId38" Type="http://schemas.openxmlformats.org/officeDocument/2006/relationships/image" Target="../media/image99.wmf"/><Relationship Id="rId46" Type="http://schemas.openxmlformats.org/officeDocument/2006/relationships/image" Target="../media/image103.wmf"/><Relationship Id="rId59" Type="http://schemas.openxmlformats.org/officeDocument/2006/relationships/image" Target="../media/image108.wmf"/><Relationship Id="rId67" Type="http://schemas.openxmlformats.org/officeDocument/2006/relationships/oleObject" Target="../embeddings/oleObject28.bin"/><Relationship Id="rId20" Type="http://schemas.openxmlformats.org/officeDocument/2006/relationships/tags" Target="../tags/tag52.xml"/><Relationship Id="rId41" Type="http://schemas.openxmlformats.org/officeDocument/2006/relationships/oleObject" Target="../embeddings/oleObject13.bin"/><Relationship Id="rId54" Type="http://schemas.openxmlformats.org/officeDocument/2006/relationships/image" Target="../media/image106.wmf"/><Relationship Id="rId62" Type="http://schemas.openxmlformats.org/officeDocument/2006/relationships/oleObject" Target="../embeddings/oleObject25.bin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5" Type="http://schemas.openxmlformats.org/officeDocument/2006/relationships/tags" Target="../tags/tag47.xml"/><Relationship Id="rId23" Type="http://schemas.openxmlformats.org/officeDocument/2006/relationships/tags" Target="../tags/tag55.xml"/><Relationship Id="rId28" Type="http://schemas.openxmlformats.org/officeDocument/2006/relationships/tags" Target="../tags/tag60.xml"/><Relationship Id="rId36" Type="http://schemas.openxmlformats.org/officeDocument/2006/relationships/image" Target="../media/image98.wmf"/><Relationship Id="rId49" Type="http://schemas.openxmlformats.org/officeDocument/2006/relationships/oleObject" Target="../embeddings/oleObject17.bin"/><Relationship Id="rId57" Type="http://schemas.openxmlformats.org/officeDocument/2006/relationships/image" Target="../media/image107.wmf"/><Relationship Id="rId10" Type="http://schemas.openxmlformats.org/officeDocument/2006/relationships/tags" Target="../tags/tag42.xml"/><Relationship Id="rId31" Type="http://schemas.openxmlformats.org/officeDocument/2006/relationships/tags" Target="../tags/tag63.xml"/><Relationship Id="rId44" Type="http://schemas.openxmlformats.org/officeDocument/2006/relationships/image" Target="../media/image102.wmf"/><Relationship Id="rId52" Type="http://schemas.openxmlformats.org/officeDocument/2006/relationships/oleObject" Target="../embeddings/oleObject19.bin"/><Relationship Id="rId60" Type="http://schemas.openxmlformats.org/officeDocument/2006/relationships/oleObject" Target="../embeddings/oleObject24.bin"/><Relationship Id="rId65" Type="http://schemas.openxmlformats.org/officeDocument/2006/relationships/image" Target="../media/image111.wmf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3" Type="http://schemas.openxmlformats.org/officeDocument/2006/relationships/tags" Target="../tags/tag45.xml"/><Relationship Id="rId18" Type="http://schemas.openxmlformats.org/officeDocument/2006/relationships/tags" Target="../tags/tag50.xml"/><Relationship Id="rId39" Type="http://schemas.openxmlformats.org/officeDocument/2006/relationships/oleObject" Target="../embeddings/oleObject12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oleObject" Target="../embeddings/oleObject29.bin"/><Relationship Id="rId7" Type="http://schemas.openxmlformats.org/officeDocument/2006/relationships/image" Target="../media/image112.png"/><Relationship Id="rId12" Type="http://schemas.openxmlformats.org/officeDocument/2006/relationships/image" Target="../media/image1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6" Type="http://schemas.openxmlformats.org/officeDocument/2006/relationships/image" Target="../media/image99.wmf"/><Relationship Id="rId11" Type="http://schemas.openxmlformats.org/officeDocument/2006/relationships/image" Target="../media/image100.wmf"/><Relationship Id="rId5" Type="http://schemas.openxmlformats.org/officeDocument/2006/relationships/oleObject" Target="../embeddings/oleObject30.bin"/><Relationship Id="rId10" Type="http://schemas.openxmlformats.org/officeDocument/2006/relationships/oleObject" Target="../embeddings/oleObject32.bin"/><Relationship Id="rId4" Type="http://schemas.openxmlformats.org/officeDocument/2006/relationships/image" Target="../media/image98.wmf"/><Relationship Id="rId9" Type="http://schemas.openxmlformats.org/officeDocument/2006/relationships/image" Target="../media/image113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7.png"/><Relationship Id="rId4" Type="http://schemas.openxmlformats.org/officeDocument/2006/relationships/image" Target="../media/image11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0.png"/><Relationship Id="rId4" Type="http://schemas.openxmlformats.org/officeDocument/2006/relationships/image" Target="../media/image11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137.png"/><Relationship Id="rId7" Type="http://schemas.openxmlformats.org/officeDocument/2006/relationships/image" Target="../media/image140.png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139.png"/><Relationship Id="rId4" Type="http://schemas.openxmlformats.org/officeDocument/2006/relationships/image" Target="../media/image138.png"/><Relationship Id="rId9" Type="http://schemas.openxmlformats.org/officeDocument/2006/relationships/image" Target="../media/image14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jpe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8.jpe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150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jpeg"/><Relationship Id="rId2" Type="http://schemas.openxmlformats.org/officeDocument/2006/relationships/image" Target="../media/image15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7.wmf"/><Relationship Id="rId4" Type="http://schemas.openxmlformats.org/officeDocument/2006/relationships/oleObject" Target="../embeddings/oleObject38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oleObject" Target="../embeddings/oleObject39.bin"/><Relationship Id="rId7" Type="http://schemas.openxmlformats.org/officeDocument/2006/relationships/image" Target="../media/image141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4" Type="http://schemas.openxmlformats.org/officeDocument/2006/relationships/image" Target="../media/image14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image" Target="../media/image152.wmf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163.wmf"/><Relationship Id="rId2" Type="http://schemas.openxmlformats.org/officeDocument/2006/relationships/tags" Target="../tags/tag68.xml"/><Relationship Id="rId16" Type="http://schemas.openxmlformats.org/officeDocument/2006/relationships/oleObject" Target="../embeddings/oleObject43.bin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image" Target="../media/image151.wmf"/><Relationship Id="rId5" Type="http://schemas.openxmlformats.org/officeDocument/2006/relationships/tags" Target="../tags/tag71.xml"/><Relationship Id="rId15" Type="http://schemas.openxmlformats.org/officeDocument/2006/relationships/image" Target="../media/image162.wmf"/><Relationship Id="rId10" Type="http://schemas.openxmlformats.org/officeDocument/2006/relationships/oleObject" Target="../embeddings/oleObject40.bin"/><Relationship Id="rId4" Type="http://schemas.openxmlformats.org/officeDocument/2006/relationships/tags" Target="../tags/tag70.xml"/><Relationship Id="rId9" Type="http://schemas.openxmlformats.org/officeDocument/2006/relationships/slideLayout" Target="../slideLayouts/slideLayout7.xml"/><Relationship Id="rId14" Type="http://schemas.openxmlformats.org/officeDocument/2006/relationships/oleObject" Target="../embeddings/oleObject42.bin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0.png"/><Relationship Id="rId5" Type="http://schemas.openxmlformats.org/officeDocument/2006/relationships/image" Target="../media/image156.jpeg"/><Relationship Id="rId4" Type="http://schemas.openxmlformats.org/officeDocument/2006/relationships/image" Target="../media/image155.jpe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3" Type="http://schemas.openxmlformats.org/officeDocument/2006/relationships/tags" Target="../tags/tag81.xml"/><Relationship Id="rId7" Type="http://schemas.openxmlformats.org/officeDocument/2006/relationships/image" Target="../media/image151.wmf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176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52.w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9.jpe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7" Type="http://schemas.openxmlformats.org/officeDocument/2006/relationships/image" Target="../media/image184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182.w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10" Type="http://schemas.openxmlformats.org/officeDocument/2006/relationships/image" Target="../media/image186.png"/><Relationship Id="rId4" Type="http://schemas.openxmlformats.org/officeDocument/2006/relationships/tags" Target="../tags/tag85.xml"/><Relationship Id="rId9" Type="http://schemas.openxmlformats.org/officeDocument/2006/relationships/image" Target="../media/image185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tags" Target="../tags/tag91.xml"/><Relationship Id="rId7" Type="http://schemas.openxmlformats.org/officeDocument/2006/relationships/image" Target="../media/image187.pn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93.xml"/><Relationship Id="rId10" Type="http://schemas.openxmlformats.org/officeDocument/2006/relationships/image" Target="../media/image190.png"/><Relationship Id="rId4" Type="http://schemas.openxmlformats.org/officeDocument/2006/relationships/tags" Target="../tags/tag92.xml"/><Relationship Id="rId9" Type="http://schemas.openxmlformats.org/officeDocument/2006/relationships/image" Target="../media/image189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3" Type="http://schemas.openxmlformats.org/officeDocument/2006/relationships/image" Target="../media/image196.wmf"/><Relationship Id="rId7" Type="http://schemas.openxmlformats.org/officeDocument/2006/relationships/image" Target="../media/image198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201.wmf"/><Relationship Id="rId5" Type="http://schemas.openxmlformats.org/officeDocument/2006/relationships/image" Target="../media/image197.w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20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7544" y="1196752"/>
            <a:ext cx="8424168" cy="2376488"/>
          </a:xfrm>
        </p:spPr>
        <p:txBody>
          <a:bodyPr/>
          <a:lstStyle/>
          <a:p>
            <a:pPr algn="ctr">
              <a:lnSpc>
                <a:spcPct val="85000"/>
              </a:lnSpc>
            </a:pPr>
            <a:r>
              <a:rPr kumimoji="0" lang="zh-CN" altLang="en-US" sz="80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数字电子技术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059430" y="3860800"/>
            <a:ext cx="35223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章节要点和例题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043608" y="836712"/>
            <a:ext cx="7488237" cy="4399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4000" dirty="0">
                <a:solidFill>
                  <a:srgbClr val="000099"/>
                </a:solidFill>
                <a:ea typeface="楷体" panose="02010609060101010101" pitchFamily="49" charset="-122"/>
              </a:rPr>
              <a:t>教材：</a:t>
            </a:r>
          </a:p>
          <a:p>
            <a:pPr eaLnBrk="1" hangingPunct="1"/>
            <a:endParaRPr lang="zh-CN" altLang="en-US" sz="4000" dirty="0">
              <a:ea typeface="楷体" panose="02010609060101010101" pitchFamily="49" charset="-122"/>
            </a:endParaRPr>
          </a:p>
          <a:p>
            <a:pPr eaLnBrk="1" hangingPunct="1"/>
            <a:r>
              <a:rPr lang="en-US" altLang="zh-CN" sz="4000" dirty="0">
                <a:ea typeface="楷体" panose="02010609060101010101" pitchFamily="49" charset="-122"/>
              </a:rPr>
              <a:t>《</a:t>
            </a:r>
            <a:r>
              <a:rPr lang="zh-CN" altLang="en-US" sz="4000" dirty="0">
                <a:ea typeface="楷体" panose="02010609060101010101" pitchFamily="49" charset="-122"/>
              </a:rPr>
              <a:t>数字电子技术基础</a:t>
            </a:r>
            <a:r>
              <a:rPr lang="en-US" altLang="zh-CN" sz="4000" dirty="0">
                <a:ea typeface="楷体" panose="02010609060101010101" pitchFamily="49" charset="-122"/>
              </a:rPr>
              <a:t>》</a:t>
            </a:r>
            <a:r>
              <a:rPr lang="zh-CN" altLang="en-US" sz="4000" dirty="0">
                <a:ea typeface="楷体" panose="02010609060101010101" pitchFamily="49" charset="-122"/>
              </a:rPr>
              <a:t>第六版</a:t>
            </a:r>
            <a:endParaRPr lang="en-US" altLang="zh-CN" sz="4000" dirty="0">
              <a:ea typeface="楷体" panose="02010609060101010101" pitchFamily="49" charset="-122"/>
            </a:endParaRPr>
          </a:p>
          <a:p>
            <a:pPr eaLnBrk="1" hangingPunct="1"/>
            <a:endParaRPr lang="en-US" altLang="zh-CN" sz="4000" dirty="0">
              <a:ea typeface="楷体" panose="02010609060101010101" pitchFamily="49" charset="-122"/>
            </a:endParaRPr>
          </a:p>
          <a:p>
            <a:pPr eaLnBrk="1" hangingPunct="1"/>
            <a:r>
              <a:rPr lang="en-US" altLang="zh-CN" sz="4000" dirty="0">
                <a:ea typeface="楷体" panose="02010609060101010101" pitchFamily="49" charset="-122"/>
              </a:rPr>
              <a:t>             </a:t>
            </a:r>
            <a:r>
              <a:rPr lang="zh-CN" altLang="en-US" sz="4000" dirty="0">
                <a:ea typeface="楷体" panose="02010609060101010101" pitchFamily="49" charset="-122"/>
              </a:rPr>
              <a:t>阎石 主编</a:t>
            </a:r>
          </a:p>
          <a:p>
            <a:pPr eaLnBrk="1" hangingPunct="1"/>
            <a:endParaRPr lang="zh-CN" altLang="en-US" sz="4000" dirty="0"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4000" dirty="0">
                <a:ea typeface="楷体" panose="02010609060101010101" pitchFamily="49" charset="-122"/>
              </a:rPr>
              <a:t>     </a:t>
            </a:r>
            <a:r>
              <a:rPr lang="en-US" altLang="zh-CN" sz="4000" dirty="0">
                <a:ea typeface="楷体" panose="02010609060101010101" pitchFamily="49" charset="-122"/>
              </a:rPr>
              <a:t>    </a:t>
            </a:r>
            <a:r>
              <a:rPr lang="zh-CN" altLang="en-US" sz="4000" dirty="0">
                <a:ea typeface="楷体" panose="02010609060101010101" pitchFamily="49" charset="-122"/>
              </a:rPr>
              <a:t>高等教育出版社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第一章：数制和码制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539115" y="1628775"/>
            <a:ext cx="7820660" cy="360045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9pPr>
          </a:lstStyle>
          <a:p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本章讨论了数字系统中数值和非数值信息的表示方法。重点掌握：</a:t>
            </a:r>
            <a:endParaRPr kumimoji="0" lang="en-US" altLang="zh-CN" sz="2400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1. 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数值和非数值信息的二进制表示方法；</a:t>
            </a:r>
            <a:endParaRPr kumimoji="0" lang="en-US" altLang="zh-CN" sz="2400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2. 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不同进制（二进制、十进制及十六进制）间的相互转换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  <a:endParaRPr kumimoji="0" lang="en-US" altLang="zh-CN" sz="2400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3. 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补码的定义，引入补码的必要性；</a:t>
            </a:r>
            <a:endParaRPr kumimoji="0" lang="en-US" altLang="zh-CN" sz="2400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4. 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进位和溢出的概念；</a:t>
            </a:r>
            <a:endParaRPr kumimoji="0" lang="en-US" altLang="zh-CN" sz="2400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5. 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常见编码（</a:t>
            </a:r>
            <a:r>
              <a:rPr kumimoji="0" lang="en-US" altLang="zh-CN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BCD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码</a:t>
            </a:r>
            <a:r>
              <a:rPr kumimoji="0" lang="zh-CN" altLang="en-US" sz="2400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等）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及</a:t>
            </a: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ASCII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码、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权</a:t>
            </a:r>
            <a:r>
              <a:rPr kumimoji="0" lang="zh-CN" altLang="en-US" sz="2400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概念。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39115" y="981075"/>
            <a:ext cx="7779385" cy="561784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2400" b="1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</a:t>
            </a:r>
            <a:r>
              <a:rPr lang="en-US" altLang="zh-CN" sz="2400" b="1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</a:rPr>
              <a:t>/</a:t>
            </a:r>
            <a:r>
              <a:rPr lang="zh-CN" altLang="en-US" sz="2400" b="1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八</a:t>
            </a:r>
            <a:r>
              <a:rPr lang="en-US" altLang="zh-CN" sz="2400" b="1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</a:rPr>
              <a:t>/</a:t>
            </a:r>
            <a:r>
              <a:rPr lang="zh-CN" altLang="en-US" sz="2400" b="1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十六</a:t>
            </a:r>
            <a:r>
              <a:rPr lang="en-US" altLang="zh-CN" sz="2400" b="1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</a:rPr>
              <a:t>→</a:t>
            </a:r>
            <a:r>
              <a:rPr lang="zh-CN" altLang="en-US" sz="2400" b="1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十进制转换：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按权展开和求。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</a:rPr>
              <a:t>2. </a:t>
            </a:r>
            <a:r>
              <a:rPr lang="zh-CN" altLang="en-US" sz="2400" b="1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</a:rPr>
              <a:t>十</a:t>
            </a:r>
            <a:r>
              <a:rPr lang="en-US" altLang="en-US" sz="2400" b="1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</a:rPr>
              <a:t>→</a:t>
            </a:r>
            <a:r>
              <a:rPr lang="zh-CN" altLang="en-US" sz="2400" b="1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</a:rPr>
              <a:t>二</a:t>
            </a:r>
            <a:r>
              <a:rPr lang="en-US" altLang="zh-CN" sz="2400" b="1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</a:rPr>
              <a:t>/</a:t>
            </a:r>
            <a:r>
              <a:rPr lang="zh-CN" altLang="en-US" sz="2400" b="1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</a:rPr>
              <a:t>八</a:t>
            </a:r>
            <a:r>
              <a:rPr lang="en-US" altLang="zh-CN" sz="2400" b="1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</a:rPr>
              <a:t>/</a:t>
            </a:r>
            <a:r>
              <a:rPr lang="zh-CN" altLang="en-US" sz="2400" b="1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</a:rPr>
              <a:t>十六进制转换：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基数连除（整数）和连成（小数）方法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  <a:sym typeface="+mn-ea"/>
              </a:rPr>
              <a:t>3.  </a:t>
            </a:r>
            <a:r>
              <a:rPr lang="zh-CN" altLang="en-US" sz="2400" b="1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</a:rPr>
              <a:t>二</a:t>
            </a:r>
            <a:r>
              <a:rPr lang="en-US" altLang="en-US" sz="2400" b="1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</a:rPr>
              <a:t>→</a:t>
            </a:r>
            <a:r>
              <a:rPr lang="zh-CN" altLang="en-US" sz="2400" b="1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</a:rPr>
              <a:t>八</a:t>
            </a:r>
            <a:r>
              <a:rPr lang="en-US" altLang="zh-CN" sz="2400" b="1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</a:rPr>
              <a:t>/</a:t>
            </a:r>
            <a:r>
              <a:rPr lang="zh-CN" altLang="en-US" sz="2400" b="1">
                <a:solidFill>
                  <a:srgbClr val="0066FF"/>
                </a:solidFill>
                <a:latin typeface="Times New Roman" panose="02020603050405020304"/>
                <a:ea typeface="宋体" panose="02010600030101010101" pitchFamily="2" charset="-122"/>
              </a:rPr>
              <a:t>十六进制转换：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每三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/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四位二进制数组合一位八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/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十六进制数，不足位用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补足。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4. 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八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/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十六</a:t>
            </a:r>
            <a:r>
              <a:rPr lang="en-US" altLang="en-US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→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二进制转换：每个八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/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十六进制数拆分成三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/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四位二进制数。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5. 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八与十六进制互转换：先转化到二进制，再互转。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43305" y="2637155"/>
            <a:ext cx="659257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  <a:sym typeface="+mn-ea"/>
              </a:rPr>
              <a:t>对于整数部分基数连除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  <a:sym typeface="+mn-ea"/>
              </a:rPr>
              <a:t>N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  <a:sym typeface="+mn-ea"/>
              </a:rPr>
              <a:t>取余，逆序排列；小数部分基数连成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  <a:sym typeface="+mn-ea"/>
              </a:rPr>
              <a:t>N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  <a:sym typeface="+mn-ea"/>
              </a:rPr>
              <a:t>取整，顺序排列。</a:t>
            </a:r>
            <a:endParaRPr lang="zh-CN" altLang="en-US" sz="2000" b="1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  <a:sym typeface="+mn-ea"/>
              </a:rPr>
              <a:t>十</a:t>
            </a:r>
            <a:r>
              <a:rPr lang="en-US" altLang="en-US" sz="2000">
                <a:latin typeface="Times New Roman" panose="02020603050405020304"/>
                <a:ea typeface="宋体" panose="02010600030101010101" pitchFamily="2" charset="-122"/>
                <a:sym typeface="+mn-ea"/>
              </a:rPr>
              <a:t>→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  <a:sym typeface="+mn-ea"/>
              </a:rPr>
              <a:t>八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  <a:sym typeface="+mn-ea"/>
              </a:rPr>
              <a:t>/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  <a:sym typeface="+mn-ea"/>
              </a:rPr>
              <a:t>十六进制转换：先转二进制，再转八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  <a:sym typeface="+mn-ea"/>
              </a:rPr>
              <a:t>/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  <a:sym typeface="+mn-ea"/>
              </a:rPr>
              <a:t>十六进制。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第一章：进制转换</a:t>
            </a:r>
            <a:endParaRPr lang="zh-CN" altLang="en-US" sz="28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11505" y="1196975"/>
            <a:ext cx="7400925" cy="523049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已知原码求补码：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为正数时，符号位用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表示，原码、反码、补码相同；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为负数时，符号位用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表示，原码数值位按位取反，符号位不变，得到反码，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补码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=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+1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None/>
            </a:pPr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已知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补码求原码：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正数补码即原码；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负数补码再求一次补码（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反码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+1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）即得原码。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None/>
            </a:pPr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补码计算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  <a:buFont typeface="Times New Roman" panose="02020603050405020304"/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先确定有效数位（未带符号位的二进制数是否需要补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），符号位作为数值一部分参与运算，进位超出模范围即舍去。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第一章：原码与补码关系</a:t>
            </a:r>
            <a:endParaRPr lang="zh-CN" altLang="en-US" sz="28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620395"/>
            <a:ext cx="8319135" cy="8216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11505" y="1916430"/>
            <a:ext cx="78619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  <a:sym typeface="+mn-ea"/>
              </a:rPr>
              <a:t>十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  <a:sym typeface="+mn-ea"/>
              </a:rPr>
              <a:t>→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  <a:sym typeface="+mn-ea"/>
              </a:rPr>
              <a:t>二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  <a:sym typeface="+mn-ea"/>
              </a:rPr>
              <a:t>/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  <a:sym typeface="+mn-ea"/>
              </a:rPr>
              <a:t>八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  <a:sym typeface="+mn-ea"/>
              </a:rPr>
              <a:t>/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  <a:sym typeface="+mn-ea"/>
              </a:rPr>
              <a:t>十六进制转换：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  <a:sym typeface="+mn-ea"/>
              </a:rPr>
              <a:t>基数连除（整数）和连成（小数）方法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15060" y="2492375"/>
            <a:ext cx="576008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  <a:sym typeface="+mn-ea"/>
              </a:rPr>
              <a:t>对于整数部分基数连除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  <a:sym typeface="+mn-ea"/>
              </a:rPr>
              <a:t>N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  <a:sym typeface="+mn-ea"/>
              </a:rPr>
              <a:t>取余，逆序排列；小数部分基数连成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  <a:sym typeface="+mn-ea"/>
              </a:rPr>
              <a:t>N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  <a:sym typeface="+mn-ea"/>
              </a:rPr>
              <a:t>取整，顺序排列。</a:t>
            </a:r>
            <a:endParaRPr lang="zh-CN" altLang="en-US" sz="1800" b="1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  <a:sym typeface="+mn-ea"/>
              </a:rPr>
              <a:t>十</a:t>
            </a:r>
            <a:r>
              <a:rPr lang="en-US" altLang="en-US" sz="1800">
                <a:latin typeface="Times New Roman" panose="02020603050405020304"/>
                <a:ea typeface="宋体" panose="02010600030101010101" pitchFamily="2" charset="-122"/>
                <a:sym typeface="+mn-ea"/>
              </a:rPr>
              <a:t>→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  <a:sym typeface="+mn-ea"/>
              </a:rPr>
              <a:t>八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  <a:sym typeface="+mn-ea"/>
              </a:rPr>
              <a:t>/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  <a:sym typeface="+mn-ea"/>
              </a:rPr>
              <a:t>十六进制转换：先转二进制，再转八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  <a:sym typeface="+mn-ea"/>
              </a:rPr>
              <a:t>/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  <a:sym typeface="+mn-ea"/>
              </a:rPr>
              <a:t>十六进制。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692785"/>
            <a:ext cx="9051290" cy="17348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47495" y="2853055"/>
            <a:ext cx="5080000" cy="31445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步骤通用方法：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等线" panose="02010600030101010101" charset="-122"/>
                <a:ea typeface="等线" panose="02010600030101010101" charset="-122"/>
              </a:rPr>
              <a:t>1.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确定无符号为的二进制个数（ </a:t>
            </a:r>
            <a:r>
              <a:rPr lang="en-US" altLang="zh-CN" sz="1800">
                <a:latin typeface="等线" panose="02010600030101010101" charset="-122"/>
                <a:ea typeface="等线" panose="02010600030101010101" charset="-122"/>
              </a:rPr>
              <a:t>4 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位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  <a:sym typeface="+mn-ea"/>
              </a:rPr>
              <a:t>二进制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最大 </a:t>
            </a:r>
            <a:r>
              <a:rPr lang="en-US" altLang="zh-CN" sz="1800">
                <a:latin typeface="等线" panose="02010600030101010101" charset="-122"/>
                <a:ea typeface="等线" panose="02010600030101010101" charset="-122"/>
              </a:rPr>
              <a:t>1111=15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，</a:t>
            </a:r>
            <a:r>
              <a:rPr lang="en-US" altLang="zh-CN" sz="1800">
                <a:latin typeface="等线" panose="02010600030101010101" charset="-122"/>
                <a:ea typeface="等线" panose="02010600030101010101" charset="-122"/>
              </a:rPr>
              <a:t>5 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位可表示 </a:t>
            </a:r>
            <a:r>
              <a:rPr lang="en-US" altLang="zh-CN" sz="1800">
                <a:latin typeface="等线" panose="02010600030101010101" charset="-122"/>
                <a:ea typeface="等线" panose="02010600030101010101" charset="-122"/>
              </a:rPr>
              <a:t>0~31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）。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根据运算符确定是否取负。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补码相加，舍弃进位。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判断结果符号：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若符号位为</a:t>
            </a:r>
            <a:r>
              <a:rPr lang="en-US" altLang="zh-CN" sz="1800">
                <a:latin typeface="等线" panose="02010600030101010101" charset="-122"/>
                <a:ea typeface="等线" panose="02010600030101010101" charset="-122"/>
              </a:rPr>
              <a:t>0 → 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正数，直接转十进制；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若符号位为</a:t>
            </a:r>
            <a:r>
              <a:rPr lang="en-US" altLang="zh-CN" sz="1800">
                <a:latin typeface="等线" panose="02010600030101010101" charset="-122"/>
                <a:ea typeface="等线" panose="02010600030101010101" charset="-122"/>
              </a:rPr>
              <a:t>1 → 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负数，对其补码再求补码得绝对值。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第二章：逻辑代数基础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539115" y="1196975"/>
            <a:ext cx="7820660" cy="502920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9pPr>
          </a:lstStyle>
          <a:p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本章讨论了逻辑代数的公式和定理、逻辑函数的描述方法、逻辑函数的化简和变换这三部分。重点掌握：</a:t>
            </a:r>
            <a:endParaRPr kumimoji="0" lang="en-US" altLang="zh-CN" sz="2400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1. 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逻辑代数中的基本公式和常用公式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2. 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逻辑函数的描述方法，即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真值表、逻辑函数式、逻辑图、波形图和卡诺图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3. 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卡诺图化简法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（有无无关项）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4. 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逻辑函数的变换：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与或形式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与非</a:t>
            </a:r>
            <a:r>
              <a:rPr kumimoji="0" lang="en-US" altLang="zh-CN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与非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形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式、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与或形式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或非</a:t>
            </a:r>
            <a:r>
              <a:rPr kumimoji="0" lang="en-US" altLang="zh-CN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-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或非形式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125538"/>
            <a:ext cx="8064500" cy="936625"/>
          </a:xfrm>
        </p:spPr>
        <p:txBody>
          <a:bodyPr/>
          <a:lstStyle/>
          <a:p>
            <a:r>
              <a:rPr kumimoji="0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根据与、或、非的定义，得表</a:t>
            </a:r>
            <a:r>
              <a:rPr kumimoji="0"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2.3.1</a:t>
            </a:r>
            <a:r>
              <a:rPr kumimoji="0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的布尔恒等式</a:t>
            </a:r>
            <a:endParaRPr kumimoji="0" lang="zh-CN" altLang="en-US" sz="2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32369" name="Group 625"/>
          <p:cNvGraphicFramePr>
            <a:graphicFrameLocks noGrp="1"/>
          </p:cNvGraphicFramePr>
          <p:nvPr>
            <p:ph sz="half" idx="2"/>
          </p:nvPr>
        </p:nvGraphicFramePr>
        <p:xfrm>
          <a:off x="539750" y="1916113"/>
          <a:ext cx="7775575" cy="4365625"/>
        </p:xfrm>
        <a:graphic>
          <a:graphicData uri="http://schemas.openxmlformats.org/drawingml/2006/table">
            <a:tbl>
              <a:tblPr/>
              <a:tblGrid>
                <a:gridCol w="935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4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序号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公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      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式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序号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公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      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式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1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′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=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;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0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′=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 =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+ A=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 A 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= 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 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+ A = A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A A = A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A + A = A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A A′=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14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A + A′ =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A B = B A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15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A +B = B + A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A (B C) = (A B) C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16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A + (B +C) = (A + B) + C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A (B +C) = A B + A C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17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A + B C = (A +B)(A +C)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(A B) ′ = A′ + B′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(A+ B) ′ = A′B′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(A ′) ′ = A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668260" y="3528695"/>
            <a:ext cx="988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/>
              <a:t>重叠律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667625" y="3933190"/>
            <a:ext cx="988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/>
              <a:t>互补律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710170" y="4310380"/>
            <a:ext cx="988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/>
              <a:t>交换律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244205" y="4725035"/>
            <a:ext cx="988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/>
              <a:t>结合律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244205" y="5092065"/>
            <a:ext cx="988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/>
              <a:t>分配律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244205" y="5516880"/>
            <a:ext cx="988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/>
              <a:t>反演律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667625" y="5921375"/>
            <a:ext cx="988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/>
              <a:t>还原律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688580" y="2747010"/>
            <a:ext cx="988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/>
              <a:t>0-1</a:t>
            </a:r>
            <a:r>
              <a:rPr lang="zh-CN" altLang="en-US" sz="1800"/>
              <a:t>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第二章：基本公式</a:t>
            </a:r>
            <a:endParaRPr lang="zh-CN" altLang="en-US" sz="2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197" name="Group 141"/>
          <p:cNvGraphicFramePr>
            <a:graphicFrameLocks noGrp="1"/>
          </p:cNvGraphicFramePr>
          <p:nvPr>
            <p:ph idx="1"/>
          </p:nvPr>
        </p:nvGraphicFramePr>
        <p:xfrm>
          <a:off x="323850" y="1402715"/>
          <a:ext cx="8027988" cy="4621849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0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70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序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    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号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公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          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式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21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A + A B = A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22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A +A </a:t>
                      </a:r>
                      <a:r>
                        <a:rPr kumimoji="0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charset="0"/>
                          <a:ea typeface="楷体_GB2312" pitchFamily="49" charset="-122"/>
                        </a:rPr>
                        <a:t>′</a:t>
                      </a:r>
                      <a:r>
                        <a:rPr kumimoji="0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B = A + B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23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A B + A B′ = A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24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A ( A + B) = A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0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25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A B + A′ C + B C = A B + A′ 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A B</a:t>
                      </a:r>
                      <a:r>
                        <a:rPr kumimoji="0" lang="zh-CN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＋</a:t>
                      </a:r>
                      <a:r>
                        <a:rPr kumimoji="0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 A′ C + B CD = A B + A′ C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26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楷体_GB2312" pitchFamily="49" charset="-122"/>
                        </a:rPr>
                        <a:t>A (AB) ′ = A B′ ; A′ (AB) ′ = A′ 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020560" y="2132965"/>
            <a:ext cx="988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/>
              <a:t>吸收律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091680" y="3933190"/>
            <a:ext cx="988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/>
              <a:t>吸收律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第二章：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若干常用公式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278" name="Picture 6" descr="2-6-1a"/>
          <p:cNvPicPr>
            <a:picLocks noGrp="1"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95605" y="1196658"/>
            <a:ext cx="1849438" cy="20129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10279" name="Picture 7" descr="2-6-1b"/>
          <p:cNvPicPr>
            <a:picLocks noGrp="1"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54923" y="1216343"/>
            <a:ext cx="2976562" cy="201136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1446" name="Picture 8" descr="2-6-1c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68035" y="620713"/>
            <a:ext cx="2873375" cy="260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705" y="3357245"/>
            <a:ext cx="1326515" cy="883920"/>
          </a:xfrm>
        </p:spPr>
        <p:txBody>
          <a:bodyPr/>
          <a:lstStyle/>
          <a:p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原则</a:t>
            </a:r>
            <a:r>
              <a:rPr kumimoji="0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5560" y="3573145"/>
            <a:ext cx="7418070" cy="1958340"/>
          </a:xfrm>
        </p:spPr>
        <p:txBody>
          <a:bodyPr/>
          <a:lstStyle/>
          <a:p>
            <a:pPr marL="0" indent="0">
              <a:buNone/>
            </a:pPr>
            <a:r>
              <a:rPr kumimoji="0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1. </a:t>
            </a:r>
            <a:r>
              <a:rPr kumimoji="0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化简后的乘积项应包含函数式的所有最小项，</a:t>
            </a:r>
            <a:r>
              <a:rPr kumimoji="0" lang="zh-CN" altLang="en-US" sz="24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即覆盖图中所有的</a:t>
            </a:r>
            <a:r>
              <a:rPr kumimoji="0" lang="en-US" altLang="zh-CN" sz="24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zh-CN" altLang="en-US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  <a:endParaRPr kumimoji="0" lang="en-US" altLang="zh-CN" sz="24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None/>
            </a:pPr>
            <a:r>
              <a:rPr kumimoji="0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2. </a:t>
            </a:r>
            <a:r>
              <a:rPr kumimoji="0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乘积项的数目最少，</a:t>
            </a:r>
            <a:r>
              <a:rPr kumimoji="0" lang="zh-CN" altLang="en-US" sz="24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即圈成的矩形最少</a:t>
            </a:r>
            <a:r>
              <a:rPr kumimoji="0" lang="zh-CN" altLang="en-US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  <a:endParaRPr kumimoji="0" lang="en-US" altLang="zh-CN" sz="24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None/>
            </a:pPr>
            <a:r>
              <a:rPr kumimoji="0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3. </a:t>
            </a:r>
            <a:r>
              <a:rPr kumimoji="0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每个乘积项因子最少，</a:t>
            </a:r>
            <a:r>
              <a:rPr kumimoji="0" lang="zh-CN" altLang="en-US" sz="24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即圈成的矩形最大</a:t>
            </a:r>
            <a:r>
              <a:rPr kumimoji="0" lang="zh-CN" altLang="en-US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87450" y="5373370"/>
            <a:ext cx="750951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考虑无关项时用</a:t>
            </a:r>
            <a:r>
              <a: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x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表示，目的是为</a:t>
            </a:r>
            <a:r>
              <a:rPr lang="zh-CN" altLang="en-US" sz="24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矩形圈最大，矩形组合数最少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。</a:t>
            </a:r>
          </a:p>
        </p:txBody>
      </p:sp>
      <p:sp>
        <p:nvSpPr>
          <p:cNvPr id="6" name="Rectangle 2"/>
          <p:cNvSpPr>
            <a:spLocks noGrp="1" noChangeArrowheads="1"/>
          </p:cNvSpPr>
          <p:nvPr/>
        </p:nvSpPr>
        <p:spPr>
          <a:xfrm>
            <a:off x="179070" y="5157470"/>
            <a:ext cx="1326515" cy="883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9pPr>
          </a:lstStyle>
          <a:p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注意</a:t>
            </a:r>
            <a:r>
              <a:rPr kumimoji="0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第二章：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卡诺图化简法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51460" y="1536700"/>
            <a:ext cx="8051165" cy="3999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</a:rPr>
              <a:t>与或形式变换为与非</a:t>
            </a:r>
            <a:r>
              <a:rPr lang="en-US" altLang="zh-CN" sz="2400">
                <a:solidFill>
                  <a:schemeClr val="tx1"/>
                </a:solidFill>
              </a:rPr>
              <a:t>-</a:t>
            </a:r>
            <a:r>
              <a:rPr lang="zh-CN" altLang="en-US" sz="2400">
                <a:solidFill>
                  <a:schemeClr val="tx1"/>
                </a:solidFill>
              </a:rPr>
              <a:t>与非形式：</a:t>
            </a:r>
          </a:p>
          <a:p>
            <a:r>
              <a:rPr lang="zh-CN" altLang="en-US" sz="2200">
                <a:solidFill>
                  <a:schemeClr val="tx1"/>
                </a:solidFill>
              </a:rPr>
              <a:t>先化为</a:t>
            </a:r>
            <a:r>
              <a:rPr lang="zh-CN" altLang="en-US" sz="2200">
                <a:solidFill>
                  <a:srgbClr val="0066FF"/>
                </a:solidFill>
              </a:rPr>
              <a:t>与或式</a:t>
            </a:r>
            <a:r>
              <a:rPr lang="en-US" altLang="zh-CN" sz="2200">
                <a:solidFill>
                  <a:srgbClr val="0066FF"/>
                </a:solidFill>
              </a:rPr>
              <a:t>Y</a:t>
            </a:r>
            <a:r>
              <a:rPr lang="zh-CN" altLang="en-US" sz="2200">
                <a:solidFill>
                  <a:schemeClr val="tx1"/>
                </a:solidFill>
              </a:rPr>
              <a:t>，两次取反</a:t>
            </a:r>
            <a:r>
              <a:rPr lang="en-US" altLang="zh-CN" sz="2200">
                <a:solidFill>
                  <a:schemeClr val="tx1"/>
                </a:solidFill>
                <a:sym typeface="+mn-ea"/>
              </a:rPr>
              <a:t>(Y’)’</a:t>
            </a:r>
            <a:r>
              <a:rPr lang="zh-CN" altLang="en-US" sz="2200">
                <a:solidFill>
                  <a:schemeClr val="tx1"/>
                </a:solidFill>
              </a:rPr>
              <a:t>，</a:t>
            </a:r>
            <a:r>
              <a:rPr lang="en-US" altLang="zh-CN" sz="2200">
                <a:solidFill>
                  <a:schemeClr val="tx1"/>
                </a:solidFill>
                <a:sym typeface="+mn-ea"/>
              </a:rPr>
              <a:t>Y’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应为</a:t>
            </a:r>
            <a:r>
              <a:rPr lang="zh-CN" altLang="en-US" sz="2200">
                <a:solidFill>
                  <a:srgbClr val="0066FF"/>
                </a:solidFill>
                <a:sym typeface="+mn-ea"/>
              </a:rPr>
              <a:t>（与或）</a:t>
            </a:r>
            <a:r>
              <a:rPr lang="en-US" altLang="zh-CN" sz="2200">
                <a:solidFill>
                  <a:srgbClr val="0066FF"/>
                </a:solidFill>
                <a:sym typeface="+mn-ea"/>
              </a:rPr>
              <a:t>’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的形式</a:t>
            </a:r>
            <a:r>
              <a:rPr lang="zh-CN" altLang="en-US" sz="2200">
                <a:solidFill>
                  <a:schemeClr val="tx1"/>
                </a:solidFill>
              </a:rPr>
              <a:t>，保持</a:t>
            </a:r>
            <a:r>
              <a:rPr lang="zh-CN" altLang="en-US" sz="2200">
                <a:solidFill>
                  <a:srgbClr val="0066FF"/>
                </a:solidFill>
              </a:rPr>
              <a:t>（与）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形式不变转化</a:t>
            </a:r>
            <a:r>
              <a:rPr lang="zh-CN" altLang="en-US" sz="2200">
                <a:solidFill>
                  <a:srgbClr val="0066FF"/>
                </a:solidFill>
                <a:sym typeface="+mn-ea"/>
              </a:rPr>
              <a:t>（或）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形式</a:t>
            </a:r>
            <a:r>
              <a:rPr lang="zh-CN" altLang="en-US" sz="2200">
                <a:solidFill>
                  <a:srgbClr val="FF0000"/>
                </a:solidFill>
              </a:rPr>
              <a:t>。</a:t>
            </a:r>
          </a:p>
          <a:p>
            <a:r>
              <a:rPr lang="en-US" altLang="zh-CN" sz="2400">
                <a:solidFill>
                  <a:srgbClr val="0066FF"/>
                </a:solidFill>
              </a:rPr>
              <a:t>    </a:t>
            </a:r>
            <a:endParaRPr lang="zh-CN" altLang="en-US" sz="2400">
              <a:solidFill>
                <a:srgbClr val="FF0000"/>
              </a:solidFill>
            </a:endParaRPr>
          </a:p>
          <a:p>
            <a:endParaRPr lang="zh-CN" altLang="en-US" sz="2400">
              <a:solidFill>
                <a:srgbClr val="FF0000"/>
              </a:solidFill>
            </a:endParaRPr>
          </a:p>
          <a:p>
            <a:endParaRPr lang="zh-CN" altLang="en-US" sz="2400">
              <a:solidFill>
                <a:srgbClr val="FF0000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  <a:sym typeface="+mn-ea"/>
              </a:rPr>
              <a:t>与或形式变换为或非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或非形式：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200">
                <a:solidFill>
                  <a:schemeClr val="tx1"/>
                </a:solidFill>
              </a:rPr>
              <a:t>先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化为</a:t>
            </a:r>
            <a:r>
              <a:rPr lang="zh-CN" altLang="en-US" sz="2200">
                <a:solidFill>
                  <a:srgbClr val="0066FF"/>
                </a:solidFill>
              </a:rPr>
              <a:t>与</a:t>
            </a:r>
            <a:r>
              <a:rPr lang="zh-CN" altLang="en-US" sz="2200">
                <a:solidFill>
                  <a:srgbClr val="0066FF"/>
                </a:solidFill>
                <a:sym typeface="+mn-ea"/>
              </a:rPr>
              <a:t>或</a:t>
            </a:r>
            <a:r>
              <a:rPr lang="zh-CN" altLang="en-US" sz="2200">
                <a:solidFill>
                  <a:srgbClr val="0066FF"/>
                </a:solidFill>
              </a:rPr>
              <a:t>式</a:t>
            </a:r>
            <a:r>
              <a:rPr lang="en-US" altLang="zh-CN" sz="2200">
                <a:solidFill>
                  <a:srgbClr val="0066FF"/>
                </a:solidFill>
                <a:sym typeface="+mn-ea"/>
              </a:rPr>
              <a:t>Y</a:t>
            </a:r>
            <a:r>
              <a:rPr lang="zh-CN" altLang="en-US" sz="2200">
                <a:solidFill>
                  <a:schemeClr val="tx1"/>
                </a:solidFill>
              </a:rPr>
              <a:t>，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两次取反</a:t>
            </a:r>
            <a:r>
              <a:rPr lang="en-US" altLang="zh-CN" sz="2200">
                <a:solidFill>
                  <a:schemeClr val="tx1"/>
                </a:solidFill>
                <a:sym typeface="+mn-ea"/>
              </a:rPr>
              <a:t>(Y’)’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sz="2200">
                <a:solidFill>
                  <a:schemeClr val="tx1"/>
                </a:solidFill>
                <a:sym typeface="+mn-ea"/>
              </a:rPr>
              <a:t>Y’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化为</a:t>
            </a:r>
            <a:r>
              <a:rPr lang="zh-CN" altLang="en-US" sz="2200">
                <a:solidFill>
                  <a:srgbClr val="0066FF"/>
                </a:solidFill>
                <a:sym typeface="+mn-ea"/>
              </a:rPr>
              <a:t>（与或）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的形式</a:t>
            </a:r>
            <a:r>
              <a:rPr lang="zh-CN" altLang="en-US" sz="2200">
                <a:solidFill>
                  <a:srgbClr val="0066FF"/>
                </a:solidFill>
                <a:sym typeface="+mn-ea"/>
              </a:rPr>
              <a:t>（可采用公式化简法或卡诺图取</a:t>
            </a:r>
            <a:r>
              <a:rPr lang="en-US" altLang="zh-CN" sz="2200">
                <a:solidFill>
                  <a:srgbClr val="0066FF"/>
                </a:solidFill>
                <a:sym typeface="+mn-ea"/>
              </a:rPr>
              <a:t>0</a:t>
            </a:r>
            <a:r>
              <a:rPr lang="zh-CN" altLang="en-US" sz="2200">
                <a:solidFill>
                  <a:srgbClr val="0066FF"/>
                </a:solidFill>
                <a:sym typeface="+mn-ea"/>
              </a:rPr>
              <a:t>法）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，保持</a:t>
            </a:r>
            <a:r>
              <a:rPr lang="zh-CN" altLang="en-US" sz="2200">
                <a:solidFill>
                  <a:srgbClr val="0066FF"/>
                </a:solidFill>
                <a:sym typeface="+mn-ea"/>
              </a:rPr>
              <a:t>（或）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不变转化</a:t>
            </a:r>
            <a:r>
              <a:rPr lang="zh-CN" altLang="en-US" sz="2200">
                <a:solidFill>
                  <a:srgbClr val="0066FF"/>
                </a:solidFill>
                <a:sym typeface="+mn-ea"/>
              </a:rPr>
              <a:t>（与）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，再取非。</a:t>
            </a:r>
            <a:endParaRPr lang="zh-CN" altLang="en-US" sz="2200">
              <a:solidFill>
                <a:srgbClr val="FF0000"/>
              </a:solidFill>
            </a:endParaRPr>
          </a:p>
          <a:p>
            <a:r>
              <a:rPr lang="en-US" altLang="zh-CN" sz="2400">
                <a:solidFill>
                  <a:srgbClr val="0066FF"/>
                </a:solidFill>
                <a:sym typeface="+mn-ea"/>
              </a:rPr>
              <a:t>  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9705" y="5301615"/>
            <a:ext cx="901636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00B050"/>
                </a:solidFill>
                <a:sym typeface="+mn-ea"/>
              </a:rPr>
              <a:t>如：</a:t>
            </a:r>
            <a:r>
              <a:rPr lang="en-US" altLang="zh-CN" sz="2000">
                <a:solidFill>
                  <a:srgbClr val="00B050"/>
                </a:solidFill>
                <a:sym typeface="+mn-ea"/>
              </a:rPr>
              <a:t>Y=AB+CD=(Y’)’=((AB+CD)’)’    </a:t>
            </a:r>
            <a:r>
              <a:rPr lang="en-US" altLang="zh-CN" sz="2000">
                <a:solidFill>
                  <a:srgbClr val="00B050"/>
                </a:solidFill>
                <a:cs typeface="Arial" panose="020B0604020202020204" pitchFamily="34" charset="0"/>
                <a:sym typeface="+mn-ea"/>
              </a:rPr>
              <a:t>→</a:t>
            </a:r>
            <a:r>
              <a:rPr lang="en-US" altLang="zh-CN" sz="2000">
                <a:solidFill>
                  <a:srgbClr val="00B050"/>
                </a:solidFill>
                <a:sym typeface="+mn-ea"/>
              </a:rPr>
              <a:t> Y’=EF+GH  </a:t>
            </a:r>
            <a:r>
              <a:rPr lang="en-US" altLang="zh-CN" sz="2000">
                <a:solidFill>
                  <a:srgbClr val="00B050"/>
                </a:solidFill>
                <a:cs typeface="Arial" panose="020B0604020202020204" pitchFamily="34" charset="0"/>
                <a:sym typeface="+mn-ea"/>
              </a:rPr>
              <a:t>  </a:t>
            </a:r>
          </a:p>
          <a:p>
            <a:r>
              <a:rPr lang="en-US" altLang="zh-CN" sz="2000">
                <a:solidFill>
                  <a:srgbClr val="00B050"/>
                </a:solidFill>
                <a:cs typeface="Arial" panose="020B0604020202020204" pitchFamily="34" charset="0"/>
                <a:sym typeface="+mn-ea"/>
              </a:rPr>
              <a:t>                                                          → </a:t>
            </a:r>
            <a:r>
              <a:rPr lang="en-US" altLang="zh-CN" sz="2000">
                <a:solidFill>
                  <a:srgbClr val="00B050"/>
                </a:solidFill>
                <a:sym typeface="+mn-ea"/>
              </a:rPr>
              <a:t>Y=(EF+GH)’ =((E’+F’)’+(G’+H’)’)’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39750" y="2853055"/>
            <a:ext cx="7035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00B050"/>
                </a:solidFill>
                <a:sym typeface="+mn-ea"/>
              </a:rPr>
              <a:t>如：</a:t>
            </a:r>
            <a:r>
              <a:rPr lang="en-US" altLang="zh-CN" sz="2000">
                <a:solidFill>
                  <a:srgbClr val="00B050"/>
                </a:solidFill>
                <a:sym typeface="+mn-ea"/>
              </a:rPr>
              <a:t>Y=AB+CD </a:t>
            </a:r>
            <a:r>
              <a:rPr lang="en-US" altLang="zh-CN" sz="2000">
                <a:solidFill>
                  <a:srgbClr val="00B050"/>
                </a:solidFill>
                <a:cs typeface="Arial" panose="020B0604020202020204" pitchFamily="34" charset="0"/>
                <a:sym typeface="+mn-ea"/>
              </a:rPr>
              <a:t>→ </a:t>
            </a:r>
            <a:r>
              <a:rPr lang="en-US" altLang="zh-CN" sz="2000">
                <a:solidFill>
                  <a:srgbClr val="00B050"/>
                </a:solidFill>
                <a:sym typeface="+mn-ea"/>
              </a:rPr>
              <a:t>Y=(Y’)’=((AB+CD)’)’=((AB)’</a:t>
            </a:r>
            <a:r>
              <a:rPr lang="en-US" altLang="zh-CN" sz="200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000">
                <a:solidFill>
                  <a:srgbClr val="00B050"/>
                </a:solidFill>
                <a:sym typeface="+mn-ea"/>
              </a:rPr>
              <a:t>(CD)’)’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787900" y="3716655"/>
            <a:ext cx="105410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solidFill>
                  <a:srgbClr val="00B050"/>
                </a:solidFill>
                <a:latin typeface="Times New Roman" panose="02020603050405020304"/>
                <a:ea typeface="宋体" panose="02010600030101010101" pitchFamily="2" charset="-122"/>
              </a:rPr>
              <a:t>圈</a:t>
            </a:r>
            <a:r>
              <a:rPr lang="en-US" altLang="zh-CN" sz="1800">
                <a:solidFill>
                  <a:srgbClr val="00B050"/>
                </a:solidFill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en-US" sz="1800">
                <a:solidFill>
                  <a:srgbClr val="00B050"/>
                </a:solidFill>
                <a:latin typeface="Times New Roman" panose="02020603050405020304"/>
                <a:ea typeface="宋体" panose="02010600030101010101" pitchFamily="2" charset="-122"/>
              </a:rPr>
              <a:t>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2000" y="1556385"/>
            <a:ext cx="105410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solidFill>
                  <a:srgbClr val="00B050"/>
                </a:solidFill>
                <a:latin typeface="Times New Roman" panose="02020603050405020304"/>
                <a:ea typeface="宋体" panose="02010600030101010101" pitchFamily="2" charset="-122"/>
              </a:rPr>
              <a:t>圈</a:t>
            </a:r>
            <a:r>
              <a:rPr lang="en-US" altLang="zh-CN" sz="1800">
                <a:solidFill>
                  <a:srgbClr val="00B050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en-US" sz="1800">
                <a:solidFill>
                  <a:srgbClr val="00B050"/>
                </a:solidFill>
                <a:latin typeface="Times New Roman" panose="02020603050405020304"/>
                <a:ea typeface="宋体" panose="02010600030101010101" pitchFamily="2" charset="-122"/>
              </a:rPr>
              <a:t>法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556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第二章：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形式转换方法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18"/>
          <p:cNvPicPr>
            <a:picLocks noChangeAspect="1"/>
          </p:cNvPicPr>
          <p:nvPr/>
        </p:nvPicPr>
        <p:blipFill>
          <a:blip r:embed="rId2"/>
          <a:srcRect b="84327"/>
          <a:stretch>
            <a:fillRect/>
          </a:stretch>
        </p:blipFill>
        <p:spPr>
          <a:xfrm>
            <a:off x="539115" y="548640"/>
            <a:ext cx="7548880" cy="342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图片 18"/>
          <p:cNvPicPr>
            <a:picLocks noChangeAspect="1"/>
          </p:cNvPicPr>
          <p:nvPr/>
        </p:nvPicPr>
        <p:blipFill>
          <a:blip r:embed="rId2"/>
          <a:srcRect t="28470" b="55315"/>
          <a:stretch>
            <a:fillRect/>
          </a:stretch>
        </p:blipFill>
        <p:spPr>
          <a:xfrm>
            <a:off x="539115" y="970915"/>
            <a:ext cx="7618095" cy="356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图片 18"/>
          <p:cNvPicPr>
            <a:picLocks noChangeAspect="1"/>
          </p:cNvPicPr>
          <p:nvPr/>
        </p:nvPicPr>
        <p:blipFill>
          <a:blip r:embed="rId2"/>
          <a:srcRect t="85536"/>
          <a:stretch>
            <a:fillRect/>
          </a:stretch>
        </p:blipFill>
        <p:spPr>
          <a:xfrm>
            <a:off x="539115" y="1386840"/>
            <a:ext cx="7628255" cy="318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图片 19"/>
          <p:cNvPicPr>
            <a:picLocks noChangeAspect="1"/>
          </p:cNvPicPr>
          <p:nvPr/>
        </p:nvPicPr>
        <p:blipFill>
          <a:blip r:embed="rId3"/>
          <a:srcRect b="77150"/>
          <a:stretch>
            <a:fillRect/>
          </a:stretch>
        </p:blipFill>
        <p:spPr>
          <a:xfrm>
            <a:off x="558800" y="1916430"/>
            <a:ext cx="7608570" cy="348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图片 20"/>
          <p:cNvPicPr>
            <a:picLocks noChangeAspect="1"/>
          </p:cNvPicPr>
          <p:nvPr/>
        </p:nvPicPr>
        <p:blipFill>
          <a:blip r:embed="rId3"/>
          <a:srcRect t="62778"/>
          <a:stretch>
            <a:fillRect/>
          </a:stretch>
        </p:blipFill>
        <p:spPr>
          <a:xfrm>
            <a:off x="683260" y="2348865"/>
            <a:ext cx="7614920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0" y="3290570"/>
            <a:ext cx="8307705" cy="2750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" y="476885"/>
            <a:ext cx="7836535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13"/>
          <p:cNvPicPr>
            <a:picLocks noChangeAspect="1"/>
          </p:cNvPicPr>
          <p:nvPr/>
        </p:nvPicPr>
        <p:blipFill>
          <a:blip r:embed="rId3"/>
          <a:srcRect b="90132"/>
          <a:stretch>
            <a:fillRect/>
          </a:stretch>
        </p:blipFill>
        <p:spPr>
          <a:xfrm>
            <a:off x="373380" y="4352925"/>
            <a:ext cx="7620635" cy="309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05" y="4796790"/>
            <a:ext cx="7614920" cy="270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2"/>
          <p:cNvPicPr>
            <a:picLocks noChangeAspect="1"/>
          </p:cNvPicPr>
          <p:nvPr/>
        </p:nvPicPr>
        <p:blipFill>
          <a:blip r:embed="rId5"/>
          <a:srcRect l="952" t="2695"/>
          <a:stretch>
            <a:fillRect/>
          </a:stretch>
        </p:blipFill>
        <p:spPr>
          <a:xfrm>
            <a:off x="409575" y="5156835"/>
            <a:ext cx="7550150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3"/>
          <p:cNvPicPr>
            <a:picLocks noChangeAspect="1"/>
          </p:cNvPicPr>
          <p:nvPr/>
        </p:nvPicPr>
        <p:blipFill>
          <a:blip r:embed="rId6"/>
          <a:srcRect l="1085" t="6780"/>
          <a:stretch>
            <a:fillRect/>
          </a:stretch>
        </p:blipFill>
        <p:spPr>
          <a:xfrm>
            <a:off x="405130" y="5603240"/>
            <a:ext cx="7539990" cy="252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图片 4"/>
          <p:cNvPicPr>
            <a:picLocks noChangeAspect="1"/>
          </p:cNvPicPr>
          <p:nvPr/>
        </p:nvPicPr>
        <p:blipFill>
          <a:blip r:embed="rId7"/>
          <a:srcRect l="1205" t="4545"/>
          <a:stretch>
            <a:fillRect/>
          </a:stretch>
        </p:blipFill>
        <p:spPr>
          <a:xfrm>
            <a:off x="458470" y="5949950"/>
            <a:ext cx="7535545" cy="25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5"/>
          <p:cNvPicPr>
            <a:picLocks noChangeAspect="1"/>
          </p:cNvPicPr>
          <p:nvPr/>
        </p:nvPicPr>
        <p:blipFill>
          <a:blip r:embed="rId2"/>
          <a:srcRect r="15488" b="49932"/>
          <a:stretch>
            <a:fillRect/>
          </a:stretch>
        </p:blipFill>
        <p:spPr>
          <a:xfrm>
            <a:off x="395605" y="508635"/>
            <a:ext cx="6339840" cy="332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图片 5"/>
          <p:cNvPicPr>
            <a:picLocks noChangeAspect="1"/>
          </p:cNvPicPr>
          <p:nvPr/>
        </p:nvPicPr>
        <p:blipFill>
          <a:blip r:embed="rId2"/>
          <a:srcRect t="56054"/>
          <a:stretch>
            <a:fillRect/>
          </a:stretch>
        </p:blipFill>
        <p:spPr>
          <a:xfrm>
            <a:off x="467360" y="960755"/>
            <a:ext cx="750189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图片 6"/>
          <p:cNvPicPr>
            <a:picLocks noChangeAspect="1"/>
          </p:cNvPicPr>
          <p:nvPr/>
        </p:nvPicPr>
        <p:blipFill>
          <a:blip r:embed="rId3"/>
          <a:srcRect l="1628" t="2985"/>
          <a:stretch>
            <a:fillRect/>
          </a:stretch>
        </p:blipFill>
        <p:spPr>
          <a:xfrm>
            <a:off x="467360" y="1291590"/>
            <a:ext cx="6771005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图片 7"/>
          <p:cNvPicPr>
            <a:picLocks noChangeAspect="1"/>
          </p:cNvPicPr>
          <p:nvPr/>
        </p:nvPicPr>
        <p:blipFill>
          <a:blip r:embed="rId4"/>
          <a:srcRect l="1458" t="-1802"/>
          <a:stretch>
            <a:fillRect/>
          </a:stretch>
        </p:blipFill>
        <p:spPr>
          <a:xfrm>
            <a:off x="467360" y="1628775"/>
            <a:ext cx="6390640" cy="31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图片 8"/>
          <p:cNvPicPr>
            <a:picLocks noChangeAspect="1"/>
          </p:cNvPicPr>
          <p:nvPr/>
        </p:nvPicPr>
        <p:blipFill>
          <a:blip r:embed="rId5"/>
          <a:srcRect r="2204" b="3322"/>
          <a:stretch>
            <a:fillRect/>
          </a:stretch>
        </p:blipFill>
        <p:spPr>
          <a:xfrm>
            <a:off x="467360" y="1978660"/>
            <a:ext cx="7521575" cy="26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图片 17"/>
          <p:cNvPicPr>
            <a:picLocks noChangeAspect="1"/>
          </p:cNvPicPr>
          <p:nvPr/>
        </p:nvPicPr>
        <p:blipFill>
          <a:blip r:embed="rId6"/>
          <a:srcRect l="2651" t="8215"/>
          <a:stretch>
            <a:fillRect/>
          </a:stretch>
        </p:blipFill>
        <p:spPr>
          <a:xfrm>
            <a:off x="251460" y="2493010"/>
            <a:ext cx="7409180" cy="297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图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15" y="3034665"/>
            <a:ext cx="8068945" cy="5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705" y="3716655"/>
            <a:ext cx="7618095" cy="26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图片 25"/>
          <p:cNvPicPr>
            <a:picLocks noChangeAspect="1"/>
          </p:cNvPicPr>
          <p:nvPr/>
        </p:nvPicPr>
        <p:blipFill>
          <a:blip r:embed="rId9"/>
          <a:srcRect b="78788"/>
          <a:stretch>
            <a:fillRect/>
          </a:stretch>
        </p:blipFill>
        <p:spPr>
          <a:xfrm>
            <a:off x="360045" y="4348480"/>
            <a:ext cx="6938010" cy="316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图片 26"/>
          <p:cNvPicPr>
            <a:picLocks noChangeAspect="1"/>
          </p:cNvPicPr>
          <p:nvPr/>
        </p:nvPicPr>
        <p:blipFill>
          <a:blip r:embed="rId9"/>
          <a:srcRect t="60269"/>
          <a:stretch>
            <a:fillRect/>
          </a:stretch>
        </p:blipFill>
        <p:spPr>
          <a:xfrm>
            <a:off x="539115" y="4772025"/>
            <a:ext cx="6944995" cy="592455"/>
          </a:xfrm>
          <a:prstGeom prst="rect">
            <a:avLst/>
          </a:prstGeom>
          <a:noFill/>
          <a:ln>
            <a:noFill/>
          </a:ln>
        </p:spPr>
      </p:pic>
      <p:sp>
        <p:nvSpPr>
          <p:cNvPr id="228355" name="Rectangle 3"/>
          <p:cNvSpPr>
            <a:spLocks noGrp="1" noChangeArrowheads="1"/>
          </p:cNvSpPr>
          <p:nvPr/>
        </p:nvSpPr>
        <p:spPr>
          <a:xfrm>
            <a:off x="467360" y="5445125"/>
            <a:ext cx="8491220" cy="12814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1. </a:t>
            </a:r>
            <a:r>
              <a:rPr kumimoji="0"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化简后的乘积项应包含函数式的所有最小项，</a:t>
            </a:r>
            <a:r>
              <a:rPr kumimoji="0" lang="zh-CN" altLang="en-US" sz="20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即覆盖图中所有的</a:t>
            </a:r>
            <a:r>
              <a:rPr kumimoji="0" lang="en-US" altLang="zh-CN" sz="20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zh-CN" altLang="en-US" sz="20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  <a:endParaRPr kumimoji="0" lang="en-US" altLang="zh-CN" sz="20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None/>
            </a:pPr>
            <a:r>
              <a:rPr kumimoji="0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2. </a:t>
            </a:r>
            <a:r>
              <a:rPr kumimoji="0"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乘积项的数目最少，</a:t>
            </a:r>
            <a:r>
              <a:rPr kumimoji="0" lang="zh-CN" altLang="en-US" sz="20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即圈成的矩形最少</a:t>
            </a:r>
            <a:r>
              <a:rPr kumimoji="0"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  <a:endParaRPr kumimoji="0" lang="en-US" altLang="zh-CN" sz="20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None/>
            </a:pPr>
            <a:r>
              <a:rPr kumimoji="0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3. </a:t>
            </a:r>
            <a:r>
              <a:rPr kumimoji="0"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每个乘积项因子最少，</a:t>
            </a:r>
            <a:r>
              <a:rPr kumimoji="0" lang="zh-CN" altLang="en-US" sz="20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即圈成的矩形最大</a:t>
            </a:r>
            <a:r>
              <a:rPr kumimoji="0"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12180" y="4855210"/>
            <a:ext cx="25355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无关项时用</a:t>
            </a:r>
            <a:r>
              <a:rPr lang="en-US" altLang="zh-CN" sz="200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x</a:t>
            </a:r>
            <a:r>
              <a:rPr lang="zh-CN" altLang="en-US" sz="200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表示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" y="620395"/>
            <a:ext cx="7898130" cy="518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205" y="1268730"/>
            <a:ext cx="264541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图片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810" y="1289685"/>
            <a:ext cx="3713480" cy="31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图片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215" y="1844675"/>
            <a:ext cx="7941945" cy="545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图片 37"/>
          <p:cNvPicPr>
            <a:picLocks noChangeAspect="1"/>
          </p:cNvPicPr>
          <p:nvPr/>
        </p:nvPicPr>
        <p:blipFill>
          <a:blip r:embed="rId6"/>
          <a:srcRect b="66201"/>
          <a:stretch>
            <a:fillRect/>
          </a:stretch>
        </p:blipFill>
        <p:spPr>
          <a:xfrm>
            <a:off x="611505" y="2493010"/>
            <a:ext cx="4850765" cy="354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图片 37"/>
          <p:cNvPicPr>
            <a:picLocks noChangeAspect="1"/>
          </p:cNvPicPr>
          <p:nvPr/>
        </p:nvPicPr>
        <p:blipFill>
          <a:blip r:embed="rId6"/>
          <a:srcRect t="65872"/>
          <a:stretch>
            <a:fillRect/>
          </a:stretch>
        </p:blipFill>
        <p:spPr>
          <a:xfrm>
            <a:off x="4573270" y="2507615"/>
            <a:ext cx="4570730" cy="3371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323215" y="3213100"/>
            <a:ext cx="8051165" cy="3261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</a:rPr>
              <a:t>与或形式变换为与非</a:t>
            </a:r>
            <a:r>
              <a:rPr lang="en-US" altLang="zh-CN" sz="2400">
                <a:solidFill>
                  <a:schemeClr val="tx1"/>
                </a:solidFill>
              </a:rPr>
              <a:t>-</a:t>
            </a:r>
            <a:r>
              <a:rPr lang="zh-CN" altLang="en-US" sz="2400">
                <a:solidFill>
                  <a:schemeClr val="tx1"/>
                </a:solidFill>
              </a:rPr>
              <a:t>与非形式：</a:t>
            </a:r>
          </a:p>
          <a:p>
            <a:r>
              <a:rPr lang="zh-CN" altLang="en-US" sz="2200">
                <a:solidFill>
                  <a:schemeClr val="tx1"/>
                </a:solidFill>
              </a:rPr>
              <a:t>先化为与或式</a:t>
            </a:r>
            <a:r>
              <a:rPr lang="en-US" altLang="zh-CN" sz="2200">
                <a:solidFill>
                  <a:schemeClr val="tx1"/>
                </a:solidFill>
              </a:rPr>
              <a:t>Y</a:t>
            </a:r>
            <a:r>
              <a:rPr lang="zh-CN" altLang="en-US" sz="2200">
                <a:solidFill>
                  <a:schemeClr val="tx1"/>
                </a:solidFill>
              </a:rPr>
              <a:t>，两次取反</a:t>
            </a:r>
            <a:r>
              <a:rPr lang="en-US" altLang="zh-CN" sz="2200">
                <a:solidFill>
                  <a:schemeClr val="tx1"/>
                </a:solidFill>
                <a:sym typeface="+mn-ea"/>
              </a:rPr>
              <a:t>(Y’)’</a:t>
            </a:r>
            <a:r>
              <a:rPr lang="zh-CN" altLang="en-US" sz="2200">
                <a:solidFill>
                  <a:schemeClr val="tx1"/>
                </a:solidFill>
              </a:rPr>
              <a:t>，</a:t>
            </a:r>
            <a:r>
              <a:rPr lang="en-US" altLang="zh-CN" sz="2200">
                <a:solidFill>
                  <a:schemeClr val="tx1"/>
                </a:solidFill>
                <a:sym typeface="+mn-ea"/>
              </a:rPr>
              <a:t>Y’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应为（与或）</a:t>
            </a:r>
            <a:r>
              <a:rPr lang="en-US" altLang="zh-CN" sz="2200">
                <a:solidFill>
                  <a:schemeClr val="tx1"/>
                </a:solidFill>
                <a:sym typeface="+mn-ea"/>
              </a:rPr>
              <a:t>’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的形式</a:t>
            </a:r>
            <a:r>
              <a:rPr lang="zh-CN" altLang="en-US" sz="2200">
                <a:solidFill>
                  <a:schemeClr val="tx1"/>
                </a:solidFill>
              </a:rPr>
              <a:t>，保持（与）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形式不变转化（或）形式</a:t>
            </a:r>
            <a:r>
              <a:rPr lang="zh-CN" altLang="en-US" sz="2200">
                <a:solidFill>
                  <a:schemeClr val="tx1"/>
                </a:solidFill>
              </a:rPr>
              <a:t>。</a:t>
            </a:r>
          </a:p>
          <a:p>
            <a:r>
              <a:rPr lang="en-US" altLang="zh-CN" sz="2400">
                <a:solidFill>
                  <a:schemeClr val="tx1"/>
                </a:solidFill>
              </a:rPr>
              <a:t>    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  <a:sym typeface="+mn-ea"/>
              </a:rPr>
              <a:t>与或形式变换为或非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或非形式：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200">
                <a:solidFill>
                  <a:schemeClr val="tx1"/>
                </a:solidFill>
              </a:rPr>
              <a:t>先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化为</a:t>
            </a:r>
            <a:r>
              <a:rPr lang="zh-CN" altLang="en-US" sz="2200">
                <a:solidFill>
                  <a:schemeClr val="tx1"/>
                </a:solidFill>
              </a:rPr>
              <a:t>与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或</a:t>
            </a:r>
            <a:r>
              <a:rPr lang="zh-CN" altLang="en-US" sz="2200">
                <a:solidFill>
                  <a:schemeClr val="tx1"/>
                </a:solidFill>
              </a:rPr>
              <a:t>式</a:t>
            </a:r>
            <a:r>
              <a:rPr lang="en-US" altLang="zh-CN" sz="2200">
                <a:solidFill>
                  <a:schemeClr val="tx1"/>
                </a:solidFill>
                <a:sym typeface="+mn-ea"/>
              </a:rPr>
              <a:t>Y</a:t>
            </a:r>
            <a:r>
              <a:rPr lang="zh-CN" altLang="en-US" sz="2200">
                <a:solidFill>
                  <a:schemeClr val="tx1"/>
                </a:solidFill>
              </a:rPr>
              <a:t>，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两次取反</a:t>
            </a:r>
            <a:r>
              <a:rPr lang="en-US" altLang="zh-CN" sz="2200">
                <a:solidFill>
                  <a:schemeClr val="tx1"/>
                </a:solidFill>
                <a:sym typeface="+mn-ea"/>
              </a:rPr>
              <a:t>(Y’)’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sz="2200">
                <a:solidFill>
                  <a:schemeClr val="tx1"/>
                </a:solidFill>
                <a:sym typeface="+mn-ea"/>
              </a:rPr>
              <a:t>Y’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化为（与或）的形式（可采用公式化简法或卡诺图取</a:t>
            </a:r>
            <a:r>
              <a:rPr lang="en-US" altLang="zh-CN" sz="2200">
                <a:solidFill>
                  <a:schemeClr val="tx1"/>
                </a:solidFill>
                <a:sym typeface="+mn-ea"/>
              </a:rPr>
              <a:t>0</a:t>
            </a:r>
            <a:r>
              <a:rPr lang="zh-CN" altLang="en-US" sz="2200">
                <a:solidFill>
                  <a:schemeClr val="tx1"/>
                </a:solidFill>
                <a:sym typeface="+mn-ea"/>
              </a:rPr>
              <a:t>法），保持（或）不变转化（与），再取非。</a:t>
            </a:r>
            <a:endParaRPr lang="zh-CN" altLang="en-US" sz="22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  <a:sym typeface="+mn-ea"/>
              </a:rPr>
              <a:t>  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716145" y="4653280"/>
            <a:ext cx="105410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solidFill>
                  <a:srgbClr val="00B050"/>
                </a:solidFill>
                <a:latin typeface="Times New Roman" panose="02020603050405020304"/>
                <a:ea typeface="宋体" panose="02010600030101010101" pitchFamily="2" charset="-122"/>
              </a:rPr>
              <a:t>圈</a:t>
            </a:r>
            <a:r>
              <a:rPr lang="en-US" altLang="zh-CN" sz="1800">
                <a:solidFill>
                  <a:srgbClr val="00B050"/>
                </a:solidFill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en-US" sz="1800">
                <a:solidFill>
                  <a:srgbClr val="00B050"/>
                </a:solidFill>
                <a:latin typeface="Times New Roman" panose="02020603050405020304"/>
                <a:ea typeface="宋体" panose="02010600030101010101" pitchFamily="2" charset="-122"/>
              </a:rPr>
              <a:t>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716145" y="3284855"/>
            <a:ext cx="105410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solidFill>
                  <a:srgbClr val="00B050"/>
                </a:solidFill>
                <a:latin typeface="Times New Roman" panose="02020603050405020304"/>
                <a:ea typeface="宋体" panose="02010600030101010101" pitchFamily="2" charset="-122"/>
              </a:rPr>
              <a:t>圈</a:t>
            </a:r>
            <a:r>
              <a:rPr lang="en-US" altLang="zh-CN" sz="1800">
                <a:solidFill>
                  <a:srgbClr val="00B050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en-US" sz="1800">
                <a:solidFill>
                  <a:srgbClr val="00B050"/>
                </a:solidFill>
                <a:latin typeface="Times New Roman" panose="02020603050405020304"/>
                <a:ea typeface="宋体" panose="02010600030101010101" pitchFamily="2" charset="-122"/>
              </a:rPr>
              <a:t>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第四章：组合逻辑电路</a:t>
            </a:r>
            <a:endParaRPr lang="zh-CN" altLang="en-US">
              <a:solidFill>
                <a:srgbClr val="000000"/>
              </a:solidFill>
              <a:sym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539115" y="1196975"/>
            <a:ext cx="7820660" cy="502920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9pPr>
          </a:lstStyle>
          <a:p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本章讨论了组合逻辑电路的分析方法和设计方法、若干常用组合逻辑电路的原理和使用方法、组合逻辑电路中的竞争</a:t>
            </a: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--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冒险现象，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重点掌握：</a:t>
            </a: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1. 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组合逻辑电路的</a:t>
            </a:r>
            <a:r>
              <a:rPr kumimoji="0" lang="zh-CN" altLang="en-US" sz="2400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分析方法</a:t>
            </a: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2. 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组合逻辑电路的</a:t>
            </a:r>
            <a:r>
              <a:rPr kumimoji="0" lang="zh-CN" altLang="en-US" sz="2400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设计方法</a:t>
            </a: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3. 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编码器、</a:t>
            </a:r>
            <a:r>
              <a:rPr kumimoji="0" lang="en-US" altLang="zh-CN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线</a:t>
            </a:r>
            <a:r>
              <a:rPr kumimoji="0" lang="en-US" altLang="zh-CN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-8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线译码器、（双）</a:t>
            </a:r>
            <a:r>
              <a:rPr kumimoji="0" lang="en-US" altLang="zh-CN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选</a:t>
            </a:r>
            <a:r>
              <a:rPr kumimoji="0" lang="en-US" altLang="zh-CN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1/</a:t>
            </a:r>
            <a:r>
              <a:rPr kumimoji="0" lang="en-US" altLang="zh-CN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8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选</a:t>
            </a:r>
            <a:r>
              <a:rPr kumimoji="0" lang="en-US" altLang="zh-CN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1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数据选择器、</a:t>
            </a:r>
            <a:r>
              <a:rPr kumimoji="0" lang="zh-CN" altLang="en-US" sz="2400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加法器、数据比较器的扩展、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分析与设计</a:t>
            </a: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4. 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组合逻辑电路中的</a:t>
            </a:r>
            <a:r>
              <a:rPr lang="zh-CN" altLang="en-US" sz="24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竞争</a:t>
            </a:r>
            <a:r>
              <a:rPr lang="en-US" altLang="zh-CN" sz="24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-</a:t>
            </a:r>
            <a:r>
              <a:rPr lang="zh-CN" altLang="en-US" sz="24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冒险现象</a:t>
            </a:r>
            <a:endParaRPr kumimoji="0" lang="zh-CN" altLang="en-US" sz="2400" kern="0" dirty="0">
              <a:solidFill>
                <a:srgbClr val="0066FF"/>
              </a:solidFill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idx="1"/>
          </p:nvPr>
        </p:nvSpPr>
        <p:spPr>
          <a:xfrm>
            <a:off x="395288" y="981075"/>
            <a:ext cx="8353425" cy="5472113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一、逻辑抽象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609600" indent="-609600"/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分析因果关系，确定输入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输出变量</a:t>
            </a:r>
            <a:endParaRPr lang="en-US" altLang="zh-CN" sz="20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609600" indent="-609600"/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定义逻辑状态的含意（赋值）</a:t>
            </a:r>
            <a:endParaRPr lang="en-US" altLang="zh-CN" sz="20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609600" indent="-609600"/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列出真值表</a:t>
            </a:r>
            <a:endParaRPr lang="en-US" altLang="zh-CN" sz="20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609600" indent="-609600"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二、写出函数式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</a:t>
            </a:r>
          </a:p>
          <a:p>
            <a:pPr marL="609600" indent="-609600"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三、选定器件类型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609600" indent="-609600"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四、根据所选器件：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对逻辑式化简（用门）</a:t>
            </a:r>
            <a:endParaRPr lang="en-US" altLang="zh-CN" sz="20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609600" indent="-609600"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		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变换（用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MSI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）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609600" indent="-609600"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五、画出逻辑电路图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609600" indent="-609600">
              <a:buFontTx/>
              <a:buNone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  <a:p>
            <a:pPr marL="609600" indent="-609600">
              <a:buFontTx/>
              <a:buNone/>
            </a:pP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4580890"/>
            <a:ext cx="5824855" cy="21818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第四章：组合逻辑电路的设计方法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1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1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61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1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1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61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1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1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161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1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1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" dur="1000"/>
                                        <p:tgtEl>
                                          <p:spTgt spid="161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1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1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" dur="1000"/>
                                        <p:tgtEl>
                                          <p:spTgt spid="161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1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1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8" dur="1000"/>
                                        <p:tgtEl>
                                          <p:spTgt spid="161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1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1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5" dur="1000"/>
                                        <p:tgtEl>
                                          <p:spTgt spid="161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1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1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0" dur="1000"/>
                                        <p:tgtEl>
                                          <p:spTgt spid="161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1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1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7" dur="1000"/>
                                        <p:tgtEl>
                                          <p:spTgt spid="161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15" y="1700530"/>
            <a:ext cx="2802890" cy="17760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75965" y="1412875"/>
            <a:ext cx="584771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/>
              <a:t>输入：</a:t>
            </a:r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altLang="zh-CN" sz="1800" baseline="-25000"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’, </a:t>
            </a:r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18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’, </a:t>
            </a:r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18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’, </a:t>
            </a:r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18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’, </a:t>
            </a:r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18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’, </a:t>
            </a:r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18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’, </a:t>
            </a:r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18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6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 , </a:t>
            </a:r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18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7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</a:t>
            </a:r>
          </a:p>
          <a:p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</a:t>
            </a:r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：选通信号（片选、始能），低电平有效</a:t>
            </a:r>
          </a:p>
          <a:p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</a:t>
            </a:r>
            <a:r>
              <a:rPr lang="en-US" altLang="zh-CN" sz="18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US" altLang="zh-CN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’=0 </a:t>
            </a: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工作，</a:t>
            </a:r>
            <a:r>
              <a:rPr lang="en-US" altLang="zh-CN" sz="1800" b="1" i="1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US" altLang="zh-CN" sz="1800" b="1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’=1 </a:t>
            </a:r>
            <a:r>
              <a:rPr lang="zh-CN" altLang="en-US" sz="1800" b="1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不工作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。</a:t>
            </a:r>
            <a:endParaRPr lang="zh-CN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800"/>
              <a:t>输出：</a:t>
            </a:r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lang="en-US" altLang="zh-CN" sz="18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0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’, </a:t>
            </a:r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lang="en-US" altLang="zh-CN" sz="18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’, </a:t>
            </a:r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lang="en-US" altLang="zh-CN" sz="18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</a:t>
            </a:r>
          </a:p>
          <a:p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扩展功能端：</a:t>
            </a:r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lang="en-US" altLang="zh-CN" sz="18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</a:t>
            </a:r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</a:t>
            </a:r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lang="en-US" altLang="zh-CN" sz="18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</a:t>
            </a:r>
            <a:endParaRPr lang="zh-CN" altLang="en-US" sz="1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zh-CN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</a:t>
            </a:r>
            <a:r>
              <a:rPr lang="en-US" altLang="zh-CN" sz="1800" i="1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lang="en-US" altLang="zh-CN" sz="1800" baseline="-25000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US" altLang="zh-CN" sz="1800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’</a:t>
            </a:r>
            <a:r>
              <a:rPr lang="zh-CN" altLang="en-US" sz="1800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：选通输出端，</a:t>
            </a:r>
            <a:r>
              <a:rPr lang="zh-CN" altLang="en-US" sz="1800">
                <a:solidFill>
                  <a:srgbClr val="1D41D5"/>
                </a:solidFill>
                <a:sym typeface="+mn-ea"/>
              </a:rPr>
              <a:t>为</a:t>
            </a:r>
            <a:r>
              <a:rPr lang="en-US" altLang="zh-CN" sz="1800">
                <a:solidFill>
                  <a:srgbClr val="1D41D5"/>
                </a:solidFill>
                <a:sym typeface="+mn-ea"/>
              </a:rPr>
              <a:t>0</a:t>
            </a:r>
            <a:r>
              <a:rPr lang="zh-CN" altLang="en-US" sz="1800">
                <a:solidFill>
                  <a:srgbClr val="1D41D5"/>
                </a:solidFill>
                <a:sym typeface="+mn-ea"/>
              </a:rPr>
              <a:t>时，电路工作无编码输入</a:t>
            </a:r>
            <a:endParaRPr lang="zh-CN" altLang="en-US" sz="1800">
              <a:solidFill>
                <a:srgbClr val="1D41D5"/>
              </a:solidFill>
            </a:endParaRPr>
          </a:p>
          <a:p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</a:t>
            </a:r>
            <a:r>
              <a:rPr lang="en-US" altLang="zh-CN" sz="1800" i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lang="en-US" altLang="zh-CN" sz="1800" baseline="-2500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EX</a:t>
            </a:r>
            <a:r>
              <a:rPr lang="en-US" altLang="zh-CN" sz="180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’</a:t>
            </a:r>
            <a:r>
              <a:rPr lang="zh-CN" altLang="en-US" sz="180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：扩展端，</a:t>
            </a:r>
            <a:r>
              <a:rPr lang="zh-CN" altLang="en-US" sz="1800">
                <a:solidFill>
                  <a:srgbClr val="00B050"/>
                </a:solidFill>
                <a:sym typeface="+mn-ea"/>
              </a:rPr>
              <a:t>为</a:t>
            </a:r>
            <a:r>
              <a:rPr lang="en-US" altLang="zh-CN" sz="1800">
                <a:solidFill>
                  <a:srgbClr val="00B050"/>
                </a:solidFill>
                <a:sym typeface="+mn-ea"/>
              </a:rPr>
              <a:t>0</a:t>
            </a:r>
            <a:r>
              <a:rPr lang="zh-CN" altLang="en-US" sz="1800">
                <a:solidFill>
                  <a:srgbClr val="00B050"/>
                </a:solidFill>
                <a:sym typeface="+mn-ea"/>
              </a:rPr>
              <a:t>时，电路工作有编码输入</a:t>
            </a:r>
            <a:endParaRPr lang="zh-CN" altLang="en-US" sz="1800">
              <a:solidFill>
                <a:srgbClr val="00B050"/>
              </a:solidFill>
            </a:endParaRPr>
          </a:p>
          <a:p>
            <a:endParaRPr lang="zh-CN" altLang="en-US" sz="1800">
              <a:solidFill>
                <a:srgbClr val="00B05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43305" y="1237615"/>
            <a:ext cx="16649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低电平有效</a:t>
            </a:r>
          </a:p>
        </p:txBody>
      </p:sp>
      <p:graphicFrame>
        <p:nvGraphicFramePr>
          <p:cNvPr id="183343" name="Group 4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00020" y="3716655"/>
          <a:ext cx="3314065" cy="2680970"/>
        </p:xfrm>
        <a:graphic>
          <a:graphicData uri="http://schemas.openxmlformats.org/drawingml/2006/table">
            <a:tbl>
              <a:tblPr/>
              <a:tblGrid>
                <a:gridCol w="633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14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状态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不工作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D41D5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D41D5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D41D5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工作，但无输入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工作，且有输入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5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sng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sng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不可能出现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550" name="Object 43"/>
          <p:cNvGraphicFramePr>
            <a:graphicFrameLocks noChangeAspect="1"/>
          </p:cNvGraphicFramePr>
          <p:nvPr/>
        </p:nvGraphicFramePr>
        <p:xfrm>
          <a:off x="2731612" y="3788569"/>
          <a:ext cx="862965" cy="300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98500" imgH="241300" progId="Equation.3">
                  <p:embed/>
                </p:oleObj>
              </mc:Choice>
              <mc:Fallback>
                <p:oleObj name="公式" r:id="rId5" imgW="698500" imgH="2413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1612" y="3788569"/>
                        <a:ext cx="862965" cy="30035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127885" y="3757295"/>
            <a:ext cx="307975" cy="468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</a:t>
            </a:r>
          </a:p>
        </p:txBody>
      </p:sp>
      <p:graphicFrame>
        <p:nvGraphicFramePr>
          <p:cNvPr id="11" name="Group 4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122805" y="4117975"/>
          <a:ext cx="568960" cy="1876425"/>
        </p:xfrm>
        <a:graphic>
          <a:graphicData uri="http://schemas.openxmlformats.org/drawingml/2006/table">
            <a:tbl>
              <a:tblPr/>
              <a:tblGrid>
                <a:gridCol w="27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6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D41D5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6011545" y="4580890"/>
            <a:ext cx="18986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8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lang="en-US" altLang="zh-CN" sz="1800" b="1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0</a:t>
            </a:r>
            <a:r>
              <a:rPr lang="en-US" altLang="zh-CN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’, </a:t>
            </a:r>
            <a:r>
              <a:rPr lang="en-US" altLang="zh-CN" sz="18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lang="en-US" altLang="zh-CN" sz="1800" b="1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’, </a:t>
            </a:r>
            <a:r>
              <a:rPr lang="en-US" altLang="zh-CN" sz="18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lang="en-US" altLang="zh-CN" sz="1800" b="1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’=1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第四章：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8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线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-3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线优先编码器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74HC148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05" y="1340485"/>
            <a:ext cx="2861310" cy="22269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91535" y="1268730"/>
            <a:ext cx="530288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输入：</a:t>
            </a:r>
          </a:p>
          <a:p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地址输入端：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en-US" altLang="zh-CN" sz="20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en-US" altLang="zh-CN" sz="20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en-US" altLang="zh-CN" sz="20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0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数据输入端：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US" altLang="zh-CN" sz="20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     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US" altLang="zh-CN" sz="20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+S</a:t>
            </a:r>
            <a:r>
              <a:rPr lang="en-US" altLang="zh-CN" sz="2000" i="1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</a:rPr>
              <a:t>      S = S</a:t>
            </a:r>
            <a:r>
              <a:rPr lang="en-US" altLang="zh-CN" sz="2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US" altLang="zh-CN" sz="2000" baseline="-2500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’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</a:rPr>
              <a:t>+S</a:t>
            </a:r>
            <a:r>
              <a:rPr lang="en-US" altLang="zh-CN" sz="2000" i="1" baseline="-25000"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’)’ 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为控制端（片选）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zh-CN" sz="20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US" altLang="zh-CN" sz="2000" b="1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=1</a:t>
            </a:r>
            <a:r>
              <a:rPr lang="zh-CN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US" altLang="zh-CN" sz="2000" b="1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</a:t>
            </a:r>
            <a:r>
              <a:rPr lang="en-US" altLang="zh-CN" sz="20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+S</a:t>
            </a:r>
            <a:r>
              <a:rPr lang="en-US" altLang="zh-CN" sz="2000" b="1" i="1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’=0 </a:t>
            </a:r>
            <a:r>
              <a:rPr lang="zh-CN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工作</a:t>
            </a:r>
          </a:p>
          <a:p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</a:t>
            </a:r>
            <a:r>
              <a:rPr lang="en-US" altLang="zh-CN" sz="2000" i="1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US" altLang="zh-CN" sz="2000" baseline="-25000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 sz="2000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=0</a:t>
            </a:r>
            <a:r>
              <a:rPr lang="zh-CN" altLang="en-US" sz="2000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或</a:t>
            </a:r>
            <a:r>
              <a:rPr lang="en-US" altLang="zh-CN" sz="2000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i="1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US" altLang="zh-CN" sz="2000" baseline="-25000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 sz="2000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’</a:t>
            </a:r>
            <a:r>
              <a:rPr lang="en-US" altLang="zh-CN" sz="2000" i="1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+S</a:t>
            </a:r>
            <a:r>
              <a:rPr lang="en-US" altLang="zh-CN" sz="2000" i="1" baseline="-25000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 sz="2000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’=1 </a:t>
            </a:r>
            <a:r>
              <a:rPr lang="zh-CN" altLang="en-US" sz="2000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不工作</a:t>
            </a:r>
            <a:endParaRPr lang="zh-CN" altLang="en-US" sz="2000" i="1">
              <a:solidFill>
                <a:srgbClr val="FFC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zh-CN" altLang="en-US" sz="20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zh-CN" altLang="en-US" sz="2000">
                <a:sym typeface="+mn-ea"/>
              </a:rPr>
              <a:t>输出：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lang="en-US" altLang="zh-CN" sz="20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7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’-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lang="en-US" altLang="zh-CN" sz="20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0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 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低电平有效</a:t>
            </a:r>
          </a:p>
        </p:txBody>
      </p:sp>
      <p:graphicFrame>
        <p:nvGraphicFramePr>
          <p:cNvPr id="31750" name="Object 9"/>
          <p:cNvGraphicFramePr>
            <a:graphicFrameLocks noChangeAspect="1"/>
          </p:cNvGraphicFramePr>
          <p:nvPr/>
        </p:nvGraphicFramePr>
        <p:xfrm>
          <a:off x="1043101" y="3567564"/>
          <a:ext cx="162718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900" imgH="228600" progId="Equation.DSMT4">
                  <p:embed/>
                </p:oleObj>
              </mc:Choice>
              <mc:Fallback>
                <p:oleObj name="Equation" r:id="rId4" imgW="7239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101" y="3567564"/>
                        <a:ext cx="1627188" cy="5143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971370" y="4615304"/>
          <a:ext cx="1769110" cy="55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065" imgH="241300" progId="Equation.DSMT4">
                  <p:embed/>
                </p:oleObj>
              </mc:Choice>
              <mc:Fallback>
                <p:oleObj name="Equation" r:id="rId6" imgW="774065" imgH="2413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370" y="4615304"/>
                        <a:ext cx="1769110" cy="550545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27405" y="4149090"/>
            <a:ext cx="2070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/>
              <a:t>S</a:t>
            </a:r>
            <a:r>
              <a:rPr lang="en-US" altLang="zh-CN" sz="2000" b="1"/>
              <a:t> = </a:t>
            </a:r>
            <a:r>
              <a:rPr lang="en-US" altLang="zh-CN" sz="2000" b="1" i="1"/>
              <a:t>S</a:t>
            </a:r>
            <a:r>
              <a:rPr lang="en-US" altLang="zh-CN" sz="2000" b="1" baseline="-25000"/>
              <a:t>1</a:t>
            </a:r>
            <a:r>
              <a:rPr lang="en-US" altLang="zh-CN" sz="2000" b="1"/>
              <a:t>(</a:t>
            </a:r>
            <a:r>
              <a:rPr lang="en-US" altLang="zh-CN" sz="2000" b="1" i="1"/>
              <a:t>S</a:t>
            </a:r>
            <a:r>
              <a:rPr lang="en-US" altLang="zh-CN" sz="2000" b="1" baseline="-25000"/>
              <a:t>2</a:t>
            </a:r>
            <a:r>
              <a:rPr lang="en-US" altLang="zh-CN" sz="2000" b="1"/>
              <a:t>’+</a:t>
            </a:r>
            <a:r>
              <a:rPr lang="en-US" altLang="zh-CN" sz="2000" b="1" i="1"/>
              <a:t>S</a:t>
            </a:r>
            <a:r>
              <a:rPr lang="en-US" altLang="zh-CN" sz="2000" b="1" baseline="-25000"/>
              <a:t>3</a:t>
            </a:r>
            <a:r>
              <a:rPr lang="en-US" altLang="zh-CN" sz="2000" b="1"/>
              <a:t>’)’</a:t>
            </a:r>
          </a:p>
        </p:txBody>
      </p:sp>
      <p:sp>
        <p:nvSpPr>
          <p:cNvPr id="252936" name="Rectangle 8"/>
          <p:cNvSpPr>
            <a:spLocks noChangeArrowheads="1"/>
          </p:cNvSpPr>
          <p:nvPr/>
        </p:nvSpPr>
        <p:spPr bwMode="auto">
          <a:xfrm>
            <a:off x="683895" y="5233035"/>
            <a:ext cx="2452370" cy="72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2400" dirty="0">
                <a:solidFill>
                  <a:srgbClr val="1D41D5"/>
                </a:solidFill>
                <a:latin typeface="Comic Sans MS" panose="030F0702030302020204" pitchFamily="66" charset="0"/>
              </a:rPr>
              <a:t>最小项译码器</a:t>
            </a:r>
            <a:endParaRPr lang="zh-CN" altLang="en-US" sz="2400" dirty="0">
              <a:solidFill>
                <a:srgbClr val="1D41D5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anose="030F0702030302020204" pitchFamily="66" charset="0"/>
            </a:endParaRPr>
          </a:p>
        </p:txBody>
      </p:sp>
      <p:graphicFrame>
        <p:nvGraphicFramePr>
          <p:cNvPr id="183343" name="Group 4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923665" y="3933190"/>
          <a:ext cx="3877310" cy="2409825"/>
        </p:xfrm>
        <a:graphic>
          <a:graphicData uri="http://schemas.openxmlformats.org/drawingml/2006/table">
            <a:tbl>
              <a:tblPr/>
              <a:tblGrid>
                <a:gridCol w="707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81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2+</a:t>
                      </a:r>
                      <a:r>
                        <a:rPr kumimoji="0" lang="en-US" altLang="zh-CN" sz="2400" b="0" i="0" u="none" strike="noStrike" cap="none" normalizeH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状态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不工作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  <a:sym typeface="+mn-ea"/>
                        </a:rPr>
                        <a:t>不工作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1D41D5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工作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0" i="0" u="none" strike="sng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000" b="0" i="0" u="none" strike="sng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第四章：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3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线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-8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线译码器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74HC138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25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6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750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4212257" y="2329567"/>
          <a:ext cx="4568190" cy="776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691765" imgH="457200" progId="Equation.3">
                  <p:embed/>
                </p:oleObj>
              </mc:Choice>
              <mc:Fallback>
                <p:oleObj name="公式" r:id="rId3" imgW="2691765" imgH="45720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2257" y="2329567"/>
                        <a:ext cx="4568190" cy="77660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50035" y="1266825"/>
            <a:ext cx="1918970" cy="2211070"/>
          </a:xfrm>
          <a:prstGeom prst="rect">
            <a:avLst/>
          </a:prstGeom>
        </p:spPr>
      </p:pic>
      <p:pic>
        <p:nvPicPr>
          <p:cNvPr id="50250" name="Picture 74" descr="C:\Users\Administrator\AppData\Roaming\Tencent\Users\1937794446\QQ\WinTemp\RichOle\N%L~_RY3I0{[~Z{L(M1QE6R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035" y="3861008"/>
            <a:ext cx="3343275" cy="1903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323215" y="1844675"/>
            <a:ext cx="10712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>
                <a:solidFill>
                  <a:srgbClr val="1D41D5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4</a:t>
            </a:r>
            <a:r>
              <a:rPr lang="zh-CN" altLang="en-US" sz="2800" b="1">
                <a:solidFill>
                  <a:srgbClr val="1D41D5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选</a:t>
            </a:r>
            <a:r>
              <a:rPr lang="en-US" altLang="zh-CN" sz="2800" b="1">
                <a:solidFill>
                  <a:srgbClr val="1D41D5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1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5560" y="4551680"/>
            <a:ext cx="14351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1D41D5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双</a:t>
            </a:r>
            <a:r>
              <a:rPr lang="en-US" sz="2800" b="1">
                <a:solidFill>
                  <a:srgbClr val="1D41D5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4</a:t>
            </a:r>
            <a:r>
              <a:rPr lang="zh-CN" altLang="en-US" sz="2800" b="1">
                <a:solidFill>
                  <a:srgbClr val="1D41D5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选</a:t>
            </a:r>
            <a:r>
              <a:rPr lang="en-US" altLang="zh-CN" sz="2800" b="1">
                <a:solidFill>
                  <a:srgbClr val="1D41D5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1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267200" y="3175000"/>
            <a:ext cx="40366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00B050"/>
                </a:solidFill>
              </a:rPr>
              <a:t>可实现</a:t>
            </a:r>
            <a:r>
              <a:rPr lang="en-US" altLang="zh-CN" sz="2000">
                <a:solidFill>
                  <a:srgbClr val="00B050"/>
                </a:solidFill>
              </a:rPr>
              <a:t>2+1</a:t>
            </a:r>
            <a:r>
              <a:rPr lang="zh-CN" altLang="en-US" sz="2000">
                <a:solidFill>
                  <a:srgbClr val="00B050"/>
                </a:solidFill>
              </a:rPr>
              <a:t>个变量的组合逻辑电路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267200" y="4542790"/>
            <a:ext cx="13690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变成</a:t>
            </a:r>
            <a:r>
              <a:rPr lang="en-US" altLang="zh-CN" sz="2000" dirty="0">
                <a:solidFill>
                  <a:srgbClr val="00B050"/>
                </a:solidFill>
              </a:rPr>
              <a:t>8</a:t>
            </a:r>
            <a:r>
              <a:rPr lang="zh-CN" altLang="en-US" sz="2000" dirty="0">
                <a:solidFill>
                  <a:srgbClr val="00B050"/>
                </a:solidFill>
              </a:rPr>
              <a:t>选</a:t>
            </a:r>
            <a:r>
              <a:rPr lang="en-US" altLang="zh-CN" sz="2000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4" name="燕尾形箭头 13"/>
          <p:cNvSpPr/>
          <p:nvPr/>
        </p:nvSpPr>
        <p:spPr>
          <a:xfrm>
            <a:off x="4284345" y="4911725"/>
            <a:ext cx="1224280" cy="288290"/>
          </a:xfrm>
          <a:prstGeom prst="notch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楷体_GB2312" charset="0"/>
              <a:cs typeface="楷体_GB2312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83865" y="5920105"/>
            <a:ext cx="40366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00B050"/>
                </a:solidFill>
              </a:rPr>
              <a:t>可实现</a:t>
            </a:r>
            <a:r>
              <a:rPr lang="en-US" altLang="zh-CN" sz="2000">
                <a:solidFill>
                  <a:srgbClr val="00B050"/>
                </a:solidFill>
              </a:rPr>
              <a:t>3+1</a:t>
            </a:r>
            <a:r>
              <a:rPr lang="zh-CN" altLang="en-US" sz="2000">
                <a:solidFill>
                  <a:srgbClr val="00B050"/>
                </a:solidFill>
              </a:rPr>
              <a:t>个变量的组合逻辑电路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5436235" y="3831590"/>
            <a:ext cx="3486150" cy="2532380"/>
            <a:chOff x="8561" y="5513"/>
            <a:chExt cx="5490" cy="3988"/>
          </a:xfrm>
        </p:grpSpPr>
        <p:grpSp>
          <p:nvGrpSpPr>
            <p:cNvPr id="6" name="组合 5"/>
            <p:cNvGrpSpPr/>
            <p:nvPr/>
          </p:nvGrpSpPr>
          <p:grpSpPr>
            <a:xfrm>
              <a:off x="8561" y="5513"/>
              <a:ext cx="5491" cy="3988"/>
              <a:chOff x="8561" y="5740"/>
              <a:chExt cx="5491" cy="3988"/>
            </a:xfrm>
          </p:grpSpPr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7"/>
              <a:srcRect l="32800" r="33600"/>
              <a:stretch>
                <a:fillRect/>
              </a:stretch>
            </p:blipFill>
            <p:spPr>
              <a:xfrm>
                <a:off x="11056" y="8348"/>
                <a:ext cx="1134" cy="1380"/>
              </a:xfrm>
              <a:prstGeom prst="rect">
                <a:avLst/>
              </a:prstGeom>
            </p:spPr>
          </p:pic>
          <p:pic>
            <p:nvPicPr>
              <p:cNvPr id="16" name="Picture 74" descr="C:\Users\Administrator\AppData\Roaming\Tencent\Users\1937794446\QQ\WinTemp\RichOle\N%L~_RY3I0{[~Z{L(M1QE6R.png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5437"/>
              <a:stretch>
                <a:fillRect/>
              </a:stretch>
            </p:blipFill>
            <p:spPr bwMode="auto">
              <a:xfrm>
                <a:off x="8788" y="5740"/>
                <a:ext cx="5265" cy="28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" name="图片 16"/>
              <p:cNvPicPr>
                <a:picLocks noChangeAspect="1"/>
              </p:cNvPicPr>
              <p:nvPr/>
            </p:nvPicPr>
            <p:blipFill>
              <a:blip r:embed="rId8"/>
              <a:srcRect l="12274" t="1550"/>
              <a:stretch>
                <a:fillRect/>
              </a:stretch>
            </p:blipFill>
            <p:spPr>
              <a:xfrm rot="5400000">
                <a:off x="8972" y="7597"/>
                <a:ext cx="340" cy="254"/>
              </a:xfrm>
              <a:prstGeom prst="rect">
                <a:avLst/>
              </a:prstGeom>
            </p:spPr>
          </p:pic>
          <p:cxnSp>
            <p:nvCxnSpPr>
              <p:cNvPr id="18" name="直接连接符 17"/>
              <p:cNvCxnSpPr/>
              <p:nvPr/>
            </p:nvCxnSpPr>
            <p:spPr>
              <a:xfrm flipH="1">
                <a:off x="8768" y="7582"/>
                <a:ext cx="7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2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" name="直接连接符 18"/>
              <p:cNvCxnSpPr/>
              <p:nvPr/>
            </p:nvCxnSpPr>
            <p:spPr>
              <a:xfrm flipH="1">
                <a:off x="9144" y="7895"/>
                <a:ext cx="352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2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" name="直接连接符 1"/>
              <p:cNvCxnSpPr/>
              <p:nvPr/>
            </p:nvCxnSpPr>
            <p:spPr>
              <a:xfrm flipH="1" flipV="1">
                <a:off x="11081" y="8558"/>
                <a:ext cx="428" cy="1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2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" name="直接连接符 2"/>
              <p:cNvCxnSpPr/>
              <p:nvPr/>
            </p:nvCxnSpPr>
            <p:spPr>
              <a:xfrm flipV="1">
                <a:off x="11736" y="8558"/>
                <a:ext cx="452" cy="4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2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" name="文本框 4"/>
              <p:cNvSpPr txBox="1"/>
              <p:nvPr/>
            </p:nvSpPr>
            <p:spPr>
              <a:xfrm>
                <a:off x="8561" y="7524"/>
                <a:ext cx="735" cy="43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1200">
                    <a:sym typeface="+mn-ea"/>
                  </a:rPr>
                  <a:t>A</a:t>
                </a:r>
                <a:r>
                  <a:rPr lang="en-US" altLang="zh-CN" sz="1200" baseline="-25000">
                    <a:sym typeface="+mn-ea"/>
                  </a:rPr>
                  <a:t>2</a:t>
                </a:r>
              </a:p>
            </p:txBody>
          </p:sp>
        </p:grpSp>
        <p:sp>
          <p:nvSpPr>
            <p:cNvPr id="20" name="文本框 19"/>
            <p:cNvSpPr txBox="1"/>
            <p:nvPr/>
          </p:nvSpPr>
          <p:spPr>
            <a:xfrm>
              <a:off x="9809" y="5513"/>
              <a:ext cx="609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200">
                  <a:sym typeface="+mn-ea"/>
                </a:rPr>
                <a:t>D</a:t>
              </a:r>
              <a:r>
                <a:rPr lang="en-US" altLang="zh-CN" sz="1200" baseline="-25000">
                  <a:sym typeface="+mn-ea"/>
                </a:rPr>
                <a:t>3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0262" y="5513"/>
              <a:ext cx="609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200">
                  <a:sym typeface="+mn-ea"/>
                </a:rPr>
                <a:t>D</a:t>
              </a:r>
              <a:r>
                <a:rPr lang="en-US" altLang="zh-CN" sz="1200" baseline="-25000">
                  <a:sym typeface="+mn-ea"/>
                </a:rPr>
                <a:t>2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0715" y="5514"/>
              <a:ext cx="609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200">
                  <a:sym typeface="+mn-ea"/>
                </a:rPr>
                <a:t>D</a:t>
              </a:r>
              <a:r>
                <a:rPr lang="en-US" altLang="zh-CN" sz="1200" baseline="-25000">
                  <a:sym typeface="+mn-ea"/>
                </a:rPr>
                <a:t>1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1168" y="5514"/>
              <a:ext cx="609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200">
                  <a:sym typeface="+mn-ea"/>
                </a:rPr>
                <a:t>D</a:t>
              </a:r>
              <a:r>
                <a:rPr lang="en-US" altLang="zh-CN" sz="1200" baseline="-25000">
                  <a:sym typeface="+mn-ea"/>
                </a:rPr>
                <a:t>0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1542" y="5513"/>
              <a:ext cx="609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200">
                  <a:sym typeface="+mn-ea"/>
                </a:rPr>
                <a:t>D</a:t>
              </a:r>
              <a:r>
                <a:rPr lang="en-US" altLang="zh-CN" sz="1200" baseline="-25000">
                  <a:sym typeface="+mn-ea"/>
                </a:rPr>
                <a:t>7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1995" y="5513"/>
              <a:ext cx="609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200">
                  <a:sym typeface="+mn-ea"/>
                </a:rPr>
                <a:t>D</a:t>
              </a:r>
              <a:r>
                <a:rPr lang="en-US" altLang="zh-CN" sz="1200" baseline="-25000">
                  <a:sym typeface="+mn-ea"/>
                </a:rPr>
                <a:t>6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2448" y="5514"/>
              <a:ext cx="609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200">
                  <a:sym typeface="+mn-ea"/>
                </a:rPr>
                <a:t>D</a:t>
              </a:r>
              <a:r>
                <a:rPr lang="en-US" altLang="zh-CN" sz="1200" baseline="-25000">
                  <a:sym typeface="+mn-ea"/>
                </a:rPr>
                <a:t>5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901" y="5514"/>
              <a:ext cx="609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200">
                  <a:sym typeface="+mn-ea"/>
                </a:rPr>
                <a:t>D</a:t>
              </a:r>
              <a:r>
                <a:rPr lang="en-US" altLang="zh-CN" sz="1200" baseline="-25000">
                  <a:sym typeface="+mn-ea"/>
                </a:rPr>
                <a:t>4</a:t>
              </a: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4267200" y="1124585"/>
            <a:ext cx="52412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地址输入端：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en-US" altLang="zh-CN" sz="20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en-US" altLang="zh-CN" sz="20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0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地址）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数据输入端：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en-US" altLang="zh-CN" sz="20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en-US" altLang="zh-CN" sz="20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en-US" altLang="zh-CN" sz="20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, 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en-US" altLang="zh-CN" sz="20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0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 sz="2000" baseline="30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数据）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控制输入端：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’=0 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（工作，</a:t>
            </a:r>
            <a:r>
              <a:rPr lang="zh-CN" altLang="en-US" sz="2000" b="1">
                <a:solidFill>
                  <a:srgbClr val="1D41D5"/>
                </a:solidFill>
                <a:sym typeface="+mn-ea"/>
              </a:rPr>
              <a:t>低电平有效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20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zh-CN" altLang="en-US" sz="2000">
                <a:sym typeface="+mn-ea"/>
              </a:rPr>
              <a:t>输出：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Y=D</a:t>
            </a:r>
            <a:r>
              <a:rPr lang="en-US" altLang="zh-CN" sz="20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r>
              <a:rPr lang="en-US" altLang="zh-CN" sz="2000" baseline="30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选一输出）</a:t>
            </a:r>
            <a:endParaRPr lang="zh-CN" altLang="en-US" sz="2000" baseline="-25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第四章：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双</a:t>
            </a:r>
            <a:r>
              <a:rPr 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4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选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1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数据选择器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74HC153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3" grpId="0"/>
      <p:bldP spid="13" grpId="1"/>
      <p:bldP spid="14" grpId="0" bldLvl="0" animBg="1"/>
      <p:bldP spid="14" grpId="1" animBg="1"/>
      <p:bldP spid="7" grpId="0"/>
      <p:bldP spid="7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582" name="Picture 54" descr="4-3-25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/>
          <a:srcRect l="52953" b="26618"/>
          <a:stretch>
            <a:fillRect/>
          </a:stretch>
        </p:blipFill>
        <p:spPr bwMode="auto">
          <a:xfrm>
            <a:off x="755650" y="1485265"/>
            <a:ext cx="2473960" cy="158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403985" y="1052830"/>
            <a:ext cx="138684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1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位半加器</a:t>
            </a:r>
          </a:p>
        </p:txBody>
      </p:sp>
      <p:pic>
        <p:nvPicPr>
          <p:cNvPr id="279719" name="Picture 167" descr="4-3-27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/>
          <a:srcRect l="64683" t="32868" b="38312"/>
          <a:stretch>
            <a:fillRect/>
          </a:stretch>
        </p:blipFill>
        <p:spPr bwMode="auto">
          <a:xfrm>
            <a:off x="3852545" y="1525905"/>
            <a:ext cx="3401695" cy="1615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4859655" y="1052830"/>
            <a:ext cx="138684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1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位全加器</a:t>
            </a:r>
          </a:p>
        </p:txBody>
      </p:sp>
      <p:graphicFrame>
        <p:nvGraphicFramePr>
          <p:cNvPr id="60428" name="Object 13"/>
          <p:cNvGraphicFramePr>
            <a:graphicFrameLocks noChangeAspect="1"/>
          </p:cNvGraphicFramePr>
          <p:nvPr/>
        </p:nvGraphicFramePr>
        <p:xfrm>
          <a:off x="6444615" y="3596640"/>
          <a:ext cx="1889760" cy="2446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9" imgW="7444740" imgH="9639300" progId="">
                  <p:embed/>
                </p:oleObj>
              </mc:Choice>
              <mc:Fallback>
                <p:oleObj name="Photo Editor 照片" r:id="rId9" imgW="7444740" imgH="96393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615" y="3596640"/>
                        <a:ext cx="1889760" cy="2446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0580" name="Picture 4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179705" y="3596640"/>
            <a:ext cx="5798820" cy="2338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文本框 7"/>
          <p:cNvSpPr txBox="1"/>
          <p:nvPr/>
        </p:nvSpPr>
        <p:spPr>
          <a:xfrm>
            <a:off x="5796280" y="3213735"/>
            <a:ext cx="34112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超前进位加法器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74LS283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475740" y="3246120"/>
            <a:ext cx="27546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串行进位加法器</a:t>
            </a:r>
          </a:p>
        </p:txBody>
      </p:sp>
      <p:graphicFrame>
        <p:nvGraphicFramePr>
          <p:cNvPr id="280581" name="Object 5"/>
          <p:cNvGraphicFramePr>
            <a:graphicFrameLocks noChangeAspect="1"/>
          </p:cNvGraphicFramePr>
          <p:nvPr/>
        </p:nvGraphicFramePr>
        <p:xfrm>
          <a:off x="1056005" y="5933440"/>
          <a:ext cx="2983865" cy="760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790700" imgH="457200" progId="Equation.3">
                  <p:embed/>
                </p:oleObj>
              </mc:Choice>
              <mc:Fallback>
                <p:oleObj name="公式" r:id="rId12" imgW="179070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6005" y="5933440"/>
                        <a:ext cx="2983865" cy="76073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第四章：加法器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8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476885"/>
            <a:ext cx="7412990" cy="2179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70" y="2924810"/>
            <a:ext cx="7418705" cy="50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" y="3429000"/>
            <a:ext cx="7416165" cy="2637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404495"/>
            <a:ext cx="7674610" cy="3024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785" y="3429000"/>
            <a:ext cx="6386195" cy="3369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404495"/>
            <a:ext cx="7979410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图片 2"/>
          <p:cNvPicPr>
            <a:picLocks noChangeAspect="1"/>
          </p:cNvPicPr>
          <p:nvPr/>
        </p:nvPicPr>
        <p:blipFill>
          <a:blip r:embed="rId3"/>
          <a:srcRect t="7963"/>
          <a:stretch>
            <a:fillRect/>
          </a:stretch>
        </p:blipFill>
        <p:spPr>
          <a:xfrm>
            <a:off x="467360" y="1052830"/>
            <a:ext cx="7976870" cy="2687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765" y="2636520"/>
            <a:ext cx="4608195" cy="2500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80" y="548640"/>
            <a:ext cx="7710170" cy="1657985"/>
          </a:xfrm>
          <a:prstGeom prst="rect">
            <a:avLst/>
          </a:prstGeom>
        </p:spPr>
      </p:pic>
      <p:pic>
        <p:nvPicPr>
          <p:cNvPr id="95" name="图片 7"/>
          <p:cNvPicPr>
            <a:picLocks noChangeAspect="1"/>
          </p:cNvPicPr>
          <p:nvPr/>
        </p:nvPicPr>
        <p:blipFill>
          <a:blip r:embed="rId4"/>
          <a:srcRect b="14651"/>
          <a:stretch>
            <a:fillRect/>
          </a:stretch>
        </p:blipFill>
        <p:spPr>
          <a:xfrm>
            <a:off x="899160" y="2996565"/>
            <a:ext cx="2421255" cy="1608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8842375" cy="490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Picture 74" descr="C:\Users\Administrator\AppData\Roaming\Tencent\Users\1937794446\QQ\WinTemp\RichOle\N%L~_RY3I0{[~Z{L(M1QE6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5060" y="1412875"/>
            <a:ext cx="2964180" cy="1688465"/>
          </a:xfrm>
          <a:prstGeom prst="rect">
            <a:avLst/>
          </a:prstGeom>
          <a:noFill/>
        </p:spPr>
      </p:pic>
      <p:pic>
        <p:nvPicPr>
          <p:cNvPr id="95" name="图片 7"/>
          <p:cNvPicPr>
            <a:picLocks noChangeAspect="1"/>
          </p:cNvPicPr>
          <p:nvPr/>
        </p:nvPicPr>
        <p:blipFill>
          <a:blip r:embed="rId4"/>
          <a:srcRect b="14651"/>
          <a:stretch>
            <a:fillRect/>
          </a:stretch>
        </p:blipFill>
        <p:spPr>
          <a:xfrm>
            <a:off x="4355465" y="1376680"/>
            <a:ext cx="2729230" cy="18129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835150" y="107537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1D41D5"/>
                </a:solidFill>
                <a:latin typeface="等线" panose="02010600030101010101" charset="-122"/>
                <a:ea typeface="等线" panose="02010600030101010101" charset="-122"/>
              </a:rPr>
              <a:t>双</a:t>
            </a:r>
            <a:r>
              <a:rPr lang="en-US" altLang="zh-CN" sz="1600" b="1">
                <a:solidFill>
                  <a:srgbClr val="1D41D5"/>
                </a:solidFill>
                <a:latin typeface="等线" panose="02010600030101010101" charset="-122"/>
                <a:ea typeface="等线" panose="02010600030101010101" charset="-122"/>
              </a:rPr>
              <a:t>4</a:t>
            </a:r>
            <a:r>
              <a:rPr lang="zh-CN" altLang="en-US" sz="1600" b="1">
                <a:solidFill>
                  <a:srgbClr val="1D41D5"/>
                </a:solidFill>
                <a:latin typeface="等线" panose="02010600030101010101" charset="-122"/>
                <a:ea typeface="等线" panose="02010600030101010101" charset="-122"/>
              </a:rPr>
              <a:t>选</a:t>
            </a:r>
            <a:r>
              <a:rPr lang="en-US" altLang="zh-CN" sz="1600" b="1">
                <a:solidFill>
                  <a:srgbClr val="1D41D5"/>
                </a:solidFill>
                <a:latin typeface="等线" panose="02010600030101010101" charset="-122"/>
                <a:ea typeface="等线" panose="02010600030101010101" charset="-122"/>
              </a:rPr>
              <a:t>1 </a:t>
            </a:r>
            <a:r>
              <a:rPr lang="zh-CN" altLang="en-US" sz="1600" b="1">
                <a:solidFill>
                  <a:srgbClr val="1D41D5"/>
                </a:solidFill>
                <a:latin typeface="等线" panose="02010600030101010101" charset="-122"/>
                <a:ea typeface="等线" panose="02010600030101010101" charset="-122"/>
              </a:rPr>
              <a:t>数据选择器</a:t>
            </a:r>
            <a:r>
              <a:rPr lang="en-US" altLang="zh-CN" sz="1600" b="1">
                <a:solidFill>
                  <a:srgbClr val="1D41D5"/>
                </a:solidFill>
                <a:latin typeface="Arial" panose="020B0604020202020204"/>
                <a:ea typeface="宋体" panose="02010600030101010101" pitchFamily="2" charset="-122"/>
              </a:rPr>
              <a:t>                      </a:t>
            </a:r>
            <a:r>
              <a:rPr lang="en-US" altLang="zh-CN" sz="1600" b="1">
                <a:solidFill>
                  <a:srgbClr val="1D41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600" b="1">
                <a:solidFill>
                  <a:srgbClr val="1D41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</a:t>
            </a:r>
            <a:r>
              <a:rPr lang="en-US" altLang="zh-CN" sz="1600" b="1">
                <a:solidFill>
                  <a:srgbClr val="1D41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—8</a:t>
            </a:r>
            <a:r>
              <a:rPr lang="zh-CN" altLang="en-US" sz="1600" b="1">
                <a:solidFill>
                  <a:srgbClr val="1D41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线译码器</a:t>
            </a:r>
          </a:p>
        </p:txBody>
      </p:sp>
      <p:pic>
        <p:nvPicPr>
          <p:cNvPr id="99" name="图片 3"/>
          <p:cNvPicPr>
            <a:picLocks noChangeAspect="1"/>
          </p:cNvPicPr>
          <p:nvPr/>
        </p:nvPicPr>
        <p:blipFill>
          <a:blip r:embed="rId5"/>
          <a:srcRect t="1435"/>
          <a:stretch>
            <a:fillRect/>
          </a:stretch>
        </p:blipFill>
        <p:spPr>
          <a:xfrm>
            <a:off x="1547495" y="3213100"/>
            <a:ext cx="5367020" cy="3493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" y="548640"/>
            <a:ext cx="8605520" cy="3290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105" y="4076700"/>
            <a:ext cx="5775960" cy="1144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" y="548640"/>
            <a:ext cx="7747635" cy="106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3068955"/>
            <a:ext cx="7848600" cy="279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图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395" y="1700530"/>
            <a:ext cx="5775960" cy="1144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第五章：半导体存储电路</a:t>
            </a:r>
            <a:endParaRPr lang="zh-CN" altLang="en-US">
              <a:solidFill>
                <a:srgbClr val="000000"/>
              </a:solidFill>
              <a:sym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539115" y="1196975"/>
            <a:ext cx="7820660" cy="502920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9pPr>
          </a:lstStyle>
          <a:p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本章讨论了半导体存储电路中的存储单元（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一位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数据）、寄存器（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一组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数据）和存储器（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大量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数据）结构、工作原理与使用方法，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重点掌握：</a:t>
            </a: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1. </a:t>
            </a:r>
            <a:r>
              <a:rPr kumimoji="0" lang="en-US" altLang="zh-CN" sz="2400" i="1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SR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锁存器的特性表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2. 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触发器如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电平触发的触发器（</a:t>
            </a:r>
            <a:r>
              <a:rPr kumimoji="0" lang="en-US" altLang="zh-CN" sz="2400" i="1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SR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、</a:t>
            </a:r>
            <a:r>
              <a:rPr kumimoji="0" lang="en-US" altLang="zh-CN" sz="2400" i="1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D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）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、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边沿触发</a:t>
            </a:r>
            <a:r>
              <a:rPr kumimoji="0" lang="en-US" altLang="zh-CN" sz="2400" i="1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D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触发器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与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脉冲触发的触发器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（</a:t>
            </a:r>
            <a:r>
              <a:rPr kumimoji="0" lang="en-US" altLang="zh-CN" sz="2400" i="1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SR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、</a:t>
            </a:r>
            <a:r>
              <a:rPr kumimoji="0" lang="en-US" altLang="zh-CN" sz="2400" i="1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JK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、</a:t>
            </a: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T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）的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动作特点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和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输出端的电压波形</a:t>
            </a: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3. 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各种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触发器的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特性方程</a:t>
            </a: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4. </a:t>
            </a:r>
            <a:r>
              <a:rPr kumimoji="0" lang="zh-CN" altLang="en-US" sz="2400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存储器的分类与容量（</a:t>
            </a:r>
            <a:r>
              <a:rPr kumimoji="0" lang="en-US" altLang="zh-CN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“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字数</a:t>
            </a:r>
            <a:r>
              <a:rPr kumimoji="0" lang="en-US" altLang="zh-CN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 </a:t>
            </a:r>
            <a:r>
              <a:rPr kumimoji="0" lang="en-US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×</a:t>
            </a:r>
            <a:r>
              <a:rPr kumimoji="0" lang="en-US" altLang="zh-CN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 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位数</a:t>
            </a:r>
            <a:r>
              <a:rPr kumimoji="0" lang="en-US" altLang="zh-CN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”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）</a:t>
            </a:r>
            <a:r>
              <a:rPr kumimoji="0" lang="zh-CN" altLang="en-US" sz="2400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的扩展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481320" y="836295"/>
            <a:ext cx="1955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与非门组成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99160" y="907415"/>
            <a:ext cx="1955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与或门组成</a:t>
            </a:r>
          </a:p>
        </p:txBody>
      </p:sp>
      <p:grpSp>
        <p:nvGrpSpPr>
          <p:cNvPr id="15" name="组合 14"/>
          <p:cNvGrpSpPr/>
          <p:nvPr>
            <p:custDataLst>
              <p:tags r:id="rId1"/>
            </p:custDataLst>
          </p:nvPr>
        </p:nvGrpSpPr>
        <p:grpSpPr>
          <a:xfrm>
            <a:off x="35560" y="4869180"/>
            <a:ext cx="4552315" cy="1622425"/>
            <a:chOff x="56" y="7668"/>
            <a:chExt cx="7169" cy="2555"/>
          </a:xfrm>
        </p:grpSpPr>
        <p:sp>
          <p:nvSpPr>
            <p:cNvPr id="10" name="文本框 9"/>
            <p:cNvSpPr txBox="1"/>
            <p:nvPr>
              <p:custDataLst>
                <p:tags r:id="rId11"/>
              </p:custDataLst>
            </p:nvPr>
          </p:nvSpPr>
          <p:spPr>
            <a:xfrm>
              <a:off x="56" y="7668"/>
              <a:ext cx="7169" cy="19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900" b="1" i="1">
                  <a:solidFill>
                    <a:schemeClr val="accent2">
                      <a:lumMod val="50000"/>
                    </a:schemeClr>
                  </a:solidFill>
                </a:rPr>
                <a:t>S</a:t>
              </a:r>
              <a:r>
                <a:rPr lang="en-US" altLang="zh-CN" sz="1900" b="1" baseline="-25000">
                  <a:solidFill>
                    <a:schemeClr val="accent2">
                      <a:lumMod val="50000"/>
                    </a:schemeClr>
                  </a:solidFill>
                </a:rPr>
                <a:t>D</a:t>
              </a:r>
              <a:r>
                <a:rPr lang="en-US" altLang="zh-CN" sz="1900" b="1">
                  <a:solidFill>
                    <a:schemeClr val="accent2">
                      <a:lumMod val="50000"/>
                    </a:schemeClr>
                  </a:solidFill>
                </a:rPr>
                <a:t>=0 </a:t>
              </a:r>
              <a:r>
                <a:rPr lang="en-US" altLang="zh-CN" sz="1900" b="1" i="1">
                  <a:solidFill>
                    <a:schemeClr val="accent2">
                      <a:lumMod val="50000"/>
                    </a:schemeClr>
                  </a:solidFill>
                  <a:sym typeface="+mn-ea"/>
                </a:rPr>
                <a:t>R</a:t>
              </a:r>
              <a:r>
                <a:rPr lang="en-US" altLang="zh-CN" sz="1900" b="1" baseline="-25000">
                  <a:solidFill>
                    <a:schemeClr val="accent2">
                      <a:lumMod val="50000"/>
                    </a:schemeClr>
                  </a:solidFill>
                  <a:sym typeface="+mn-ea"/>
                </a:rPr>
                <a:t>D</a:t>
              </a:r>
              <a:r>
                <a:rPr lang="en-US" altLang="zh-CN" sz="1900" b="1">
                  <a:solidFill>
                    <a:schemeClr val="accent2">
                      <a:lumMod val="50000"/>
                    </a:schemeClr>
                  </a:solidFill>
                  <a:sym typeface="+mn-ea"/>
                </a:rPr>
                <a:t>=0</a:t>
              </a:r>
              <a:r>
                <a:rPr lang="zh-CN" altLang="en-US" sz="1900" b="1">
                  <a:solidFill>
                    <a:schemeClr val="accent2">
                      <a:lumMod val="50000"/>
                    </a:schemeClr>
                  </a:solidFill>
                  <a:sym typeface="+mn-ea"/>
                </a:rPr>
                <a:t>：</a:t>
              </a:r>
              <a:r>
                <a:rPr lang="en-US" altLang="zh-CN" sz="1900" b="1" i="1">
                  <a:solidFill>
                    <a:schemeClr val="accent2">
                      <a:lumMod val="50000"/>
                    </a:schemeClr>
                  </a:solidFill>
                  <a:sym typeface="+mn-ea"/>
                </a:rPr>
                <a:t>Q</a:t>
              </a:r>
              <a:r>
                <a:rPr lang="zh-CN" altLang="en-US" sz="1900" b="1">
                  <a:solidFill>
                    <a:schemeClr val="accent2">
                      <a:lumMod val="50000"/>
                    </a:schemeClr>
                  </a:solidFill>
                  <a:sym typeface="+mn-ea"/>
                </a:rPr>
                <a:t>保持</a:t>
              </a:r>
            </a:p>
            <a:p>
              <a:r>
                <a:rPr lang="en-US" altLang="zh-CN" sz="1900" b="1" i="1">
                  <a:solidFill>
                    <a:srgbClr val="FFC000"/>
                  </a:solidFill>
                  <a:sym typeface="+mn-ea"/>
                </a:rPr>
                <a:t>S</a:t>
              </a:r>
              <a:r>
                <a:rPr lang="en-US" altLang="zh-CN" sz="1900" b="1" baseline="-25000">
                  <a:solidFill>
                    <a:srgbClr val="FFC000"/>
                  </a:solidFill>
                  <a:sym typeface="+mn-ea"/>
                </a:rPr>
                <a:t>D</a:t>
              </a:r>
              <a:r>
                <a:rPr lang="en-US" altLang="zh-CN" sz="1900" b="1">
                  <a:solidFill>
                    <a:srgbClr val="FFC000"/>
                  </a:solidFill>
                  <a:sym typeface="+mn-ea"/>
                </a:rPr>
                <a:t>=1 </a:t>
              </a:r>
              <a:r>
                <a:rPr lang="en-US" altLang="zh-CN" sz="1900" b="1" i="1">
                  <a:solidFill>
                    <a:srgbClr val="FFC000"/>
                  </a:solidFill>
                  <a:sym typeface="+mn-ea"/>
                </a:rPr>
                <a:t>R</a:t>
              </a:r>
              <a:r>
                <a:rPr lang="en-US" altLang="zh-CN" sz="1900" b="1" baseline="-25000">
                  <a:solidFill>
                    <a:srgbClr val="FFC000"/>
                  </a:solidFill>
                  <a:sym typeface="+mn-ea"/>
                </a:rPr>
                <a:t>D</a:t>
              </a:r>
              <a:r>
                <a:rPr lang="en-US" altLang="zh-CN" sz="1900" b="1">
                  <a:solidFill>
                    <a:srgbClr val="FFC000"/>
                  </a:solidFill>
                  <a:sym typeface="+mn-ea"/>
                </a:rPr>
                <a:t>=0</a:t>
              </a:r>
              <a:r>
                <a:rPr lang="zh-CN" altLang="en-US" sz="1900" b="1">
                  <a:solidFill>
                    <a:srgbClr val="FFC000"/>
                  </a:solidFill>
                  <a:sym typeface="+mn-ea"/>
                </a:rPr>
                <a:t>：</a:t>
              </a:r>
              <a:r>
                <a:rPr lang="en-US" altLang="zh-CN" sz="1900" b="1" i="1">
                  <a:solidFill>
                    <a:srgbClr val="FFC000"/>
                  </a:solidFill>
                  <a:sym typeface="+mn-ea"/>
                </a:rPr>
                <a:t>Q</a:t>
              </a:r>
              <a:r>
                <a:rPr lang="zh-CN" altLang="en-US" sz="1900" b="1">
                  <a:solidFill>
                    <a:srgbClr val="FFC000"/>
                  </a:solidFill>
                  <a:sym typeface="+mn-ea"/>
                </a:rPr>
                <a:t>置</a:t>
              </a:r>
              <a:r>
                <a:rPr lang="en-US" altLang="zh-CN" sz="1900" b="1">
                  <a:solidFill>
                    <a:srgbClr val="FFC000"/>
                  </a:solidFill>
                  <a:sym typeface="+mn-ea"/>
                </a:rPr>
                <a:t>1</a:t>
              </a:r>
              <a:r>
                <a:rPr lang="zh-CN" altLang="en-US" sz="1900">
                  <a:sym typeface="+mn-ea"/>
                </a:rPr>
                <a:t>（</a:t>
              </a:r>
              <a:r>
                <a:rPr lang="en-US" altLang="zh-CN" sz="1900">
                  <a:sym typeface="+mn-ea"/>
                </a:rPr>
                <a:t>S</a:t>
              </a:r>
              <a:r>
                <a:rPr lang="zh-CN" altLang="en-US" sz="1900">
                  <a:sym typeface="+mn-ea"/>
                </a:rPr>
                <a:t>：</a:t>
              </a:r>
              <a:r>
                <a:rPr lang="en-US" altLang="zh-CN" sz="1900">
                  <a:sym typeface="+mn-ea"/>
                </a:rPr>
                <a:t>Set</a:t>
              </a:r>
              <a:r>
                <a:rPr lang="zh-CN" altLang="en-US" sz="1900">
                  <a:sym typeface="+mn-ea"/>
                </a:rPr>
                <a:t>，置</a:t>
              </a:r>
              <a:r>
                <a:rPr lang="en-US" altLang="zh-CN" sz="1900">
                  <a:sym typeface="+mn-ea"/>
                </a:rPr>
                <a:t>1</a:t>
              </a:r>
              <a:r>
                <a:rPr lang="zh-CN" altLang="en-US" sz="1900">
                  <a:sym typeface="+mn-ea"/>
                </a:rPr>
                <a:t>端）</a:t>
              </a:r>
              <a:endParaRPr lang="zh-CN" altLang="en-US" sz="1900" b="1">
                <a:sym typeface="+mn-ea"/>
              </a:endParaRPr>
            </a:p>
            <a:p>
              <a:r>
                <a:rPr lang="en-US" altLang="zh-CN" sz="1900" b="1" i="1">
                  <a:solidFill>
                    <a:srgbClr val="00B050"/>
                  </a:solidFill>
                  <a:sym typeface="+mn-ea"/>
                </a:rPr>
                <a:t>S</a:t>
              </a:r>
              <a:r>
                <a:rPr lang="en-US" altLang="zh-CN" sz="1900" b="1" baseline="-25000">
                  <a:solidFill>
                    <a:srgbClr val="00B050"/>
                  </a:solidFill>
                  <a:sym typeface="+mn-ea"/>
                </a:rPr>
                <a:t>D</a:t>
              </a:r>
              <a:r>
                <a:rPr lang="en-US" altLang="zh-CN" sz="1900" b="1">
                  <a:solidFill>
                    <a:srgbClr val="00B050"/>
                  </a:solidFill>
                  <a:sym typeface="+mn-ea"/>
                </a:rPr>
                <a:t>=0 </a:t>
              </a:r>
              <a:r>
                <a:rPr lang="en-US" altLang="zh-CN" sz="1900" b="1" i="1">
                  <a:solidFill>
                    <a:srgbClr val="00B050"/>
                  </a:solidFill>
                  <a:sym typeface="+mn-ea"/>
                </a:rPr>
                <a:t>R</a:t>
              </a:r>
              <a:r>
                <a:rPr lang="en-US" altLang="zh-CN" sz="1900" b="1" baseline="-25000">
                  <a:solidFill>
                    <a:srgbClr val="00B050"/>
                  </a:solidFill>
                  <a:sym typeface="+mn-ea"/>
                </a:rPr>
                <a:t>D</a:t>
              </a:r>
              <a:r>
                <a:rPr lang="en-US" altLang="zh-CN" sz="1900" b="1">
                  <a:solidFill>
                    <a:srgbClr val="00B050"/>
                  </a:solidFill>
                  <a:sym typeface="+mn-ea"/>
                </a:rPr>
                <a:t>=1</a:t>
              </a:r>
              <a:r>
                <a:rPr lang="zh-CN" altLang="en-US" sz="1900" b="1">
                  <a:solidFill>
                    <a:srgbClr val="00B050"/>
                  </a:solidFill>
                  <a:sym typeface="+mn-ea"/>
                </a:rPr>
                <a:t>：</a:t>
              </a:r>
              <a:r>
                <a:rPr lang="en-US" altLang="zh-CN" sz="1900" b="1" i="1">
                  <a:solidFill>
                    <a:srgbClr val="00B050"/>
                  </a:solidFill>
                  <a:sym typeface="+mn-ea"/>
                </a:rPr>
                <a:t>Q</a:t>
              </a:r>
              <a:r>
                <a:rPr lang="zh-CN" altLang="en-US" sz="1900" b="1">
                  <a:solidFill>
                    <a:srgbClr val="00B050"/>
                  </a:solidFill>
                  <a:sym typeface="+mn-ea"/>
                </a:rPr>
                <a:t>置</a:t>
              </a:r>
              <a:r>
                <a:rPr lang="en-US" altLang="zh-CN" sz="1900" b="1">
                  <a:solidFill>
                    <a:srgbClr val="00B050"/>
                  </a:solidFill>
                  <a:sym typeface="+mn-ea"/>
                </a:rPr>
                <a:t>0</a:t>
              </a:r>
              <a:r>
                <a:rPr lang="zh-CN" altLang="en-US" sz="1900">
                  <a:sym typeface="+mn-ea"/>
                </a:rPr>
                <a:t>（</a:t>
              </a:r>
              <a:r>
                <a:rPr lang="en-US" altLang="zh-CN" sz="1900">
                  <a:sym typeface="+mn-ea"/>
                </a:rPr>
                <a:t>R</a:t>
              </a:r>
              <a:r>
                <a:rPr lang="zh-CN" altLang="en-US" sz="1900">
                  <a:sym typeface="+mn-ea"/>
                </a:rPr>
                <a:t>：</a:t>
              </a:r>
              <a:r>
                <a:rPr lang="en-US" altLang="zh-CN" sz="1900">
                  <a:sym typeface="+mn-ea"/>
                </a:rPr>
                <a:t>Reset</a:t>
              </a:r>
              <a:r>
                <a:rPr lang="zh-CN" altLang="en-US" sz="1900">
                  <a:sym typeface="+mn-ea"/>
                </a:rPr>
                <a:t>，置</a:t>
              </a:r>
              <a:r>
                <a:rPr lang="en-US" altLang="zh-CN" sz="1900">
                  <a:sym typeface="+mn-ea"/>
                </a:rPr>
                <a:t>0</a:t>
              </a:r>
              <a:r>
                <a:rPr lang="zh-CN" altLang="en-US" sz="1900">
                  <a:sym typeface="+mn-ea"/>
                </a:rPr>
                <a:t>端）</a:t>
              </a:r>
              <a:endParaRPr lang="zh-CN" altLang="en-US" sz="1900" b="1">
                <a:sym typeface="+mn-ea"/>
              </a:endParaRPr>
            </a:p>
            <a:p>
              <a:r>
                <a:rPr lang="en-US" altLang="zh-CN" sz="1900" b="1" i="1">
                  <a:solidFill>
                    <a:srgbClr val="7030A0"/>
                  </a:solidFill>
                  <a:sym typeface="+mn-ea"/>
                </a:rPr>
                <a:t>S</a:t>
              </a:r>
              <a:r>
                <a:rPr lang="en-US" altLang="zh-CN" sz="1900" b="1" baseline="-25000">
                  <a:solidFill>
                    <a:srgbClr val="7030A0"/>
                  </a:solidFill>
                  <a:sym typeface="+mn-ea"/>
                </a:rPr>
                <a:t>D</a:t>
              </a:r>
              <a:r>
                <a:rPr lang="en-US" altLang="zh-CN" sz="1900" b="1">
                  <a:solidFill>
                    <a:srgbClr val="7030A0"/>
                  </a:solidFill>
                  <a:sym typeface="+mn-ea"/>
                </a:rPr>
                <a:t>=1 </a:t>
              </a:r>
              <a:r>
                <a:rPr lang="en-US" altLang="zh-CN" sz="1900" b="1" i="1">
                  <a:solidFill>
                    <a:srgbClr val="7030A0"/>
                  </a:solidFill>
                  <a:sym typeface="+mn-ea"/>
                </a:rPr>
                <a:t>R</a:t>
              </a:r>
              <a:r>
                <a:rPr lang="en-US" altLang="zh-CN" sz="1900" b="1" baseline="-25000">
                  <a:solidFill>
                    <a:srgbClr val="7030A0"/>
                  </a:solidFill>
                  <a:sym typeface="+mn-ea"/>
                </a:rPr>
                <a:t>D</a:t>
              </a:r>
              <a:r>
                <a:rPr lang="en-US" altLang="zh-CN" sz="1900" b="1">
                  <a:solidFill>
                    <a:srgbClr val="7030A0"/>
                  </a:solidFill>
                  <a:sym typeface="+mn-ea"/>
                </a:rPr>
                <a:t>=1</a:t>
              </a:r>
              <a:r>
                <a:rPr lang="zh-CN" altLang="en-US" sz="1900" b="1">
                  <a:solidFill>
                    <a:srgbClr val="7030A0"/>
                  </a:solidFill>
                  <a:sym typeface="+mn-ea"/>
                </a:rPr>
                <a:t>：</a:t>
              </a:r>
              <a:r>
                <a:rPr lang="en-US" altLang="zh-CN" sz="1900" b="1" i="1">
                  <a:solidFill>
                    <a:srgbClr val="7030A0"/>
                  </a:solidFill>
                  <a:sym typeface="+mn-ea"/>
                </a:rPr>
                <a:t>Q</a:t>
              </a:r>
              <a:r>
                <a:rPr lang="en-US" altLang="zh-CN" sz="1900" b="1">
                  <a:solidFill>
                    <a:srgbClr val="7030A0"/>
                  </a:solidFill>
                  <a:sym typeface="+mn-ea"/>
                </a:rPr>
                <a:t>=0</a:t>
              </a:r>
              <a:r>
                <a:rPr lang="zh-CN" altLang="en-US" sz="1900">
                  <a:sym typeface="+mn-ea"/>
                </a:rPr>
                <a:t>（当</a:t>
              </a:r>
              <a:r>
                <a:rPr lang="en-US" altLang="zh-CN" sz="1900">
                  <a:sym typeface="+mn-ea"/>
                </a:rPr>
                <a:t>11</a:t>
              </a:r>
              <a:r>
                <a:rPr lang="zh-CN" altLang="en-US" sz="1900">
                  <a:sym typeface="+mn-ea"/>
                </a:rPr>
                <a:t>到</a:t>
              </a:r>
              <a:r>
                <a:rPr lang="en-US" altLang="zh-CN" sz="1900">
                  <a:sym typeface="+mn-ea"/>
                </a:rPr>
                <a:t>00</a:t>
              </a:r>
              <a:r>
                <a:rPr lang="zh-CN" altLang="en-US" sz="1900">
                  <a:sym typeface="+mn-ea"/>
                </a:rPr>
                <a:t>时不定）</a:t>
              </a:r>
            </a:p>
          </p:txBody>
        </p:sp>
        <p:sp>
          <p:nvSpPr>
            <p:cNvPr id="12" name="文本框 11"/>
            <p:cNvSpPr txBox="1"/>
            <p:nvPr>
              <p:custDataLst>
                <p:tags r:id="rId12"/>
              </p:custDataLst>
            </p:nvPr>
          </p:nvSpPr>
          <p:spPr>
            <a:xfrm>
              <a:off x="3572" y="9595"/>
              <a:ext cx="1854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000" b="1" i="1">
                  <a:solidFill>
                    <a:srgbClr val="7030A0"/>
                  </a:solidFill>
                  <a:sym typeface="+mn-ea"/>
                </a:rPr>
                <a:t>Q=Q’</a:t>
              </a:r>
              <a:r>
                <a:rPr lang="en-US" altLang="zh-CN" sz="2000" b="1">
                  <a:solidFill>
                    <a:srgbClr val="7030A0"/>
                  </a:solidFill>
                  <a:sym typeface="+mn-ea"/>
                </a:rPr>
                <a:t>=0</a:t>
              </a:r>
            </a:p>
          </p:txBody>
        </p:sp>
      </p:grpSp>
      <p:grpSp>
        <p:nvGrpSpPr>
          <p:cNvPr id="16" name="组合 15"/>
          <p:cNvGrpSpPr/>
          <p:nvPr>
            <p:custDataLst>
              <p:tags r:id="rId2"/>
            </p:custDataLst>
          </p:nvPr>
        </p:nvGrpSpPr>
        <p:grpSpPr>
          <a:xfrm>
            <a:off x="4643755" y="4869180"/>
            <a:ext cx="4552315" cy="1622425"/>
            <a:chOff x="6974" y="7668"/>
            <a:chExt cx="7169" cy="2555"/>
          </a:xfrm>
        </p:grpSpPr>
        <p:sp>
          <p:nvSpPr>
            <p:cNvPr id="11" name="文本框 10"/>
            <p:cNvSpPr txBox="1"/>
            <p:nvPr>
              <p:custDataLst>
                <p:tags r:id="rId9"/>
              </p:custDataLst>
            </p:nvPr>
          </p:nvSpPr>
          <p:spPr>
            <a:xfrm>
              <a:off x="6974" y="7668"/>
              <a:ext cx="7169" cy="19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900" b="1" i="1">
                  <a:solidFill>
                    <a:schemeClr val="accent2">
                      <a:lumMod val="50000"/>
                    </a:schemeClr>
                  </a:solidFill>
                </a:rPr>
                <a:t>S’</a:t>
              </a:r>
              <a:r>
                <a:rPr lang="en-US" altLang="zh-CN" sz="1900" b="1" baseline="-25000">
                  <a:solidFill>
                    <a:schemeClr val="accent2">
                      <a:lumMod val="50000"/>
                    </a:schemeClr>
                  </a:solidFill>
                </a:rPr>
                <a:t>D</a:t>
              </a:r>
              <a:r>
                <a:rPr lang="en-US" altLang="zh-CN" sz="1900" b="1">
                  <a:solidFill>
                    <a:schemeClr val="accent2">
                      <a:lumMod val="50000"/>
                    </a:schemeClr>
                  </a:solidFill>
                </a:rPr>
                <a:t>=1 </a:t>
              </a:r>
              <a:r>
                <a:rPr lang="en-US" altLang="zh-CN" sz="1900" b="1" i="1">
                  <a:solidFill>
                    <a:schemeClr val="accent2">
                      <a:lumMod val="50000"/>
                    </a:schemeClr>
                  </a:solidFill>
                  <a:sym typeface="+mn-ea"/>
                </a:rPr>
                <a:t>R’</a:t>
              </a:r>
              <a:r>
                <a:rPr lang="en-US" altLang="zh-CN" sz="1900" b="1" baseline="-25000">
                  <a:solidFill>
                    <a:schemeClr val="accent2">
                      <a:lumMod val="50000"/>
                    </a:schemeClr>
                  </a:solidFill>
                  <a:sym typeface="+mn-ea"/>
                </a:rPr>
                <a:t>D</a:t>
              </a:r>
              <a:r>
                <a:rPr lang="en-US" altLang="zh-CN" sz="1900" b="1">
                  <a:solidFill>
                    <a:schemeClr val="accent2">
                      <a:lumMod val="50000"/>
                    </a:schemeClr>
                  </a:solidFill>
                  <a:sym typeface="+mn-ea"/>
                </a:rPr>
                <a:t>=1</a:t>
              </a:r>
              <a:r>
                <a:rPr lang="zh-CN" altLang="en-US" sz="1900" b="1">
                  <a:solidFill>
                    <a:schemeClr val="accent2">
                      <a:lumMod val="50000"/>
                    </a:schemeClr>
                  </a:solidFill>
                  <a:sym typeface="+mn-ea"/>
                </a:rPr>
                <a:t>：</a:t>
              </a:r>
              <a:r>
                <a:rPr lang="en-US" altLang="zh-CN" sz="1900" b="1" i="1">
                  <a:solidFill>
                    <a:schemeClr val="accent2">
                      <a:lumMod val="50000"/>
                    </a:schemeClr>
                  </a:solidFill>
                  <a:sym typeface="+mn-ea"/>
                </a:rPr>
                <a:t>Q</a:t>
              </a:r>
              <a:r>
                <a:rPr lang="zh-CN" altLang="en-US" sz="1900" b="1">
                  <a:solidFill>
                    <a:schemeClr val="accent2">
                      <a:lumMod val="50000"/>
                    </a:schemeClr>
                  </a:solidFill>
                  <a:sym typeface="+mn-ea"/>
                </a:rPr>
                <a:t>保持</a:t>
              </a:r>
            </a:p>
            <a:p>
              <a:r>
                <a:rPr lang="en-US" altLang="zh-CN" sz="1900" b="1" i="1">
                  <a:solidFill>
                    <a:srgbClr val="FFC000"/>
                  </a:solidFill>
                  <a:sym typeface="+mn-ea"/>
                </a:rPr>
                <a:t>S’</a:t>
              </a:r>
              <a:r>
                <a:rPr lang="en-US" altLang="zh-CN" sz="1900" b="1" baseline="-25000">
                  <a:solidFill>
                    <a:srgbClr val="FFC000"/>
                  </a:solidFill>
                  <a:sym typeface="+mn-ea"/>
                </a:rPr>
                <a:t>D</a:t>
              </a:r>
              <a:r>
                <a:rPr lang="en-US" altLang="zh-CN" sz="1900" b="1">
                  <a:solidFill>
                    <a:srgbClr val="FFC000"/>
                  </a:solidFill>
                  <a:sym typeface="+mn-ea"/>
                </a:rPr>
                <a:t>=0 </a:t>
              </a:r>
              <a:r>
                <a:rPr lang="en-US" altLang="zh-CN" sz="1900" b="1" i="1">
                  <a:solidFill>
                    <a:srgbClr val="FFC000"/>
                  </a:solidFill>
                  <a:sym typeface="+mn-ea"/>
                </a:rPr>
                <a:t>R’</a:t>
              </a:r>
              <a:r>
                <a:rPr lang="en-US" altLang="zh-CN" sz="1900" b="1" baseline="-25000">
                  <a:solidFill>
                    <a:srgbClr val="FFC000"/>
                  </a:solidFill>
                  <a:sym typeface="+mn-ea"/>
                </a:rPr>
                <a:t>D</a:t>
              </a:r>
              <a:r>
                <a:rPr lang="en-US" altLang="zh-CN" sz="1900" b="1">
                  <a:solidFill>
                    <a:srgbClr val="FFC000"/>
                  </a:solidFill>
                  <a:sym typeface="+mn-ea"/>
                </a:rPr>
                <a:t>=1</a:t>
              </a:r>
              <a:r>
                <a:rPr lang="zh-CN" altLang="en-US" sz="1900" b="1">
                  <a:solidFill>
                    <a:srgbClr val="FFC000"/>
                  </a:solidFill>
                  <a:sym typeface="+mn-ea"/>
                </a:rPr>
                <a:t>：</a:t>
              </a:r>
              <a:r>
                <a:rPr lang="en-US" altLang="zh-CN" sz="1900" b="1" i="1">
                  <a:solidFill>
                    <a:srgbClr val="FFC000"/>
                  </a:solidFill>
                  <a:sym typeface="+mn-ea"/>
                </a:rPr>
                <a:t>Q</a:t>
              </a:r>
              <a:r>
                <a:rPr lang="zh-CN" altLang="en-US" sz="1900" b="1">
                  <a:solidFill>
                    <a:srgbClr val="FFC000"/>
                  </a:solidFill>
                  <a:sym typeface="+mn-ea"/>
                </a:rPr>
                <a:t>置</a:t>
              </a:r>
              <a:r>
                <a:rPr lang="en-US" altLang="zh-CN" sz="1900" b="1">
                  <a:solidFill>
                    <a:srgbClr val="FFC000"/>
                  </a:solidFill>
                  <a:sym typeface="+mn-ea"/>
                </a:rPr>
                <a:t>1</a:t>
              </a:r>
              <a:r>
                <a:rPr lang="zh-CN" altLang="en-US" sz="1900">
                  <a:sym typeface="+mn-ea"/>
                </a:rPr>
                <a:t>（</a:t>
              </a:r>
              <a:r>
                <a:rPr lang="en-US" altLang="zh-CN" sz="1900">
                  <a:sym typeface="+mn-ea"/>
                </a:rPr>
                <a:t>S</a:t>
              </a:r>
              <a:r>
                <a:rPr lang="zh-CN" altLang="en-US" sz="1900">
                  <a:sym typeface="+mn-ea"/>
                </a:rPr>
                <a:t>：</a:t>
              </a:r>
              <a:r>
                <a:rPr lang="en-US" altLang="zh-CN" sz="1900">
                  <a:sym typeface="+mn-ea"/>
                </a:rPr>
                <a:t>Set</a:t>
              </a:r>
              <a:r>
                <a:rPr lang="zh-CN" altLang="en-US" sz="1900">
                  <a:sym typeface="+mn-ea"/>
                </a:rPr>
                <a:t>，置</a:t>
              </a:r>
              <a:r>
                <a:rPr lang="en-US" altLang="zh-CN" sz="1900">
                  <a:sym typeface="+mn-ea"/>
                </a:rPr>
                <a:t>1</a:t>
              </a:r>
              <a:r>
                <a:rPr lang="zh-CN" altLang="en-US" sz="1900">
                  <a:sym typeface="+mn-ea"/>
                </a:rPr>
                <a:t>端）</a:t>
              </a:r>
              <a:endParaRPr lang="zh-CN" altLang="en-US" sz="1900" b="1">
                <a:sym typeface="+mn-ea"/>
              </a:endParaRPr>
            </a:p>
            <a:p>
              <a:r>
                <a:rPr lang="en-US" altLang="zh-CN" sz="1900" b="1" i="1">
                  <a:solidFill>
                    <a:srgbClr val="00B050"/>
                  </a:solidFill>
                  <a:sym typeface="+mn-ea"/>
                </a:rPr>
                <a:t>S’</a:t>
              </a:r>
              <a:r>
                <a:rPr lang="en-US" altLang="zh-CN" sz="1900" b="1" baseline="-25000">
                  <a:solidFill>
                    <a:srgbClr val="00B050"/>
                  </a:solidFill>
                  <a:sym typeface="+mn-ea"/>
                </a:rPr>
                <a:t>D</a:t>
              </a:r>
              <a:r>
                <a:rPr lang="en-US" altLang="zh-CN" sz="1900" b="1">
                  <a:solidFill>
                    <a:srgbClr val="00B050"/>
                  </a:solidFill>
                  <a:sym typeface="+mn-ea"/>
                </a:rPr>
                <a:t>=1 </a:t>
              </a:r>
              <a:r>
                <a:rPr lang="en-US" altLang="zh-CN" sz="1900" b="1" i="1">
                  <a:solidFill>
                    <a:srgbClr val="00B050"/>
                  </a:solidFill>
                  <a:sym typeface="+mn-ea"/>
                </a:rPr>
                <a:t>R’</a:t>
              </a:r>
              <a:r>
                <a:rPr lang="en-US" altLang="zh-CN" sz="1900" b="1" baseline="-25000">
                  <a:solidFill>
                    <a:srgbClr val="00B050"/>
                  </a:solidFill>
                  <a:sym typeface="+mn-ea"/>
                </a:rPr>
                <a:t>D</a:t>
              </a:r>
              <a:r>
                <a:rPr lang="en-US" altLang="zh-CN" sz="1900" b="1">
                  <a:solidFill>
                    <a:srgbClr val="00B050"/>
                  </a:solidFill>
                  <a:sym typeface="+mn-ea"/>
                </a:rPr>
                <a:t>=0</a:t>
              </a:r>
              <a:r>
                <a:rPr lang="zh-CN" altLang="en-US" sz="1900" b="1">
                  <a:solidFill>
                    <a:srgbClr val="00B050"/>
                  </a:solidFill>
                  <a:sym typeface="+mn-ea"/>
                </a:rPr>
                <a:t>：</a:t>
              </a:r>
              <a:r>
                <a:rPr lang="en-US" altLang="zh-CN" sz="1900" b="1" i="1">
                  <a:solidFill>
                    <a:srgbClr val="00B050"/>
                  </a:solidFill>
                  <a:sym typeface="+mn-ea"/>
                </a:rPr>
                <a:t>Q</a:t>
              </a:r>
              <a:r>
                <a:rPr lang="zh-CN" altLang="en-US" sz="1900" b="1">
                  <a:solidFill>
                    <a:srgbClr val="00B050"/>
                  </a:solidFill>
                  <a:sym typeface="+mn-ea"/>
                </a:rPr>
                <a:t>置</a:t>
              </a:r>
              <a:r>
                <a:rPr lang="en-US" altLang="zh-CN" sz="1900" b="1">
                  <a:solidFill>
                    <a:srgbClr val="00B050"/>
                  </a:solidFill>
                  <a:sym typeface="+mn-ea"/>
                </a:rPr>
                <a:t>0</a:t>
              </a:r>
              <a:r>
                <a:rPr lang="zh-CN" altLang="en-US" sz="1900">
                  <a:sym typeface="+mn-ea"/>
                </a:rPr>
                <a:t>（</a:t>
              </a:r>
              <a:r>
                <a:rPr lang="en-US" altLang="zh-CN" sz="1900">
                  <a:sym typeface="+mn-ea"/>
                </a:rPr>
                <a:t>R</a:t>
              </a:r>
              <a:r>
                <a:rPr lang="zh-CN" altLang="en-US" sz="1900">
                  <a:sym typeface="+mn-ea"/>
                </a:rPr>
                <a:t>：</a:t>
              </a:r>
              <a:r>
                <a:rPr lang="en-US" altLang="zh-CN" sz="1900">
                  <a:sym typeface="+mn-ea"/>
                </a:rPr>
                <a:t>Reset</a:t>
              </a:r>
              <a:r>
                <a:rPr lang="zh-CN" altLang="en-US" sz="1900">
                  <a:sym typeface="+mn-ea"/>
                </a:rPr>
                <a:t>，置</a:t>
              </a:r>
              <a:r>
                <a:rPr lang="en-US" altLang="zh-CN" sz="1900">
                  <a:sym typeface="+mn-ea"/>
                </a:rPr>
                <a:t>0</a:t>
              </a:r>
              <a:r>
                <a:rPr lang="zh-CN" altLang="en-US" sz="1900">
                  <a:sym typeface="+mn-ea"/>
                </a:rPr>
                <a:t>端）</a:t>
              </a:r>
              <a:endParaRPr lang="zh-CN" altLang="en-US" sz="1900" b="1">
                <a:sym typeface="+mn-ea"/>
              </a:endParaRPr>
            </a:p>
            <a:p>
              <a:r>
                <a:rPr lang="en-US" altLang="zh-CN" sz="1900" b="1" i="1">
                  <a:solidFill>
                    <a:srgbClr val="7030A0"/>
                  </a:solidFill>
                  <a:sym typeface="+mn-ea"/>
                </a:rPr>
                <a:t>S’</a:t>
              </a:r>
              <a:r>
                <a:rPr lang="en-US" altLang="zh-CN" sz="1900" b="1" baseline="-25000">
                  <a:solidFill>
                    <a:srgbClr val="7030A0"/>
                  </a:solidFill>
                  <a:sym typeface="+mn-ea"/>
                </a:rPr>
                <a:t>D</a:t>
              </a:r>
              <a:r>
                <a:rPr lang="en-US" altLang="zh-CN" sz="1900" b="1">
                  <a:solidFill>
                    <a:srgbClr val="7030A0"/>
                  </a:solidFill>
                  <a:sym typeface="+mn-ea"/>
                </a:rPr>
                <a:t>=0 </a:t>
              </a:r>
              <a:r>
                <a:rPr lang="en-US" altLang="zh-CN" sz="1900" b="1" i="1">
                  <a:solidFill>
                    <a:srgbClr val="7030A0"/>
                  </a:solidFill>
                  <a:sym typeface="+mn-ea"/>
                </a:rPr>
                <a:t>R’</a:t>
              </a:r>
              <a:r>
                <a:rPr lang="en-US" altLang="zh-CN" sz="1900" b="1" baseline="-25000">
                  <a:solidFill>
                    <a:srgbClr val="7030A0"/>
                  </a:solidFill>
                  <a:sym typeface="+mn-ea"/>
                </a:rPr>
                <a:t>D</a:t>
              </a:r>
              <a:r>
                <a:rPr lang="en-US" altLang="zh-CN" sz="1900" b="1">
                  <a:solidFill>
                    <a:srgbClr val="7030A0"/>
                  </a:solidFill>
                  <a:sym typeface="+mn-ea"/>
                </a:rPr>
                <a:t>=0</a:t>
              </a:r>
              <a:r>
                <a:rPr lang="zh-CN" altLang="en-US" sz="1900" b="1">
                  <a:solidFill>
                    <a:srgbClr val="7030A0"/>
                  </a:solidFill>
                  <a:sym typeface="+mn-ea"/>
                </a:rPr>
                <a:t>：</a:t>
              </a:r>
              <a:r>
                <a:rPr lang="en-US" altLang="zh-CN" sz="1900" b="1" i="1">
                  <a:solidFill>
                    <a:srgbClr val="7030A0"/>
                  </a:solidFill>
                  <a:sym typeface="+mn-ea"/>
                </a:rPr>
                <a:t>Q</a:t>
              </a:r>
              <a:r>
                <a:rPr lang="en-US" altLang="zh-CN" sz="1900" b="1">
                  <a:solidFill>
                    <a:srgbClr val="7030A0"/>
                  </a:solidFill>
                  <a:sym typeface="+mn-ea"/>
                </a:rPr>
                <a:t>=1</a:t>
              </a:r>
              <a:r>
                <a:rPr lang="zh-CN" altLang="en-US" sz="1900">
                  <a:sym typeface="+mn-ea"/>
                </a:rPr>
                <a:t>（当</a:t>
              </a:r>
              <a:r>
                <a:rPr lang="en-US" altLang="zh-CN" sz="1900">
                  <a:sym typeface="+mn-ea"/>
                </a:rPr>
                <a:t>00</a:t>
              </a:r>
              <a:r>
                <a:rPr lang="zh-CN" altLang="en-US" sz="1900">
                  <a:sym typeface="+mn-ea"/>
                </a:rPr>
                <a:t>到</a:t>
              </a:r>
              <a:r>
                <a:rPr lang="en-US" altLang="zh-CN" sz="1900">
                  <a:sym typeface="+mn-ea"/>
                </a:rPr>
                <a:t>11</a:t>
              </a:r>
              <a:r>
                <a:rPr lang="zh-CN" altLang="en-US" sz="1900">
                  <a:sym typeface="+mn-ea"/>
                </a:rPr>
                <a:t>时不定）</a:t>
              </a:r>
            </a:p>
          </p:txBody>
        </p:sp>
        <p:sp>
          <p:nvSpPr>
            <p:cNvPr id="13" name="文本框 12"/>
            <p:cNvSpPr txBox="1"/>
            <p:nvPr>
              <p:custDataLst>
                <p:tags r:id="rId10"/>
              </p:custDataLst>
            </p:nvPr>
          </p:nvSpPr>
          <p:spPr>
            <a:xfrm>
              <a:off x="10829" y="9595"/>
              <a:ext cx="1854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000" b="1" i="1">
                  <a:solidFill>
                    <a:srgbClr val="7030A0"/>
                  </a:solidFill>
                  <a:sym typeface="+mn-ea"/>
                </a:rPr>
                <a:t>Q=Q’</a:t>
              </a:r>
              <a:r>
                <a:rPr lang="en-US" altLang="zh-CN" sz="2000" b="1">
                  <a:solidFill>
                    <a:srgbClr val="7030A0"/>
                  </a:solidFill>
                  <a:sym typeface="+mn-ea"/>
                </a:rPr>
                <a:t>=1</a:t>
              </a: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3419475" y="3068320"/>
            <a:ext cx="1769745" cy="6527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要遵守 </a:t>
            </a:r>
            <a:r>
              <a:rPr lang="en-US" altLang="zh-CN" sz="18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SR = 0 </a:t>
            </a:r>
            <a:r>
              <a:rPr lang="zh-CN" altLang="en-US" sz="18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的约束条件</a:t>
            </a:r>
          </a:p>
        </p:txBody>
      </p:sp>
      <p:grpSp>
        <p:nvGrpSpPr>
          <p:cNvPr id="27" name="组合 26"/>
          <p:cNvGrpSpPr/>
          <p:nvPr>
            <p:custDataLst>
              <p:tags r:id="rId3"/>
            </p:custDataLst>
          </p:nvPr>
        </p:nvGrpSpPr>
        <p:grpSpPr>
          <a:xfrm>
            <a:off x="323215" y="1285875"/>
            <a:ext cx="3256280" cy="3533140"/>
            <a:chOff x="509" y="1912"/>
            <a:chExt cx="5128" cy="5564"/>
          </a:xfrm>
        </p:grpSpPr>
        <p:pic>
          <p:nvPicPr>
            <p:cNvPr id="271441" name="Picture 81" descr="5T11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458"/>
            <a:stretch>
              <a:fillRect/>
            </a:stretch>
          </p:blipFill>
          <p:spPr bwMode="auto">
            <a:xfrm>
              <a:off x="623" y="4720"/>
              <a:ext cx="4285" cy="27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81" descr="5T11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881"/>
            <a:stretch>
              <a:fillRect/>
            </a:stretch>
          </p:blipFill>
          <p:spPr bwMode="auto">
            <a:xfrm>
              <a:off x="509" y="1912"/>
              <a:ext cx="5129" cy="27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文本框 17"/>
            <p:cNvSpPr txBox="1"/>
            <p:nvPr/>
          </p:nvSpPr>
          <p:spPr>
            <a:xfrm>
              <a:off x="624" y="2074"/>
              <a:ext cx="625" cy="5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24" y="3698"/>
              <a:ext cx="625" cy="5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417" y="5136"/>
              <a:ext cx="625" cy="5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303" y="6308"/>
              <a:ext cx="625" cy="5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 D</a:t>
              </a:r>
            </a:p>
          </p:txBody>
        </p:sp>
      </p:grpSp>
      <p:grpSp>
        <p:nvGrpSpPr>
          <p:cNvPr id="26" name="组合 25"/>
          <p:cNvGrpSpPr/>
          <p:nvPr>
            <p:custDataLst>
              <p:tags r:id="rId4"/>
            </p:custDataLst>
          </p:nvPr>
        </p:nvGrpSpPr>
        <p:grpSpPr>
          <a:xfrm>
            <a:off x="5076190" y="1292860"/>
            <a:ext cx="3078480" cy="3494405"/>
            <a:chOff x="7994" y="1923"/>
            <a:chExt cx="4848" cy="5503"/>
          </a:xfrm>
        </p:grpSpPr>
        <p:pic>
          <p:nvPicPr>
            <p:cNvPr id="367564" name="Picture 972" descr="5T13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9630"/>
            <a:stretch>
              <a:fillRect/>
            </a:stretch>
          </p:blipFill>
          <p:spPr bwMode="auto">
            <a:xfrm>
              <a:off x="7994" y="1923"/>
              <a:ext cx="4849" cy="2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972" descr="5T13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103"/>
            <a:stretch>
              <a:fillRect/>
            </a:stretch>
          </p:blipFill>
          <p:spPr bwMode="auto">
            <a:xfrm>
              <a:off x="8107" y="4734"/>
              <a:ext cx="4130" cy="2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文本框 21"/>
            <p:cNvSpPr txBox="1"/>
            <p:nvPr/>
          </p:nvSpPr>
          <p:spPr>
            <a:xfrm>
              <a:off x="8059" y="2075"/>
              <a:ext cx="625" cy="5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172" y="3699"/>
              <a:ext cx="625" cy="5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8739" y="5137"/>
              <a:ext cx="625" cy="5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625" y="6252"/>
              <a:ext cx="625" cy="5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 D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第五章：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SR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锁存器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031" name="Picture 95" descr="5T2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54" b="16178"/>
          <a:stretch>
            <a:fillRect/>
          </a:stretch>
        </p:blipFill>
        <p:spPr bwMode="auto">
          <a:xfrm>
            <a:off x="827405" y="2948305"/>
            <a:ext cx="2232025" cy="158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364480" y="3213100"/>
            <a:ext cx="2222500" cy="1175385"/>
          </a:xfrm>
          <a:prstGeom prst="rect">
            <a:avLst/>
          </a:prstGeom>
        </p:spPr>
      </p:pic>
      <p:pic>
        <p:nvPicPr>
          <p:cNvPr id="13313" name="Picture 90" descr="5-3-4a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2"/>
          <a:srcRect/>
          <a:stretch>
            <a:fillRect/>
          </a:stretch>
        </p:blipFill>
        <p:spPr bwMode="auto">
          <a:xfrm>
            <a:off x="4805680" y="1390015"/>
            <a:ext cx="3295650" cy="1718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本框 3"/>
          <p:cNvSpPr txBox="1"/>
          <p:nvPr/>
        </p:nvSpPr>
        <p:spPr>
          <a:xfrm>
            <a:off x="827405" y="958850"/>
            <a:ext cx="256794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电平触发</a:t>
            </a:r>
            <a:r>
              <a:rPr lang="en-US" altLang="zh-CN" sz="2000" b="1" i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SR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触发器</a:t>
            </a:r>
          </a:p>
        </p:txBody>
      </p:sp>
      <p:pic>
        <p:nvPicPr>
          <p:cNvPr id="6" name="Picture 95" descr="5T2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950" b="16178"/>
          <a:stretch>
            <a:fillRect/>
          </a:stretch>
        </p:blipFill>
        <p:spPr bwMode="auto">
          <a:xfrm>
            <a:off x="323850" y="1484630"/>
            <a:ext cx="3401695" cy="158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5292090" y="958850"/>
            <a:ext cx="256794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电平触发</a:t>
            </a:r>
            <a:r>
              <a:rPr lang="en-US" altLang="zh-CN" sz="2000" b="1" i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触发器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868670" y="5877560"/>
            <a:ext cx="13557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8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(</a:t>
            </a:r>
            <a:r>
              <a:rPr lang="en-US" altLang="zh-CN" sz="1800" i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D</a:t>
            </a:r>
            <a:r>
              <a:rPr lang="en-US" altLang="zh-CN" sz="18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=</a:t>
            </a:r>
            <a:r>
              <a:rPr lang="en-US" altLang="zh-CN" sz="1800" i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S</a:t>
            </a:r>
            <a:r>
              <a:rPr lang="en-US" altLang="zh-CN" sz="18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=</a:t>
            </a:r>
            <a:r>
              <a:rPr lang="en-US" altLang="zh-CN" sz="1800" i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R</a:t>
            </a:r>
            <a:r>
              <a:rPr lang="en-US" altLang="zh-CN" sz="18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’)</a:t>
            </a: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0" y="4532630"/>
            <a:ext cx="4552315" cy="968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00" b="1" i="1">
                <a:solidFill>
                  <a:schemeClr val="tx1"/>
                </a:solidFill>
              </a:rPr>
              <a:t>CLK=</a:t>
            </a:r>
            <a:r>
              <a:rPr lang="en-US" altLang="zh-CN" sz="1900" b="1">
                <a:solidFill>
                  <a:schemeClr val="tx1"/>
                </a:solidFill>
              </a:rPr>
              <a:t>0</a:t>
            </a:r>
            <a:r>
              <a:rPr lang="zh-CN" altLang="en-US" sz="1900" b="1">
                <a:solidFill>
                  <a:schemeClr val="tx1"/>
                </a:solidFill>
              </a:rPr>
              <a:t>期间：</a:t>
            </a:r>
            <a:r>
              <a:rPr lang="en-US" altLang="zh-CN" sz="1900" b="1" i="1">
                <a:solidFill>
                  <a:schemeClr val="tx1"/>
                </a:solidFill>
                <a:sym typeface="+mn-ea"/>
              </a:rPr>
              <a:t>Q</a:t>
            </a:r>
            <a:r>
              <a:rPr lang="zh-CN" altLang="en-US" sz="1900" b="1">
                <a:solidFill>
                  <a:schemeClr val="tx1"/>
                </a:solidFill>
                <a:sym typeface="+mn-ea"/>
              </a:rPr>
              <a:t>保持</a:t>
            </a:r>
            <a:endParaRPr lang="en-US" altLang="zh-CN" sz="1900" b="1" i="1">
              <a:solidFill>
                <a:schemeClr val="tx1"/>
              </a:solidFill>
            </a:endParaRPr>
          </a:p>
          <a:p>
            <a:r>
              <a:rPr lang="en-US" altLang="zh-CN" sz="1900" b="1" i="1">
                <a:solidFill>
                  <a:schemeClr val="tx1"/>
                </a:solidFill>
                <a:sym typeface="+mn-ea"/>
              </a:rPr>
              <a:t>CLK=</a:t>
            </a:r>
            <a:r>
              <a:rPr lang="en-US" altLang="zh-CN" sz="1900" b="1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1900" b="1">
                <a:solidFill>
                  <a:schemeClr val="tx1"/>
                </a:solidFill>
                <a:sym typeface="+mn-ea"/>
              </a:rPr>
              <a:t>期间：</a:t>
            </a:r>
            <a:r>
              <a:rPr lang="en-US" altLang="zh-CN" sz="1900" b="1" i="1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SR</a:t>
            </a:r>
            <a:r>
              <a:rPr lang="zh-CN" altLang="en-US" sz="1900" b="1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触发器</a:t>
            </a:r>
            <a:endParaRPr lang="en-US" altLang="zh-CN" sz="1900" b="1" i="1">
              <a:solidFill>
                <a:schemeClr val="tx1"/>
              </a:solidFill>
            </a:endParaRPr>
          </a:p>
          <a:p>
            <a:endParaRPr lang="en-US" altLang="zh-CN" sz="1900" b="1" i="1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323850" y="5157470"/>
            <a:ext cx="455231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00" b="1" i="1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altLang="zh-CN" sz="1900" b="1">
                <a:solidFill>
                  <a:schemeClr val="accent2">
                    <a:lumMod val="50000"/>
                  </a:schemeClr>
                </a:solidFill>
              </a:rPr>
              <a:t>=0 </a:t>
            </a:r>
            <a:r>
              <a:rPr lang="en-US" altLang="zh-CN" sz="1900" b="1" i="1">
                <a:solidFill>
                  <a:schemeClr val="accent2">
                    <a:lumMod val="50000"/>
                  </a:schemeClr>
                </a:solidFill>
                <a:sym typeface="+mn-ea"/>
              </a:rPr>
              <a:t>R</a:t>
            </a:r>
            <a:r>
              <a:rPr lang="en-US" altLang="zh-CN" sz="1900" b="1">
                <a:solidFill>
                  <a:schemeClr val="accent2">
                    <a:lumMod val="50000"/>
                  </a:schemeClr>
                </a:solidFill>
                <a:sym typeface="+mn-ea"/>
              </a:rPr>
              <a:t>=0</a:t>
            </a:r>
            <a:r>
              <a:rPr lang="zh-CN" altLang="en-US" sz="1900" b="1">
                <a:solidFill>
                  <a:schemeClr val="accent2">
                    <a:lumMod val="50000"/>
                  </a:schemeClr>
                </a:solidFill>
                <a:sym typeface="+mn-ea"/>
              </a:rPr>
              <a:t>：</a:t>
            </a:r>
            <a:r>
              <a:rPr lang="en-US" altLang="zh-CN" sz="1900" b="1" i="1">
                <a:solidFill>
                  <a:schemeClr val="accent2">
                    <a:lumMod val="50000"/>
                  </a:schemeClr>
                </a:solidFill>
                <a:sym typeface="+mn-ea"/>
              </a:rPr>
              <a:t>Q</a:t>
            </a:r>
            <a:r>
              <a:rPr lang="zh-CN" altLang="en-US" sz="1900" b="1">
                <a:solidFill>
                  <a:schemeClr val="accent2">
                    <a:lumMod val="50000"/>
                  </a:schemeClr>
                </a:solidFill>
                <a:sym typeface="+mn-ea"/>
              </a:rPr>
              <a:t>保持</a:t>
            </a:r>
          </a:p>
          <a:p>
            <a:r>
              <a:rPr lang="en-US" altLang="zh-CN" sz="1900" b="1" i="1">
                <a:solidFill>
                  <a:srgbClr val="FFC000"/>
                </a:solidFill>
                <a:sym typeface="+mn-ea"/>
              </a:rPr>
              <a:t>S</a:t>
            </a:r>
            <a:r>
              <a:rPr lang="en-US" altLang="zh-CN" sz="1900" b="1">
                <a:solidFill>
                  <a:srgbClr val="FFC000"/>
                </a:solidFill>
                <a:sym typeface="+mn-ea"/>
              </a:rPr>
              <a:t>=1 </a:t>
            </a:r>
            <a:r>
              <a:rPr lang="en-US" altLang="zh-CN" sz="1900" b="1" i="1">
                <a:solidFill>
                  <a:srgbClr val="FFC000"/>
                </a:solidFill>
                <a:sym typeface="+mn-ea"/>
              </a:rPr>
              <a:t>R</a:t>
            </a:r>
            <a:r>
              <a:rPr lang="en-US" altLang="zh-CN" sz="1900" b="1">
                <a:solidFill>
                  <a:srgbClr val="FFC000"/>
                </a:solidFill>
                <a:sym typeface="+mn-ea"/>
              </a:rPr>
              <a:t>=0</a:t>
            </a:r>
            <a:r>
              <a:rPr lang="zh-CN" altLang="en-US" sz="1900" b="1">
                <a:solidFill>
                  <a:srgbClr val="FFC000"/>
                </a:solidFill>
                <a:sym typeface="+mn-ea"/>
              </a:rPr>
              <a:t>：</a:t>
            </a:r>
            <a:r>
              <a:rPr lang="en-US" altLang="zh-CN" sz="1900" b="1" i="1">
                <a:solidFill>
                  <a:srgbClr val="FFC000"/>
                </a:solidFill>
                <a:sym typeface="+mn-ea"/>
              </a:rPr>
              <a:t>Q</a:t>
            </a:r>
            <a:r>
              <a:rPr lang="zh-CN" altLang="en-US" sz="1900" b="1">
                <a:solidFill>
                  <a:srgbClr val="FFC000"/>
                </a:solidFill>
                <a:sym typeface="+mn-ea"/>
              </a:rPr>
              <a:t>置</a:t>
            </a:r>
            <a:r>
              <a:rPr lang="en-US" altLang="zh-CN" sz="1900" b="1">
                <a:solidFill>
                  <a:srgbClr val="FFC000"/>
                </a:solidFill>
                <a:sym typeface="+mn-ea"/>
              </a:rPr>
              <a:t>1</a:t>
            </a:r>
            <a:r>
              <a:rPr lang="zh-CN" altLang="en-US" sz="1900">
                <a:sym typeface="+mn-ea"/>
              </a:rPr>
              <a:t>（</a:t>
            </a:r>
            <a:r>
              <a:rPr lang="en-US" altLang="zh-CN" sz="1900">
                <a:sym typeface="+mn-ea"/>
              </a:rPr>
              <a:t>S</a:t>
            </a:r>
            <a:r>
              <a:rPr lang="zh-CN" altLang="en-US" sz="1900">
                <a:sym typeface="+mn-ea"/>
              </a:rPr>
              <a:t>：</a:t>
            </a:r>
            <a:r>
              <a:rPr lang="en-US" altLang="zh-CN" sz="1900">
                <a:sym typeface="+mn-ea"/>
              </a:rPr>
              <a:t>Set</a:t>
            </a:r>
            <a:r>
              <a:rPr lang="zh-CN" altLang="en-US" sz="1900">
                <a:sym typeface="+mn-ea"/>
              </a:rPr>
              <a:t>，置</a:t>
            </a:r>
            <a:r>
              <a:rPr lang="en-US" altLang="zh-CN" sz="1900">
                <a:sym typeface="+mn-ea"/>
              </a:rPr>
              <a:t>1</a:t>
            </a:r>
            <a:r>
              <a:rPr lang="zh-CN" altLang="en-US" sz="1900">
                <a:sym typeface="+mn-ea"/>
              </a:rPr>
              <a:t>端）</a:t>
            </a:r>
            <a:endParaRPr lang="zh-CN" altLang="en-US" sz="1900" b="1">
              <a:sym typeface="+mn-ea"/>
            </a:endParaRPr>
          </a:p>
          <a:p>
            <a:r>
              <a:rPr lang="en-US" altLang="zh-CN" sz="1900" b="1" i="1">
                <a:solidFill>
                  <a:srgbClr val="00B050"/>
                </a:solidFill>
                <a:sym typeface="+mn-ea"/>
              </a:rPr>
              <a:t>S</a:t>
            </a:r>
            <a:r>
              <a:rPr lang="en-US" altLang="zh-CN" sz="1900" b="1">
                <a:solidFill>
                  <a:srgbClr val="00B050"/>
                </a:solidFill>
                <a:sym typeface="+mn-ea"/>
              </a:rPr>
              <a:t>=0 </a:t>
            </a:r>
            <a:r>
              <a:rPr lang="en-US" altLang="zh-CN" sz="1900" b="1" i="1">
                <a:solidFill>
                  <a:srgbClr val="00B050"/>
                </a:solidFill>
                <a:sym typeface="+mn-ea"/>
              </a:rPr>
              <a:t>R</a:t>
            </a:r>
            <a:r>
              <a:rPr lang="en-US" altLang="zh-CN" sz="1900" b="1">
                <a:solidFill>
                  <a:srgbClr val="00B050"/>
                </a:solidFill>
                <a:sym typeface="+mn-ea"/>
              </a:rPr>
              <a:t>=1</a:t>
            </a:r>
            <a:r>
              <a:rPr lang="zh-CN" altLang="en-US" sz="1900" b="1">
                <a:solidFill>
                  <a:srgbClr val="00B050"/>
                </a:solidFill>
                <a:sym typeface="+mn-ea"/>
              </a:rPr>
              <a:t>：</a:t>
            </a:r>
            <a:r>
              <a:rPr lang="en-US" altLang="zh-CN" sz="1900" b="1" i="1">
                <a:solidFill>
                  <a:srgbClr val="00B050"/>
                </a:solidFill>
                <a:sym typeface="+mn-ea"/>
              </a:rPr>
              <a:t>Q</a:t>
            </a:r>
            <a:r>
              <a:rPr lang="zh-CN" altLang="en-US" sz="1900" b="1">
                <a:solidFill>
                  <a:srgbClr val="00B050"/>
                </a:solidFill>
                <a:sym typeface="+mn-ea"/>
              </a:rPr>
              <a:t>置</a:t>
            </a:r>
            <a:r>
              <a:rPr lang="en-US" altLang="zh-CN" sz="1900" b="1">
                <a:solidFill>
                  <a:srgbClr val="00B050"/>
                </a:solidFill>
                <a:sym typeface="+mn-ea"/>
              </a:rPr>
              <a:t>0</a:t>
            </a:r>
            <a:r>
              <a:rPr lang="zh-CN" altLang="en-US" sz="1900">
                <a:sym typeface="+mn-ea"/>
              </a:rPr>
              <a:t>（</a:t>
            </a:r>
            <a:r>
              <a:rPr lang="en-US" altLang="zh-CN" sz="1900">
                <a:sym typeface="+mn-ea"/>
              </a:rPr>
              <a:t>R</a:t>
            </a:r>
            <a:r>
              <a:rPr lang="zh-CN" altLang="en-US" sz="1900">
                <a:sym typeface="+mn-ea"/>
              </a:rPr>
              <a:t>：</a:t>
            </a:r>
            <a:r>
              <a:rPr lang="en-US" altLang="zh-CN" sz="1900">
                <a:sym typeface="+mn-ea"/>
              </a:rPr>
              <a:t>Reset</a:t>
            </a:r>
            <a:r>
              <a:rPr lang="zh-CN" altLang="en-US" sz="1900">
                <a:sym typeface="+mn-ea"/>
              </a:rPr>
              <a:t>，置</a:t>
            </a:r>
            <a:r>
              <a:rPr lang="en-US" altLang="zh-CN" sz="1900">
                <a:sym typeface="+mn-ea"/>
              </a:rPr>
              <a:t>0</a:t>
            </a:r>
            <a:r>
              <a:rPr lang="zh-CN" altLang="en-US" sz="1900">
                <a:sym typeface="+mn-ea"/>
              </a:rPr>
              <a:t>端）</a:t>
            </a:r>
            <a:endParaRPr lang="zh-CN" altLang="en-US" sz="1900" b="1">
              <a:sym typeface="+mn-ea"/>
            </a:endParaRPr>
          </a:p>
          <a:p>
            <a:r>
              <a:rPr lang="en-US" altLang="zh-CN" sz="1900" b="1" i="1">
                <a:solidFill>
                  <a:srgbClr val="7030A0"/>
                </a:solidFill>
                <a:sym typeface="+mn-ea"/>
              </a:rPr>
              <a:t>S</a:t>
            </a:r>
            <a:r>
              <a:rPr lang="en-US" altLang="zh-CN" sz="1900" b="1">
                <a:solidFill>
                  <a:srgbClr val="7030A0"/>
                </a:solidFill>
                <a:sym typeface="+mn-ea"/>
              </a:rPr>
              <a:t>=1 </a:t>
            </a:r>
            <a:r>
              <a:rPr lang="en-US" altLang="zh-CN" sz="1900" b="1" i="1">
                <a:solidFill>
                  <a:srgbClr val="7030A0"/>
                </a:solidFill>
                <a:sym typeface="+mn-ea"/>
              </a:rPr>
              <a:t>R</a:t>
            </a:r>
            <a:r>
              <a:rPr lang="en-US" altLang="zh-CN" sz="1900" b="1">
                <a:solidFill>
                  <a:srgbClr val="7030A0"/>
                </a:solidFill>
                <a:sym typeface="+mn-ea"/>
              </a:rPr>
              <a:t>=1</a:t>
            </a:r>
            <a:r>
              <a:rPr lang="zh-CN" altLang="en-US" sz="1900" b="1">
                <a:solidFill>
                  <a:srgbClr val="7030A0"/>
                </a:solidFill>
                <a:sym typeface="+mn-ea"/>
              </a:rPr>
              <a:t>：</a:t>
            </a:r>
            <a:r>
              <a:rPr lang="en-US" altLang="zh-CN" sz="1900" b="1" i="1">
                <a:solidFill>
                  <a:srgbClr val="7030A0"/>
                </a:solidFill>
                <a:sym typeface="+mn-ea"/>
              </a:rPr>
              <a:t>Q</a:t>
            </a:r>
            <a:r>
              <a:rPr lang="en-US" altLang="zh-CN" sz="1900" b="1">
                <a:solidFill>
                  <a:srgbClr val="7030A0"/>
                </a:solidFill>
                <a:sym typeface="+mn-ea"/>
              </a:rPr>
              <a:t>=1</a:t>
            </a:r>
            <a:r>
              <a:rPr lang="zh-CN" altLang="en-US" sz="1900">
                <a:sym typeface="+mn-ea"/>
              </a:rPr>
              <a:t>（当</a:t>
            </a:r>
            <a:r>
              <a:rPr lang="en-US" altLang="zh-CN" sz="1900">
                <a:sym typeface="+mn-ea"/>
              </a:rPr>
              <a:t>11</a:t>
            </a:r>
            <a:r>
              <a:rPr lang="zh-CN" altLang="en-US" sz="1900">
                <a:sym typeface="+mn-ea"/>
              </a:rPr>
              <a:t>到</a:t>
            </a:r>
            <a:r>
              <a:rPr lang="en-US" altLang="zh-CN" sz="1900">
                <a:sym typeface="+mn-ea"/>
              </a:rPr>
              <a:t>00</a:t>
            </a:r>
            <a:r>
              <a:rPr lang="zh-CN" altLang="en-US" sz="1900">
                <a:sym typeface="+mn-ea"/>
              </a:rPr>
              <a:t>时不定）</a:t>
            </a: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5076190" y="4580890"/>
            <a:ext cx="3855085" cy="968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00" b="1" i="1">
                <a:solidFill>
                  <a:schemeClr val="tx1"/>
                </a:solidFill>
              </a:rPr>
              <a:t>CLK=</a:t>
            </a:r>
            <a:r>
              <a:rPr lang="en-US" altLang="zh-CN" sz="1900" b="1">
                <a:solidFill>
                  <a:schemeClr val="tx1"/>
                </a:solidFill>
              </a:rPr>
              <a:t>0</a:t>
            </a:r>
            <a:r>
              <a:rPr lang="zh-CN" altLang="en-US" sz="1900" b="1">
                <a:solidFill>
                  <a:schemeClr val="tx1"/>
                </a:solidFill>
              </a:rPr>
              <a:t>期间：</a:t>
            </a:r>
            <a:r>
              <a:rPr lang="en-US" altLang="zh-CN" sz="1900" b="1" i="1">
                <a:solidFill>
                  <a:schemeClr val="tx1"/>
                </a:solidFill>
                <a:sym typeface="+mn-ea"/>
              </a:rPr>
              <a:t>Q</a:t>
            </a:r>
            <a:r>
              <a:rPr lang="zh-CN" altLang="en-US" sz="1900" b="1">
                <a:solidFill>
                  <a:schemeClr val="tx1"/>
                </a:solidFill>
                <a:sym typeface="+mn-ea"/>
              </a:rPr>
              <a:t>保持</a:t>
            </a:r>
            <a:endParaRPr lang="en-US" altLang="zh-CN" sz="1900" b="1" i="1">
              <a:solidFill>
                <a:schemeClr val="tx1"/>
              </a:solidFill>
            </a:endParaRPr>
          </a:p>
          <a:p>
            <a:r>
              <a:rPr lang="en-US" altLang="zh-CN" sz="1900" b="1" i="1">
                <a:solidFill>
                  <a:schemeClr val="tx1"/>
                </a:solidFill>
                <a:sym typeface="+mn-ea"/>
              </a:rPr>
              <a:t>CLK=</a:t>
            </a:r>
            <a:r>
              <a:rPr lang="en-US" altLang="zh-CN" sz="1900" b="1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1900" b="1">
                <a:solidFill>
                  <a:schemeClr val="tx1"/>
                </a:solidFill>
                <a:sym typeface="+mn-ea"/>
              </a:rPr>
              <a:t>期间：</a:t>
            </a:r>
            <a:r>
              <a:rPr lang="en-US" altLang="zh-CN" sz="1900" b="1" i="1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1900" b="1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触发器</a:t>
            </a:r>
            <a:endParaRPr lang="en-US" altLang="zh-CN" sz="1900" b="1" i="1">
              <a:solidFill>
                <a:schemeClr val="tx1"/>
              </a:solidFill>
            </a:endParaRPr>
          </a:p>
          <a:p>
            <a:endParaRPr lang="en-US" altLang="zh-CN" sz="1900" b="1" i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5581015" y="5229225"/>
            <a:ext cx="228663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00" b="1" i="1">
                <a:solidFill>
                  <a:srgbClr val="FFC000"/>
                </a:solidFill>
                <a:sym typeface="+mn-ea"/>
              </a:rPr>
              <a:t>D</a:t>
            </a:r>
            <a:r>
              <a:rPr lang="en-US" altLang="zh-CN" sz="1900" b="1">
                <a:solidFill>
                  <a:srgbClr val="FFC000"/>
                </a:solidFill>
                <a:sym typeface="+mn-ea"/>
              </a:rPr>
              <a:t>=1</a:t>
            </a:r>
            <a:r>
              <a:rPr lang="zh-CN" altLang="en-US" sz="1900" b="1">
                <a:solidFill>
                  <a:srgbClr val="FFC000"/>
                </a:solidFill>
                <a:sym typeface="+mn-ea"/>
              </a:rPr>
              <a:t>：</a:t>
            </a:r>
            <a:r>
              <a:rPr lang="en-US" altLang="zh-CN" sz="1900" b="1" i="1">
                <a:solidFill>
                  <a:srgbClr val="FFC000"/>
                </a:solidFill>
                <a:sym typeface="+mn-ea"/>
              </a:rPr>
              <a:t>Q</a:t>
            </a:r>
            <a:r>
              <a:rPr lang="zh-CN" altLang="en-US" sz="1900" b="1">
                <a:solidFill>
                  <a:srgbClr val="FFC000"/>
                </a:solidFill>
                <a:sym typeface="+mn-ea"/>
              </a:rPr>
              <a:t>置</a:t>
            </a:r>
            <a:r>
              <a:rPr lang="en-US" altLang="zh-CN" sz="1900" b="1">
                <a:solidFill>
                  <a:srgbClr val="FFC000"/>
                </a:solidFill>
                <a:sym typeface="+mn-ea"/>
              </a:rPr>
              <a:t>1</a:t>
            </a:r>
            <a:endParaRPr lang="zh-CN" altLang="en-US" sz="1900" b="1">
              <a:sym typeface="+mn-ea"/>
            </a:endParaRPr>
          </a:p>
          <a:p>
            <a:r>
              <a:rPr lang="en-US" altLang="zh-CN" sz="1900" b="1" i="1">
                <a:solidFill>
                  <a:srgbClr val="00B050"/>
                </a:solidFill>
                <a:sym typeface="+mn-ea"/>
              </a:rPr>
              <a:t>D</a:t>
            </a:r>
            <a:r>
              <a:rPr lang="en-US" altLang="zh-CN" sz="1900" b="1">
                <a:solidFill>
                  <a:srgbClr val="00B050"/>
                </a:solidFill>
                <a:sym typeface="+mn-ea"/>
              </a:rPr>
              <a:t>=0</a:t>
            </a:r>
            <a:r>
              <a:rPr lang="zh-CN" altLang="en-US" sz="1900" b="1">
                <a:solidFill>
                  <a:srgbClr val="00B050"/>
                </a:solidFill>
                <a:sym typeface="+mn-ea"/>
              </a:rPr>
              <a:t>：</a:t>
            </a:r>
            <a:r>
              <a:rPr lang="en-US" altLang="zh-CN" sz="1900" b="1" i="1">
                <a:solidFill>
                  <a:srgbClr val="00B050"/>
                </a:solidFill>
                <a:sym typeface="+mn-ea"/>
              </a:rPr>
              <a:t>Q</a:t>
            </a:r>
            <a:r>
              <a:rPr lang="zh-CN" altLang="en-US" sz="1900" b="1">
                <a:solidFill>
                  <a:srgbClr val="00B050"/>
                </a:solidFill>
                <a:sym typeface="+mn-ea"/>
              </a:rPr>
              <a:t>置</a:t>
            </a:r>
            <a:r>
              <a:rPr lang="en-US" altLang="zh-CN" sz="1900" b="1">
                <a:solidFill>
                  <a:srgbClr val="00B050"/>
                </a:solidFill>
                <a:sym typeface="+mn-ea"/>
              </a:rPr>
              <a:t>0</a:t>
            </a:r>
            <a:endParaRPr lang="zh-CN" altLang="en-US" sz="1900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47495" y="6395720"/>
            <a:ext cx="580580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在</a:t>
            </a:r>
            <a:r>
              <a:rPr lang="en-US" altLang="zh-CN" sz="18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</a:rPr>
              <a:t>CLK</a:t>
            </a:r>
            <a:r>
              <a:rPr lang="en-US" altLang="zh-CN" sz="18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</a:rPr>
              <a:t>=1</a:t>
            </a:r>
            <a:r>
              <a:rPr lang="zh-CN" altLang="en-US" sz="1800" b="1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期间，</a:t>
            </a:r>
            <a:r>
              <a:rPr lang="en-US" altLang="zh-CN" sz="18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</a:rPr>
              <a:t>Q</a:t>
            </a:r>
            <a:r>
              <a:rPr lang="zh-CN" altLang="en-US" sz="1800" b="1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和</a:t>
            </a:r>
            <a:r>
              <a:rPr lang="en-US" altLang="zh-CN" sz="18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</a:rPr>
              <a:t>Q</a:t>
            </a:r>
            <a:r>
              <a:rPr lang="en-US" altLang="zh-CN" sz="1800" b="1" i="1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’</a:t>
            </a:r>
            <a:r>
              <a:rPr lang="zh-CN" altLang="en-US" sz="1800" b="1" i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可能随</a:t>
            </a:r>
            <a:r>
              <a:rPr lang="en-US" altLang="zh-CN" sz="1800" b="1" i="1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S</a:t>
            </a:r>
            <a:r>
              <a:rPr lang="zh-CN" altLang="en-US" sz="1800" b="1" i="1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1800" b="1" i="1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R</a:t>
            </a:r>
            <a:r>
              <a:rPr lang="zh-CN" altLang="en-US" sz="1800" b="1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或</a:t>
            </a:r>
            <a:r>
              <a:rPr lang="en-US" altLang="zh-CN" sz="1800" b="1" i="1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D</a:t>
            </a:r>
            <a:r>
              <a:rPr lang="zh-CN" altLang="en-US" sz="1800" b="1" i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变化多次翻转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第五章：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电平触发的触发器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524" name="Picture 4" descr="5-5-1a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58741" y="1124729"/>
            <a:ext cx="5184775" cy="2744788"/>
          </a:xfrm>
          <a:noFill/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368" y="1700333"/>
            <a:ext cx="2016225" cy="1209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10080" y="335724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主</a:t>
            </a:r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FF                        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从</a:t>
            </a:r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FF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68670" y="926465"/>
            <a:ext cx="256794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边沿触发</a:t>
            </a:r>
            <a:r>
              <a:rPr lang="en-US" altLang="zh-CN" sz="2000" b="1" i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触发器</a:t>
            </a:r>
          </a:p>
        </p:txBody>
      </p:sp>
      <p:graphicFrame>
        <p:nvGraphicFramePr>
          <p:cNvPr id="309351" name="Group 103"/>
          <p:cNvGraphicFramePr>
            <a:graphicFrameLocks noGrp="1"/>
          </p:cNvGraphicFramePr>
          <p:nvPr/>
        </p:nvGraphicFramePr>
        <p:xfrm>
          <a:off x="971550" y="4292918"/>
          <a:ext cx="1512888" cy="1727201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430780" y="5165725"/>
            <a:ext cx="716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</a:rPr>
              <a:t>置</a:t>
            </a:r>
            <a:r>
              <a:rPr lang="en-US" altLang="zh-CN" sz="1800" b="1">
                <a:solidFill>
                  <a:srgbClr val="FFC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430780" y="5571490"/>
            <a:ext cx="716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>
                <a:solidFill>
                  <a:srgbClr val="33CC33"/>
                </a:solidFill>
                <a:latin typeface="Times New Roman" panose="02020603050405020304" charset="0"/>
                <a:cs typeface="Times New Roman" panose="02020603050405020304" charset="0"/>
              </a:rPr>
              <a:t>置</a:t>
            </a:r>
            <a:r>
              <a:rPr lang="en-US" altLang="zh-CN" sz="1800" b="1">
                <a:solidFill>
                  <a:srgbClr val="33CC33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430780" y="4797425"/>
            <a:ext cx="716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保持</a:t>
            </a:r>
          </a:p>
        </p:txBody>
      </p:sp>
      <p:graphicFrame>
        <p:nvGraphicFramePr>
          <p:cNvPr id="6" name="Group 103"/>
          <p:cNvGraphicFramePr>
            <a:graphicFrameLocks noGrp="1"/>
          </p:cNvGraphicFramePr>
          <p:nvPr/>
        </p:nvGraphicFramePr>
        <p:xfrm>
          <a:off x="972185" y="4292283"/>
          <a:ext cx="1512888" cy="1727201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9300" name="Object 52"/>
          <p:cNvGraphicFramePr>
            <a:graphicFrameLocks noChangeAspect="1"/>
          </p:cNvGraphicFramePr>
          <p:nvPr/>
        </p:nvGraphicFramePr>
        <p:xfrm>
          <a:off x="2164398" y="4816158"/>
          <a:ext cx="2603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5100" imgH="203200" progId="Equation.3">
                  <p:embed/>
                </p:oleObj>
              </mc:Choice>
              <mc:Fallback>
                <p:oleObj name="公式" r:id="rId4" imgW="165100" imgH="20320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4398" y="4816158"/>
                        <a:ext cx="260350" cy="3206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3"/>
          <p:cNvGrpSpPr/>
          <p:nvPr/>
        </p:nvGrpSpPr>
        <p:grpSpPr bwMode="auto">
          <a:xfrm>
            <a:off x="972185" y="5228908"/>
            <a:ext cx="273050" cy="288925"/>
            <a:chOff x="485" y="2976"/>
            <a:chExt cx="263" cy="137"/>
          </a:xfrm>
        </p:grpSpPr>
        <p:sp>
          <p:nvSpPr>
            <p:cNvPr id="309302" name="Line 54"/>
            <p:cNvSpPr>
              <a:spLocks noChangeShapeType="1"/>
            </p:cNvSpPr>
            <p:nvPr/>
          </p:nvSpPr>
          <p:spPr bwMode="auto">
            <a:xfrm>
              <a:off x="485" y="3113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楷体_GB2312" charset="0"/>
              </a:endParaRPr>
            </a:p>
          </p:txBody>
        </p:sp>
        <p:sp>
          <p:nvSpPr>
            <p:cNvPr id="309303" name="Line 55"/>
            <p:cNvSpPr>
              <a:spLocks noChangeShapeType="1"/>
            </p:cNvSpPr>
            <p:nvPr/>
          </p:nvSpPr>
          <p:spPr bwMode="auto">
            <a:xfrm>
              <a:off x="612" y="2976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楷体_GB2312" charset="0"/>
              </a:endParaRPr>
            </a:p>
          </p:txBody>
        </p:sp>
        <p:sp>
          <p:nvSpPr>
            <p:cNvPr id="309304" name="Line 56"/>
            <p:cNvSpPr>
              <a:spLocks noChangeShapeType="1"/>
            </p:cNvSpPr>
            <p:nvPr/>
          </p:nvSpPr>
          <p:spPr bwMode="auto">
            <a:xfrm flipV="1">
              <a:off x="612" y="2976"/>
              <a:ext cx="0" cy="1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楷体_GB2312" charset="0"/>
              </a:endParaRPr>
            </a:p>
          </p:txBody>
        </p:sp>
      </p:grpSp>
      <p:grpSp>
        <p:nvGrpSpPr>
          <p:cNvPr id="11" name="Group 57"/>
          <p:cNvGrpSpPr/>
          <p:nvPr/>
        </p:nvGrpSpPr>
        <p:grpSpPr bwMode="auto">
          <a:xfrm>
            <a:off x="972185" y="5660708"/>
            <a:ext cx="273050" cy="288925"/>
            <a:chOff x="485" y="2976"/>
            <a:chExt cx="263" cy="137"/>
          </a:xfrm>
        </p:grpSpPr>
        <p:sp>
          <p:nvSpPr>
            <p:cNvPr id="309306" name="Line 58"/>
            <p:cNvSpPr>
              <a:spLocks noChangeShapeType="1"/>
            </p:cNvSpPr>
            <p:nvPr/>
          </p:nvSpPr>
          <p:spPr bwMode="auto">
            <a:xfrm>
              <a:off x="485" y="3113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楷体_GB2312" charset="0"/>
              </a:endParaRPr>
            </a:p>
          </p:txBody>
        </p:sp>
        <p:sp>
          <p:nvSpPr>
            <p:cNvPr id="309307" name="Line 59"/>
            <p:cNvSpPr>
              <a:spLocks noChangeShapeType="1"/>
            </p:cNvSpPr>
            <p:nvPr/>
          </p:nvSpPr>
          <p:spPr bwMode="auto">
            <a:xfrm>
              <a:off x="612" y="2976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楷体_GB2312" charset="0"/>
              </a:endParaRPr>
            </a:p>
          </p:txBody>
        </p:sp>
        <p:sp>
          <p:nvSpPr>
            <p:cNvPr id="309308" name="Line 60"/>
            <p:cNvSpPr>
              <a:spLocks noChangeShapeType="1"/>
            </p:cNvSpPr>
            <p:nvPr/>
          </p:nvSpPr>
          <p:spPr bwMode="auto">
            <a:xfrm flipV="1">
              <a:off x="612" y="2976"/>
              <a:ext cx="0" cy="1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楷体_GB2312" charset="0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692275" y="4004945"/>
            <a:ext cx="513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Q</a:t>
            </a:r>
            <a:r>
              <a:rPr lang="en-US" altLang="zh-CN" sz="1800" i="1" baseline="30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052320" y="3997325"/>
            <a:ext cx="696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Q</a:t>
            </a:r>
            <a:r>
              <a:rPr lang="en-US" altLang="zh-CN" sz="1800" i="1" baseline="30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en-US" altLang="zh-CN" sz="1800" baseline="30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+1</a:t>
            </a:r>
          </a:p>
        </p:txBody>
      </p:sp>
      <p:graphicFrame>
        <p:nvGraphicFramePr>
          <p:cNvPr id="309299" name="Object 51"/>
          <p:cNvGraphicFramePr>
            <a:graphicFrameLocks noChangeAspect="1"/>
          </p:cNvGraphicFramePr>
          <p:nvPr/>
        </p:nvGraphicFramePr>
        <p:xfrm>
          <a:off x="901383" y="4353560"/>
          <a:ext cx="150812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04265" imgH="215900" progId="Equation.3">
                  <p:embed/>
                </p:oleObj>
              </mc:Choice>
              <mc:Fallback>
                <p:oleObj name="公式" r:id="rId6" imgW="1104265" imgH="2159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383" y="4353560"/>
                        <a:ext cx="1508125" cy="2936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4140200" y="4123690"/>
            <a:ext cx="416941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动作特点：</a:t>
            </a:r>
          </a:p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（</a:t>
            </a:r>
            <a:r>
              <a:rPr lang="en-US" altLang="zh-CN" sz="2000" b="1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）</a:t>
            </a:r>
            <a:r>
              <a:rPr lang="en-US" altLang="zh-CN" sz="2000" b="1" i="1">
                <a:solidFill>
                  <a:schemeClr val="accent2">
                    <a:lumMod val="50000"/>
                  </a:schemeClr>
                </a:solidFill>
              </a:rPr>
              <a:t>Q</a:t>
            </a:r>
            <a:r>
              <a:rPr lang="en-US" altLang="zh-CN" sz="2000" b="1">
                <a:solidFill>
                  <a:schemeClr val="accent2">
                    <a:lumMod val="50000"/>
                  </a:schemeClr>
                </a:solidFill>
              </a:rPr>
              <a:t>*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变化</a:t>
            </a:r>
            <a:r>
              <a:rPr lang="zh-CN" altLang="en-US" sz="2000" b="1">
                <a:solidFill>
                  <a:srgbClr val="FF0000"/>
                </a:solidFill>
              </a:rPr>
              <a:t>只发生在</a:t>
            </a:r>
            <a:r>
              <a:rPr lang="en-US" altLang="zh-CN" sz="2000" b="1" i="1">
                <a:solidFill>
                  <a:schemeClr val="accent2">
                    <a:lumMod val="50000"/>
                  </a:schemeClr>
                </a:solidFill>
                <a:sym typeface="+mn-ea"/>
              </a:rPr>
              <a:t>CLK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的上升沿（或下降沿）</a:t>
            </a:r>
          </a:p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accent2">
                    <a:lumMod val="50000"/>
                  </a:schemeClr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sym typeface="+mn-ea"/>
              </a:rPr>
              <a:t>）</a:t>
            </a:r>
            <a:r>
              <a:rPr lang="en-US" altLang="zh-CN" sz="2000" b="1" i="1">
                <a:solidFill>
                  <a:schemeClr val="accent2">
                    <a:lumMod val="50000"/>
                  </a:schemeClr>
                </a:solidFill>
                <a:sym typeface="+mn-ea"/>
              </a:rPr>
              <a:t>Q</a:t>
            </a:r>
            <a:r>
              <a:rPr lang="en-US" altLang="zh-CN" sz="2000" b="1">
                <a:solidFill>
                  <a:schemeClr val="accent2">
                    <a:lumMod val="50000"/>
                  </a:schemeClr>
                </a:solidFill>
              </a:rPr>
              <a:t>*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仅取决于上升沿到达时</a:t>
            </a:r>
            <a:r>
              <a:rPr lang="en-US" altLang="zh-CN" sz="2000" b="1" i="1">
                <a:solidFill>
                  <a:schemeClr val="accent2">
                    <a:lumMod val="50000"/>
                  </a:schemeClr>
                </a:solidFill>
              </a:rPr>
              <a:t>D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输入的状态，而与此前后的状态无关。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068445" y="5733415"/>
            <a:ext cx="430530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i="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带异步功能的</a:t>
            </a:r>
            <a:r>
              <a:rPr lang="en-US" altLang="zh-CN" sz="1800" i="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: </a:t>
            </a:r>
            <a:r>
              <a:rPr lang="en-US" altLang="zh-CN" sz="180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S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’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D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和</a:t>
            </a:r>
            <a:r>
              <a:rPr lang="en-US" altLang="zh-CN" sz="180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R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’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D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将触发器置位或复位</a:t>
            </a:r>
            <a:r>
              <a:rPr lang="zh-CN" altLang="en-US" sz="18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不受</a:t>
            </a:r>
            <a:r>
              <a:rPr lang="en-US" altLang="zh-CN" sz="18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 </a:t>
            </a:r>
            <a:r>
              <a:rPr lang="en-US" altLang="zh-CN" sz="1800" i="1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CLK</a:t>
            </a:r>
            <a:r>
              <a:rPr lang="en-US" altLang="zh-CN" sz="18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 </a:t>
            </a:r>
            <a:r>
              <a:rPr lang="zh-CN" altLang="en-US" sz="18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信号控制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第五章：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边沿触发的触发器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475740" y="1268730"/>
            <a:ext cx="6146165" cy="2192655"/>
            <a:chOff x="0" y="2905"/>
            <a:chExt cx="13155" cy="4693"/>
          </a:xfrm>
        </p:grpSpPr>
        <p:pic>
          <p:nvPicPr>
            <p:cNvPr id="302227" name="Picture 147" descr="5-4-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2905"/>
              <a:ext cx="13155" cy="4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文本框 8"/>
            <p:cNvSpPr txBox="1"/>
            <p:nvPr/>
          </p:nvSpPr>
          <p:spPr>
            <a:xfrm>
              <a:off x="3912" y="3319"/>
              <a:ext cx="889" cy="65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t">
              <a:spAutoFit/>
            </a:bodyPr>
            <a:lstStyle/>
            <a:p>
              <a:r>
                <a:rPr lang="en-US" altLang="zh-CN" sz="1400" b="1" i="1" dirty="0">
                  <a:sym typeface="+mn-ea"/>
                </a:rPr>
                <a:t>Q</a:t>
              </a:r>
              <a:r>
                <a:rPr lang="en-US" altLang="zh-CN" sz="1400" b="1" baseline="-25000" dirty="0">
                  <a:sym typeface="+mn-ea"/>
                </a:rPr>
                <a:t>1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831" y="5400"/>
              <a:ext cx="968" cy="65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t">
              <a:spAutoFit/>
            </a:bodyPr>
            <a:lstStyle/>
            <a:p>
              <a:r>
                <a:rPr lang="en-US" altLang="zh-CN" sz="1400" b="1" i="1" dirty="0">
                  <a:solidFill>
                    <a:schemeClr val="tx1"/>
                  </a:solidFill>
                  <a:sym typeface="+mn-ea"/>
                </a:rPr>
                <a:t>Q’</a:t>
              </a:r>
              <a:r>
                <a:rPr lang="en-US" altLang="zh-CN" sz="1400" b="1" baseline="-25000" dirty="0">
                  <a:solidFill>
                    <a:schemeClr val="tx1"/>
                  </a:solidFill>
                  <a:sym typeface="+mn-ea"/>
                </a:rPr>
                <a:t>1</a:t>
              </a: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843530" y="981075"/>
            <a:ext cx="28498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脉冲触发</a:t>
            </a:r>
            <a:r>
              <a:rPr lang="en-US" altLang="zh-CN" sz="2000" b="1" i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SR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触发器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5605" y="3469005"/>
            <a:ext cx="811593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r>
              <a:rPr lang="en-US" altLang="zh-CN" sz="1800" b="1" i="1" dirty="0" err="1"/>
              <a:t>CLK</a:t>
            </a:r>
            <a:r>
              <a:rPr lang="en-US" altLang="zh-CN" sz="1800" b="1" dirty="0"/>
              <a:t>=0</a:t>
            </a:r>
            <a:r>
              <a:rPr lang="zh-CN" altLang="en-US" sz="1800" b="1" dirty="0"/>
              <a:t>时，</a:t>
            </a:r>
            <a:r>
              <a:rPr lang="zh-CN" altLang="en-US" sz="1800" b="1" dirty="0">
                <a:sym typeface="+mn-ea"/>
              </a:rPr>
              <a:t>主</a:t>
            </a:r>
            <a:r>
              <a:rPr lang="en-US" altLang="zh-CN" sz="1800" b="1" dirty="0">
                <a:sym typeface="+mn-ea"/>
              </a:rPr>
              <a:t>FF </a:t>
            </a:r>
            <a:r>
              <a:rPr lang="en-US" altLang="zh-CN" sz="1800" b="1" i="1" dirty="0">
                <a:sym typeface="+mn-ea"/>
              </a:rPr>
              <a:t>Q</a:t>
            </a:r>
            <a:r>
              <a:rPr lang="en-US" altLang="zh-CN" sz="1800" b="1" baseline="-25000" dirty="0">
                <a:sym typeface="+mn-ea"/>
              </a:rPr>
              <a:t>1</a:t>
            </a:r>
            <a:r>
              <a:rPr lang="zh-CN" altLang="en-US" sz="1800" b="1" dirty="0">
                <a:sym typeface="+mn-ea"/>
              </a:rPr>
              <a:t>和输出</a:t>
            </a:r>
            <a:r>
              <a:rPr lang="en-US" altLang="zh-CN" sz="1800" b="1" i="1" dirty="0"/>
              <a:t>Q</a:t>
            </a:r>
            <a:r>
              <a:rPr lang="zh-CN" altLang="en-US" sz="1800" b="1" dirty="0"/>
              <a:t>保持</a:t>
            </a:r>
          </a:p>
          <a:p>
            <a:r>
              <a:rPr lang="zh-CN" altLang="en-US" sz="1800" b="1" dirty="0">
                <a:sym typeface="+mn-ea"/>
              </a:rPr>
              <a:t>（</a:t>
            </a:r>
            <a:r>
              <a:rPr lang="en-US" altLang="zh-CN" sz="1800" b="1" dirty="0">
                <a:sym typeface="+mn-ea"/>
              </a:rPr>
              <a:t>2</a:t>
            </a:r>
            <a:r>
              <a:rPr lang="zh-CN" altLang="en-US" sz="1800" b="1" dirty="0">
                <a:sym typeface="+mn-ea"/>
              </a:rPr>
              <a:t>）</a:t>
            </a:r>
            <a:r>
              <a:rPr lang="en-US" altLang="zh-CN" sz="1800" b="1" i="1" dirty="0" err="1">
                <a:sym typeface="+mn-ea"/>
              </a:rPr>
              <a:t>CLK</a:t>
            </a:r>
            <a:r>
              <a:rPr lang="en-US" altLang="zh-CN" sz="1800" b="1" dirty="0">
                <a:sym typeface="+mn-ea"/>
              </a:rPr>
              <a:t>=1</a:t>
            </a:r>
            <a:r>
              <a:rPr lang="zh-CN" altLang="en-US" sz="1800" b="1" dirty="0">
                <a:sym typeface="+mn-ea"/>
              </a:rPr>
              <a:t>时，主</a:t>
            </a:r>
            <a:r>
              <a:rPr lang="en-US" altLang="zh-CN" sz="1800" b="1" dirty="0">
                <a:sym typeface="+mn-ea"/>
              </a:rPr>
              <a:t>FF </a:t>
            </a:r>
            <a:r>
              <a:rPr lang="en-US" altLang="zh-CN" sz="1800" b="1" i="1" dirty="0">
                <a:sym typeface="+mn-ea"/>
              </a:rPr>
              <a:t>Q</a:t>
            </a:r>
            <a:r>
              <a:rPr lang="en-US" altLang="zh-CN" sz="1800" b="1" baseline="-25000" dirty="0">
                <a:sym typeface="+mn-ea"/>
              </a:rPr>
              <a:t>1</a:t>
            </a:r>
            <a:r>
              <a:rPr lang="zh-CN" altLang="en-US" sz="1800" b="1" dirty="0">
                <a:sym typeface="+mn-ea"/>
              </a:rPr>
              <a:t>按</a:t>
            </a:r>
            <a:r>
              <a:rPr lang="en-US" altLang="zh-CN" sz="1800" b="1" i="1" dirty="0">
                <a:sym typeface="+mn-ea"/>
              </a:rPr>
              <a:t>S</a:t>
            </a:r>
            <a:r>
              <a:rPr lang="en-US" altLang="zh-CN" sz="1800" b="1" dirty="0">
                <a:sym typeface="+mn-ea"/>
              </a:rPr>
              <a:t>,</a:t>
            </a:r>
            <a:r>
              <a:rPr lang="en-US" altLang="zh-CN" sz="1800" b="1" i="1" dirty="0">
                <a:sym typeface="+mn-ea"/>
              </a:rPr>
              <a:t>R</a:t>
            </a:r>
            <a:r>
              <a:rPr lang="zh-CN" altLang="en-US" sz="1800" b="1" dirty="0">
                <a:sym typeface="+mn-ea"/>
              </a:rPr>
              <a:t>翻转，可多次，从</a:t>
            </a:r>
            <a:r>
              <a:rPr lang="en-US" altLang="zh-CN" sz="1800" b="1" dirty="0">
                <a:sym typeface="+mn-ea"/>
              </a:rPr>
              <a:t>FF </a:t>
            </a:r>
            <a:r>
              <a:rPr lang="en-US" altLang="zh-CN" sz="1800" b="1" i="1" dirty="0">
                <a:sym typeface="+mn-ea"/>
              </a:rPr>
              <a:t>Q</a:t>
            </a:r>
            <a:r>
              <a:rPr lang="en-US" altLang="zh-CN" sz="1800" b="1" dirty="0">
                <a:sym typeface="+mn-ea"/>
              </a:rPr>
              <a:t> </a:t>
            </a:r>
            <a:r>
              <a:rPr lang="zh-CN" altLang="en-US" sz="1800" b="1" dirty="0">
                <a:sym typeface="+mn-ea"/>
              </a:rPr>
              <a:t>保持</a:t>
            </a:r>
          </a:p>
          <a:p>
            <a:endParaRPr lang="zh-CN" altLang="en-US" sz="1800" b="1" dirty="0">
              <a:sym typeface="+mn-ea"/>
            </a:endParaRPr>
          </a:p>
          <a:p>
            <a:endParaRPr lang="zh-CN" altLang="en-US" sz="1800" b="1" dirty="0">
              <a:sym typeface="+mn-ea"/>
            </a:endParaRPr>
          </a:p>
          <a:p>
            <a:endParaRPr lang="zh-CN" altLang="en-US" sz="1800" b="1" dirty="0">
              <a:sym typeface="+mn-ea"/>
            </a:endParaRPr>
          </a:p>
          <a:p>
            <a:endParaRPr lang="zh-CN" altLang="en-US" sz="1800" b="1" dirty="0">
              <a:sym typeface="+mn-ea"/>
            </a:endParaRPr>
          </a:p>
          <a:p>
            <a:endParaRPr lang="zh-CN" altLang="en-US" sz="1800" b="1" dirty="0"/>
          </a:p>
          <a:p>
            <a:r>
              <a:rPr lang="zh-CN" altLang="en-US" sz="18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（</a:t>
            </a:r>
            <a:r>
              <a:rPr lang="en-US" altLang="zh-CN" sz="18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3</a:t>
            </a:r>
            <a:r>
              <a:rPr lang="zh-CN" altLang="en-US" sz="18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）</a:t>
            </a:r>
            <a:r>
              <a:rPr lang="en-US" altLang="zh-CN" sz="1800" b="1" dirty="0" err="1">
                <a:solidFill>
                  <a:schemeClr val="accent2">
                    <a:lumMod val="50000"/>
                  </a:schemeClr>
                </a:solidFill>
                <a:sym typeface="+mn-ea"/>
              </a:rPr>
              <a:t>CLK</a:t>
            </a:r>
            <a:r>
              <a:rPr lang="zh-CN" altLang="en-US" sz="18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下降沿到达时，</a:t>
            </a:r>
            <a:r>
              <a:rPr lang="zh-CN" altLang="en-US" sz="1800" b="1" dirty="0">
                <a:sym typeface="+mn-ea"/>
              </a:rPr>
              <a:t>主</a:t>
            </a:r>
            <a:r>
              <a:rPr lang="en-US" altLang="zh-CN" sz="1800" b="1" dirty="0">
                <a:sym typeface="+mn-ea"/>
              </a:rPr>
              <a:t>FF </a:t>
            </a:r>
            <a:r>
              <a:rPr lang="en-US" altLang="zh-CN" sz="1800" b="1" i="1" dirty="0">
                <a:sym typeface="+mn-ea"/>
              </a:rPr>
              <a:t>Q</a:t>
            </a:r>
            <a:r>
              <a:rPr lang="en-US" altLang="zh-CN" sz="1800" b="1" baseline="-25000" dirty="0">
                <a:sym typeface="+mn-ea"/>
              </a:rPr>
              <a:t>1</a:t>
            </a:r>
            <a:r>
              <a:rPr lang="zh-CN" altLang="en-US" sz="18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保持，</a:t>
            </a:r>
            <a:r>
              <a:rPr lang="zh-CN" altLang="en-US" sz="1800" b="1" dirty="0">
                <a:sym typeface="+mn-ea"/>
              </a:rPr>
              <a:t>从</a:t>
            </a:r>
            <a:r>
              <a:rPr lang="en-US" altLang="zh-CN" sz="1800" b="1" dirty="0">
                <a:sym typeface="+mn-ea"/>
              </a:rPr>
              <a:t>FF </a:t>
            </a:r>
            <a:r>
              <a:rPr lang="en-US" altLang="zh-CN" sz="1800" b="1" i="1" dirty="0">
                <a:sym typeface="+mn-ea"/>
              </a:rPr>
              <a:t>Q</a:t>
            </a:r>
            <a:r>
              <a:rPr lang="en-US" altLang="zh-CN" sz="1800" b="1" dirty="0">
                <a:sym typeface="+mn-ea"/>
              </a:rPr>
              <a:t> </a:t>
            </a:r>
            <a:r>
              <a:rPr lang="zh-CN" altLang="en-US" sz="18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根据最后时刻</a:t>
            </a:r>
            <a:r>
              <a:rPr lang="en-US" altLang="zh-CN" sz="1800" b="1" i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Q</a:t>
            </a:r>
            <a:r>
              <a:rPr lang="en-US" altLang="zh-CN" sz="1800" b="1" baseline="-25000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1</a:t>
            </a:r>
            <a:r>
              <a:rPr lang="zh-CN" altLang="en-US" sz="18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的状态变化</a:t>
            </a:r>
            <a:endParaRPr lang="zh-CN" altLang="en-US" sz="18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sz="1800" b="1" dirty="0">
                <a:sym typeface="+mn-ea"/>
              </a:rPr>
              <a:t>（</a:t>
            </a:r>
            <a:r>
              <a:rPr lang="en-US" altLang="zh-CN" sz="1800" b="1" dirty="0">
                <a:sym typeface="+mn-ea"/>
              </a:rPr>
              <a:t>4</a:t>
            </a:r>
            <a:r>
              <a:rPr lang="zh-CN" altLang="en-US" sz="1800" b="1" dirty="0">
                <a:sym typeface="+mn-ea"/>
              </a:rPr>
              <a:t>）所以每个</a:t>
            </a:r>
            <a:r>
              <a:rPr lang="en-US" altLang="zh-CN" sz="1800" b="1" dirty="0" err="1">
                <a:solidFill>
                  <a:schemeClr val="accent2">
                    <a:lumMod val="50000"/>
                  </a:schemeClr>
                </a:solidFill>
                <a:sym typeface="+mn-ea"/>
              </a:rPr>
              <a:t>CLK</a:t>
            </a:r>
            <a:r>
              <a:rPr lang="zh-CN" altLang="en-US" sz="1800" b="1" dirty="0">
                <a:sym typeface="+mn-ea"/>
              </a:rPr>
              <a:t>周期，输出</a:t>
            </a:r>
            <a:r>
              <a:rPr lang="en-US" altLang="zh-CN" sz="1800" b="1" i="1" dirty="0">
                <a:sym typeface="+mn-ea"/>
              </a:rPr>
              <a:t>Q</a:t>
            </a:r>
            <a:r>
              <a:rPr lang="zh-CN" altLang="en-US" sz="1800" b="1" dirty="0">
                <a:sym typeface="+mn-ea"/>
              </a:rPr>
              <a:t>状态只可能改变一次</a:t>
            </a:r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475740" y="4077335"/>
            <a:ext cx="455231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00" b="1" i="1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altLang="zh-CN" sz="1900" b="1">
                <a:solidFill>
                  <a:schemeClr val="accent2">
                    <a:lumMod val="50000"/>
                  </a:schemeClr>
                </a:solidFill>
              </a:rPr>
              <a:t>=0 </a:t>
            </a:r>
            <a:r>
              <a:rPr lang="en-US" altLang="zh-CN" sz="1900" b="1" i="1">
                <a:solidFill>
                  <a:schemeClr val="accent2">
                    <a:lumMod val="50000"/>
                  </a:schemeClr>
                </a:solidFill>
                <a:sym typeface="+mn-ea"/>
              </a:rPr>
              <a:t>R</a:t>
            </a:r>
            <a:r>
              <a:rPr lang="en-US" altLang="zh-CN" sz="1900" b="1">
                <a:solidFill>
                  <a:schemeClr val="accent2">
                    <a:lumMod val="50000"/>
                  </a:schemeClr>
                </a:solidFill>
                <a:sym typeface="+mn-ea"/>
              </a:rPr>
              <a:t>=0</a:t>
            </a:r>
            <a:r>
              <a:rPr lang="zh-CN" altLang="en-US" sz="1900" b="1">
                <a:solidFill>
                  <a:schemeClr val="accent2">
                    <a:lumMod val="50000"/>
                  </a:schemeClr>
                </a:solidFill>
                <a:sym typeface="+mn-ea"/>
              </a:rPr>
              <a:t>：</a:t>
            </a:r>
            <a:r>
              <a:rPr lang="en-US" altLang="zh-CN" sz="1900" b="1" i="1">
                <a:solidFill>
                  <a:schemeClr val="accent2">
                    <a:lumMod val="50000"/>
                  </a:schemeClr>
                </a:solidFill>
                <a:sym typeface="+mn-ea"/>
              </a:rPr>
              <a:t>Q</a:t>
            </a:r>
            <a:r>
              <a:rPr lang="en-US" altLang="zh-CN" sz="1900" b="1" baseline="-25000">
                <a:solidFill>
                  <a:schemeClr val="accent2">
                    <a:lumMod val="50000"/>
                  </a:schemeClr>
                </a:solidFill>
                <a:sym typeface="+mn-ea"/>
              </a:rPr>
              <a:t>1</a:t>
            </a:r>
            <a:r>
              <a:rPr lang="zh-CN" altLang="en-US" sz="1900" b="1">
                <a:solidFill>
                  <a:schemeClr val="accent2">
                    <a:lumMod val="50000"/>
                  </a:schemeClr>
                </a:solidFill>
                <a:sym typeface="+mn-ea"/>
              </a:rPr>
              <a:t>保持</a:t>
            </a:r>
          </a:p>
          <a:p>
            <a:r>
              <a:rPr lang="en-US" altLang="zh-CN" sz="1900" b="1" i="1">
                <a:solidFill>
                  <a:srgbClr val="FFC000"/>
                </a:solidFill>
                <a:sym typeface="+mn-ea"/>
              </a:rPr>
              <a:t>S</a:t>
            </a:r>
            <a:r>
              <a:rPr lang="en-US" altLang="zh-CN" sz="1900" b="1">
                <a:solidFill>
                  <a:srgbClr val="FFC000"/>
                </a:solidFill>
                <a:sym typeface="+mn-ea"/>
              </a:rPr>
              <a:t>=1 </a:t>
            </a:r>
            <a:r>
              <a:rPr lang="en-US" altLang="zh-CN" sz="1900" b="1" i="1">
                <a:solidFill>
                  <a:srgbClr val="FFC000"/>
                </a:solidFill>
                <a:sym typeface="+mn-ea"/>
              </a:rPr>
              <a:t>R</a:t>
            </a:r>
            <a:r>
              <a:rPr lang="en-US" altLang="zh-CN" sz="1900" b="1">
                <a:solidFill>
                  <a:srgbClr val="FFC000"/>
                </a:solidFill>
                <a:sym typeface="+mn-ea"/>
              </a:rPr>
              <a:t>=0</a:t>
            </a:r>
            <a:r>
              <a:rPr lang="zh-CN" altLang="en-US" sz="1900" b="1">
                <a:solidFill>
                  <a:srgbClr val="FFC000"/>
                </a:solidFill>
                <a:sym typeface="+mn-ea"/>
              </a:rPr>
              <a:t>：</a:t>
            </a:r>
            <a:r>
              <a:rPr lang="en-US" altLang="zh-CN" sz="1900" b="1" i="1">
                <a:solidFill>
                  <a:srgbClr val="FFC000"/>
                </a:solidFill>
                <a:sym typeface="+mn-ea"/>
              </a:rPr>
              <a:t>Q</a:t>
            </a:r>
            <a:r>
              <a:rPr lang="en-US" altLang="zh-CN" sz="1900" b="1" baseline="-25000">
                <a:solidFill>
                  <a:srgbClr val="FFC000"/>
                </a:solidFill>
                <a:sym typeface="+mn-ea"/>
              </a:rPr>
              <a:t>1</a:t>
            </a:r>
            <a:r>
              <a:rPr lang="zh-CN" altLang="en-US" sz="1900" b="1">
                <a:solidFill>
                  <a:srgbClr val="FFC000"/>
                </a:solidFill>
                <a:sym typeface="+mn-ea"/>
              </a:rPr>
              <a:t>置</a:t>
            </a:r>
            <a:r>
              <a:rPr lang="en-US" altLang="zh-CN" sz="1900" b="1">
                <a:solidFill>
                  <a:srgbClr val="FFC000"/>
                </a:solidFill>
                <a:sym typeface="+mn-ea"/>
              </a:rPr>
              <a:t>1</a:t>
            </a:r>
            <a:r>
              <a:rPr lang="zh-CN" altLang="en-US" sz="1900">
                <a:sym typeface="+mn-ea"/>
              </a:rPr>
              <a:t>（</a:t>
            </a:r>
            <a:r>
              <a:rPr lang="en-US" altLang="zh-CN" sz="1900">
                <a:sym typeface="+mn-ea"/>
              </a:rPr>
              <a:t>S</a:t>
            </a:r>
            <a:r>
              <a:rPr lang="zh-CN" altLang="en-US" sz="1900">
                <a:sym typeface="+mn-ea"/>
              </a:rPr>
              <a:t>：</a:t>
            </a:r>
            <a:r>
              <a:rPr lang="en-US" altLang="zh-CN" sz="1900">
                <a:sym typeface="+mn-ea"/>
              </a:rPr>
              <a:t>Set</a:t>
            </a:r>
            <a:r>
              <a:rPr lang="zh-CN" altLang="en-US" sz="1900">
                <a:sym typeface="+mn-ea"/>
              </a:rPr>
              <a:t>，置</a:t>
            </a:r>
            <a:r>
              <a:rPr lang="en-US" altLang="zh-CN" sz="1900">
                <a:sym typeface="+mn-ea"/>
              </a:rPr>
              <a:t>1</a:t>
            </a:r>
            <a:r>
              <a:rPr lang="zh-CN" altLang="en-US" sz="1900">
                <a:sym typeface="+mn-ea"/>
              </a:rPr>
              <a:t>端）</a:t>
            </a:r>
            <a:endParaRPr lang="zh-CN" altLang="en-US" sz="1900" b="1">
              <a:sym typeface="+mn-ea"/>
            </a:endParaRPr>
          </a:p>
          <a:p>
            <a:r>
              <a:rPr lang="en-US" altLang="zh-CN" sz="1900" b="1" i="1">
                <a:solidFill>
                  <a:srgbClr val="00B050"/>
                </a:solidFill>
                <a:sym typeface="+mn-ea"/>
              </a:rPr>
              <a:t>S</a:t>
            </a:r>
            <a:r>
              <a:rPr lang="en-US" altLang="zh-CN" sz="1900" b="1">
                <a:solidFill>
                  <a:srgbClr val="00B050"/>
                </a:solidFill>
                <a:sym typeface="+mn-ea"/>
              </a:rPr>
              <a:t>=0 </a:t>
            </a:r>
            <a:r>
              <a:rPr lang="en-US" altLang="zh-CN" sz="1900" b="1" i="1">
                <a:solidFill>
                  <a:srgbClr val="00B050"/>
                </a:solidFill>
                <a:sym typeface="+mn-ea"/>
              </a:rPr>
              <a:t>R</a:t>
            </a:r>
            <a:r>
              <a:rPr lang="en-US" altLang="zh-CN" sz="1900" b="1">
                <a:solidFill>
                  <a:srgbClr val="00B050"/>
                </a:solidFill>
                <a:sym typeface="+mn-ea"/>
              </a:rPr>
              <a:t>=1</a:t>
            </a:r>
            <a:r>
              <a:rPr lang="zh-CN" altLang="en-US" sz="1900" b="1">
                <a:solidFill>
                  <a:srgbClr val="00B050"/>
                </a:solidFill>
                <a:sym typeface="+mn-ea"/>
              </a:rPr>
              <a:t>：</a:t>
            </a:r>
            <a:r>
              <a:rPr lang="en-US" altLang="zh-CN" sz="1900" b="1" i="1">
                <a:solidFill>
                  <a:srgbClr val="00B050"/>
                </a:solidFill>
                <a:sym typeface="+mn-ea"/>
              </a:rPr>
              <a:t>Q</a:t>
            </a:r>
            <a:r>
              <a:rPr lang="en-US" altLang="zh-CN" sz="1900" b="1" baseline="-25000">
                <a:solidFill>
                  <a:srgbClr val="00B050"/>
                </a:solidFill>
                <a:sym typeface="+mn-ea"/>
              </a:rPr>
              <a:t>1</a:t>
            </a:r>
            <a:r>
              <a:rPr lang="zh-CN" altLang="en-US" sz="1900" b="1">
                <a:solidFill>
                  <a:srgbClr val="00B050"/>
                </a:solidFill>
                <a:sym typeface="+mn-ea"/>
              </a:rPr>
              <a:t>置</a:t>
            </a:r>
            <a:r>
              <a:rPr lang="en-US" altLang="zh-CN" sz="1900" b="1">
                <a:solidFill>
                  <a:srgbClr val="00B050"/>
                </a:solidFill>
                <a:sym typeface="+mn-ea"/>
              </a:rPr>
              <a:t>0</a:t>
            </a:r>
            <a:r>
              <a:rPr lang="zh-CN" altLang="en-US" sz="1900">
                <a:sym typeface="+mn-ea"/>
              </a:rPr>
              <a:t>（</a:t>
            </a:r>
            <a:r>
              <a:rPr lang="en-US" altLang="zh-CN" sz="1900">
                <a:sym typeface="+mn-ea"/>
              </a:rPr>
              <a:t>R</a:t>
            </a:r>
            <a:r>
              <a:rPr lang="zh-CN" altLang="en-US" sz="1900">
                <a:sym typeface="+mn-ea"/>
              </a:rPr>
              <a:t>：</a:t>
            </a:r>
            <a:r>
              <a:rPr lang="en-US" altLang="zh-CN" sz="1900">
                <a:sym typeface="+mn-ea"/>
              </a:rPr>
              <a:t>Reset</a:t>
            </a:r>
            <a:r>
              <a:rPr lang="zh-CN" altLang="en-US" sz="1900">
                <a:sym typeface="+mn-ea"/>
              </a:rPr>
              <a:t>，置</a:t>
            </a:r>
            <a:r>
              <a:rPr lang="en-US" altLang="zh-CN" sz="1900">
                <a:sym typeface="+mn-ea"/>
              </a:rPr>
              <a:t>0</a:t>
            </a:r>
            <a:r>
              <a:rPr lang="zh-CN" altLang="en-US" sz="1900">
                <a:sym typeface="+mn-ea"/>
              </a:rPr>
              <a:t>端）</a:t>
            </a:r>
            <a:endParaRPr lang="zh-CN" altLang="en-US" sz="1900" b="1">
              <a:sym typeface="+mn-ea"/>
            </a:endParaRPr>
          </a:p>
          <a:p>
            <a:r>
              <a:rPr lang="en-US" altLang="zh-CN" sz="1900" b="1" i="1">
                <a:solidFill>
                  <a:srgbClr val="7030A0"/>
                </a:solidFill>
                <a:sym typeface="+mn-ea"/>
              </a:rPr>
              <a:t>S</a:t>
            </a:r>
            <a:r>
              <a:rPr lang="en-US" altLang="zh-CN" sz="1900" b="1">
                <a:solidFill>
                  <a:srgbClr val="7030A0"/>
                </a:solidFill>
                <a:sym typeface="+mn-ea"/>
              </a:rPr>
              <a:t>=1 </a:t>
            </a:r>
            <a:r>
              <a:rPr lang="en-US" altLang="zh-CN" sz="1900" b="1" i="1">
                <a:solidFill>
                  <a:srgbClr val="7030A0"/>
                </a:solidFill>
                <a:sym typeface="+mn-ea"/>
              </a:rPr>
              <a:t>R</a:t>
            </a:r>
            <a:r>
              <a:rPr lang="en-US" altLang="zh-CN" sz="1900" b="1">
                <a:solidFill>
                  <a:srgbClr val="7030A0"/>
                </a:solidFill>
                <a:sym typeface="+mn-ea"/>
              </a:rPr>
              <a:t>=1</a:t>
            </a:r>
            <a:r>
              <a:rPr lang="zh-CN" altLang="en-US" sz="1900" b="1">
                <a:solidFill>
                  <a:srgbClr val="7030A0"/>
                </a:solidFill>
                <a:sym typeface="+mn-ea"/>
              </a:rPr>
              <a:t>：</a:t>
            </a:r>
            <a:r>
              <a:rPr lang="en-US" altLang="zh-CN" sz="1900" b="1" i="1">
                <a:solidFill>
                  <a:srgbClr val="7030A0"/>
                </a:solidFill>
                <a:sym typeface="+mn-ea"/>
              </a:rPr>
              <a:t>Q</a:t>
            </a:r>
            <a:r>
              <a:rPr lang="en-US" altLang="zh-CN" sz="1900" b="1" baseline="-25000">
                <a:solidFill>
                  <a:srgbClr val="7030A0"/>
                </a:solidFill>
                <a:sym typeface="+mn-ea"/>
              </a:rPr>
              <a:t>1</a:t>
            </a:r>
            <a:r>
              <a:rPr lang="en-US" altLang="zh-CN" sz="1900" b="1">
                <a:solidFill>
                  <a:srgbClr val="7030A0"/>
                </a:solidFill>
                <a:sym typeface="+mn-ea"/>
              </a:rPr>
              <a:t>=1</a:t>
            </a:r>
            <a:r>
              <a:rPr lang="zh-CN" altLang="en-US" sz="1900">
                <a:sym typeface="+mn-ea"/>
              </a:rPr>
              <a:t>（当</a:t>
            </a:r>
            <a:r>
              <a:rPr lang="en-US" altLang="zh-CN" sz="1900">
                <a:sym typeface="+mn-ea"/>
              </a:rPr>
              <a:t>11</a:t>
            </a:r>
            <a:r>
              <a:rPr lang="zh-CN" altLang="en-US" sz="1900">
                <a:sym typeface="+mn-ea"/>
              </a:rPr>
              <a:t>到</a:t>
            </a:r>
            <a:r>
              <a:rPr lang="en-US" altLang="zh-CN" sz="1900">
                <a:sym typeface="+mn-ea"/>
              </a:rPr>
              <a:t>00</a:t>
            </a:r>
            <a:r>
              <a:rPr lang="zh-CN" altLang="en-US" sz="1900">
                <a:sym typeface="+mn-ea"/>
              </a:rPr>
              <a:t>时不定）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55650" y="6059170"/>
            <a:ext cx="673608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i="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带异步功能的</a:t>
            </a:r>
            <a:r>
              <a:rPr lang="en-US" altLang="zh-CN" sz="1800" i="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: </a:t>
            </a:r>
            <a:r>
              <a:rPr lang="en-US" altLang="zh-CN" sz="180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S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’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D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和</a:t>
            </a:r>
            <a:r>
              <a:rPr lang="en-US" altLang="zh-CN" sz="180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R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’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D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将触发器置位或复位</a:t>
            </a:r>
            <a:r>
              <a:rPr lang="zh-CN" altLang="en-US" sz="1800">
                <a:latin typeface="Times New Roman" panose="02020603050405020304"/>
                <a:ea typeface="等线" panose="02010600030101010101" charset="-122"/>
                <a:sym typeface="+mn-ea"/>
              </a:rPr>
              <a:t>不受</a:t>
            </a:r>
            <a:r>
              <a:rPr lang="en-US" altLang="zh-CN" sz="1800">
                <a:latin typeface="Times New Roman" panose="02020603050405020304"/>
                <a:ea typeface="等线" panose="02010600030101010101" charset="-122"/>
                <a:sym typeface="+mn-ea"/>
              </a:rPr>
              <a:t> </a:t>
            </a:r>
            <a:r>
              <a:rPr lang="en-US" altLang="zh-CN" sz="1800" i="1">
                <a:latin typeface="Times New Roman" panose="02020603050405020304"/>
                <a:ea typeface="等线" panose="02010600030101010101" charset="-122"/>
                <a:sym typeface="+mn-ea"/>
              </a:rPr>
              <a:t>CLK</a:t>
            </a:r>
            <a:r>
              <a:rPr lang="en-US" altLang="zh-CN" sz="1800">
                <a:latin typeface="Times New Roman" panose="02020603050405020304"/>
                <a:ea typeface="等线" panose="02010600030101010101" charset="-122"/>
                <a:sym typeface="+mn-ea"/>
              </a:rPr>
              <a:t> </a:t>
            </a:r>
            <a:r>
              <a:rPr lang="zh-CN" altLang="en-US" sz="1800">
                <a:latin typeface="Times New Roman" panose="02020603050405020304"/>
                <a:ea typeface="等线" panose="02010600030101010101" charset="-122"/>
                <a:sym typeface="+mn-ea"/>
              </a:rPr>
              <a:t>信号控制</a:t>
            </a:r>
            <a:endParaRPr lang="zh-CN" altLang="en-US" sz="1800" i="0">
              <a:solidFill>
                <a:schemeClr val="tx1"/>
              </a:solidFill>
              <a:latin typeface="Times New Roman" panose="02020603050405020304"/>
              <a:ea typeface="等线" panose="02010600030101010101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第五章：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脉冲触发的触发器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00020" y="908685"/>
            <a:ext cx="28498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脉冲触发</a:t>
            </a:r>
            <a:r>
              <a:rPr lang="en-US" altLang="zh-CN" sz="2000" b="1" i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JK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触发器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539750" y="3500755"/>
            <a:ext cx="811593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r>
              <a:rPr lang="en-US" altLang="zh-CN" sz="1800" b="1" i="1" dirty="0" err="1"/>
              <a:t>CLK</a:t>
            </a:r>
            <a:r>
              <a:rPr lang="en-US" altLang="zh-CN" sz="1800" b="1" dirty="0"/>
              <a:t>=0</a:t>
            </a:r>
            <a:r>
              <a:rPr lang="zh-CN" altLang="en-US" sz="1800" b="1" dirty="0"/>
              <a:t>时，</a:t>
            </a:r>
            <a:r>
              <a:rPr lang="zh-CN" altLang="en-US" sz="1800" b="1" dirty="0">
                <a:sym typeface="+mn-ea"/>
              </a:rPr>
              <a:t>主</a:t>
            </a:r>
            <a:r>
              <a:rPr lang="en-US" altLang="zh-CN" sz="1800" b="1" dirty="0">
                <a:sym typeface="+mn-ea"/>
              </a:rPr>
              <a:t>FF </a:t>
            </a:r>
            <a:r>
              <a:rPr lang="en-US" altLang="zh-CN" sz="1800" b="1" i="1" dirty="0">
                <a:sym typeface="+mn-ea"/>
              </a:rPr>
              <a:t>Q</a:t>
            </a:r>
            <a:r>
              <a:rPr lang="en-US" altLang="zh-CN" sz="1800" b="1" baseline="-25000" dirty="0">
                <a:sym typeface="+mn-ea"/>
              </a:rPr>
              <a:t>1</a:t>
            </a:r>
            <a:r>
              <a:rPr lang="zh-CN" altLang="en-US" sz="1800" b="1" dirty="0">
                <a:sym typeface="+mn-ea"/>
              </a:rPr>
              <a:t>和输出</a:t>
            </a:r>
            <a:r>
              <a:rPr lang="en-US" altLang="zh-CN" sz="1800" b="1" i="1" dirty="0"/>
              <a:t>Q</a:t>
            </a:r>
            <a:r>
              <a:rPr lang="zh-CN" altLang="en-US" sz="1800" b="1" dirty="0"/>
              <a:t>保持</a:t>
            </a:r>
          </a:p>
          <a:p>
            <a:r>
              <a:rPr lang="zh-CN" altLang="en-US" sz="1800" b="1" dirty="0">
                <a:sym typeface="+mn-ea"/>
              </a:rPr>
              <a:t>（</a:t>
            </a:r>
            <a:r>
              <a:rPr lang="en-US" altLang="zh-CN" sz="1800" b="1" dirty="0">
                <a:sym typeface="+mn-ea"/>
              </a:rPr>
              <a:t>2</a:t>
            </a:r>
            <a:r>
              <a:rPr lang="zh-CN" altLang="en-US" sz="1800" b="1" dirty="0">
                <a:sym typeface="+mn-ea"/>
              </a:rPr>
              <a:t>）</a:t>
            </a:r>
            <a:r>
              <a:rPr lang="en-US" altLang="zh-CN" sz="1800" b="1" i="1" dirty="0" err="1">
                <a:sym typeface="+mn-ea"/>
              </a:rPr>
              <a:t>CLK</a:t>
            </a:r>
            <a:r>
              <a:rPr lang="en-US" altLang="zh-CN" sz="1800" b="1" dirty="0">
                <a:sym typeface="+mn-ea"/>
              </a:rPr>
              <a:t>=1</a:t>
            </a:r>
            <a:r>
              <a:rPr lang="zh-CN" altLang="en-US" sz="1800" b="1" dirty="0">
                <a:sym typeface="+mn-ea"/>
              </a:rPr>
              <a:t>时，</a:t>
            </a:r>
            <a:r>
              <a:rPr lang="zh-CN" altLang="en-US" sz="1800" b="1" dirty="0">
                <a:solidFill>
                  <a:srgbClr val="FF0000"/>
                </a:solidFill>
                <a:sym typeface="+mn-ea"/>
              </a:rPr>
              <a:t>主</a:t>
            </a:r>
            <a:r>
              <a:rPr lang="en-US" altLang="zh-CN" sz="1800" b="1" dirty="0">
                <a:solidFill>
                  <a:srgbClr val="FF0000"/>
                </a:solidFill>
                <a:sym typeface="+mn-ea"/>
              </a:rPr>
              <a:t>FF </a:t>
            </a:r>
            <a:r>
              <a:rPr lang="en-US" altLang="zh-CN" sz="1800" b="1" i="1" dirty="0">
                <a:solidFill>
                  <a:srgbClr val="FF0000"/>
                </a:solidFill>
                <a:sym typeface="+mn-ea"/>
              </a:rPr>
              <a:t>Q</a:t>
            </a:r>
            <a:r>
              <a:rPr lang="en-US" altLang="zh-CN" sz="1800" b="1" baseline="-25000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sym typeface="+mn-ea"/>
              </a:rPr>
              <a:t>按</a:t>
            </a:r>
            <a:r>
              <a:rPr lang="en-US" altLang="zh-CN" sz="1800" b="1" i="1" dirty="0">
                <a:solidFill>
                  <a:srgbClr val="FF0000"/>
                </a:solidFill>
                <a:sym typeface="+mn-ea"/>
              </a:rPr>
              <a:t>JK</a:t>
            </a:r>
            <a:r>
              <a:rPr lang="zh-CN" altLang="en-US" sz="1800" b="1" dirty="0">
                <a:solidFill>
                  <a:srgbClr val="FF0000"/>
                </a:solidFill>
                <a:sym typeface="+mn-ea"/>
              </a:rPr>
              <a:t>只可能</a:t>
            </a:r>
            <a:r>
              <a:rPr lang="en-US" altLang="zh-CN" sz="1800" b="1" dirty="0">
                <a:solidFill>
                  <a:srgbClr val="FF0000"/>
                </a:solidFill>
                <a:sym typeface="+mn-ea"/>
              </a:rPr>
              <a:t>翻转一次</a:t>
            </a:r>
            <a:r>
              <a:rPr lang="zh-CN" altLang="en-US" sz="1800" b="1" dirty="0">
                <a:solidFill>
                  <a:srgbClr val="FF0000"/>
                </a:solidFill>
                <a:sym typeface="+mn-ea"/>
              </a:rPr>
              <a:t>（或保持不变）</a:t>
            </a:r>
            <a:r>
              <a:rPr lang="zh-CN" altLang="en-US" sz="1800" b="1" dirty="0">
                <a:sym typeface="+mn-ea"/>
              </a:rPr>
              <a:t>，从</a:t>
            </a:r>
            <a:r>
              <a:rPr lang="en-US" altLang="zh-CN" sz="1800" b="1" dirty="0">
                <a:sym typeface="+mn-ea"/>
              </a:rPr>
              <a:t>FF </a:t>
            </a:r>
            <a:r>
              <a:rPr lang="en-US" altLang="zh-CN" sz="1800" b="1" i="1" dirty="0">
                <a:sym typeface="+mn-ea"/>
              </a:rPr>
              <a:t>Q</a:t>
            </a:r>
            <a:r>
              <a:rPr lang="en-US" altLang="zh-CN" sz="1800" b="1" dirty="0">
                <a:sym typeface="+mn-ea"/>
              </a:rPr>
              <a:t> </a:t>
            </a:r>
            <a:r>
              <a:rPr lang="zh-CN" altLang="en-US" sz="1800" b="1" dirty="0">
                <a:sym typeface="+mn-ea"/>
              </a:rPr>
              <a:t>保持</a:t>
            </a:r>
          </a:p>
          <a:p>
            <a:endParaRPr lang="zh-CN" altLang="en-US" sz="1800" b="1" dirty="0">
              <a:sym typeface="+mn-ea"/>
            </a:endParaRPr>
          </a:p>
          <a:p>
            <a:endParaRPr lang="zh-CN" altLang="en-US" sz="1800" b="1" dirty="0">
              <a:sym typeface="+mn-ea"/>
            </a:endParaRPr>
          </a:p>
          <a:p>
            <a:endParaRPr lang="zh-CN" altLang="en-US" sz="1800" b="1" dirty="0">
              <a:sym typeface="+mn-ea"/>
            </a:endParaRPr>
          </a:p>
          <a:p>
            <a:endParaRPr lang="zh-CN" altLang="en-US" sz="1800" b="1" dirty="0">
              <a:sym typeface="+mn-ea"/>
            </a:endParaRPr>
          </a:p>
          <a:p>
            <a:endParaRPr lang="zh-CN" altLang="en-US" sz="1800" b="1" dirty="0"/>
          </a:p>
          <a:p>
            <a:r>
              <a:rPr lang="zh-CN" altLang="en-US" sz="18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（</a:t>
            </a:r>
            <a:r>
              <a:rPr lang="en-US" altLang="zh-CN" sz="18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3</a:t>
            </a:r>
            <a:r>
              <a:rPr lang="zh-CN" altLang="en-US" sz="18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）</a:t>
            </a:r>
            <a:r>
              <a:rPr lang="en-US" altLang="zh-CN" sz="1800" b="1" dirty="0" err="1">
                <a:solidFill>
                  <a:schemeClr val="accent2">
                    <a:lumMod val="50000"/>
                  </a:schemeClr>
                </a:solidFill>
                <a:sym typeface="+mn-ea"/>
              </a:rPr>
              <a:t>CLK</a:t>
            </a:r>
            <a:r>
              <a:rPr lang="zh-CN" altLang="en-US" sz="18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下降沿到达时，</a:t>
            </a:r>
            <a:r>
              <a:rPr lang="zh-CN" altLang="en-US" sz="1800" b="1" dirty="0">
                <a:sym typeface="+mn-ea"/>
              </a:rPr>
              <a:t>主</a:t>
            </a:r>
            <a:r>
              <a:rPr lang="en-US" altLang="zh-CN" sz="1800" b="1" dirty="0">
                <a:sym typeface="+mn-ea"/>
              </a:rPr>
              <a:t>FF </a:t>
            </a:r>
            <a:r>
              <a:rPr lang="en-US" altLang="zh-CN" sz="1800" b="1" i="1" dirty="0">
                <a:sym typeface="+mn-ea"/>
              </a:rPr>
              <a:t>Q</a:t>
            </a:r>
            <a:r>
              <a:rPr lang="en-US" altLang="zh-CN" sz="1800" b="1" baseline="-25000" dirty="0">
                <a:sym typeface="+mn-ea"/>
              </a:rPr>
              <a:t>1</a:t>
            </a:r>
            <a:r>
              <a:rPr lang="zh-CN" altLang="en-US" sz="18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保持，</a:t>
            </a:r>
            <a:r>
              <a:rPr lang="zh-CN" altLang="en-US" sz="1800" b="1" dirty="0">
                <a:sym typeface="+mn-ea"/>
              </a:rPr>
              <a:t>从</a:t>
            </a:r>
            <a:r>
              <a:rPr lang="en-US" altLang="zh-CN" sz="1800" b="1" dirty="0">
                <a:sym typeface="+mn-ea"/>
              </a:rPr>
              <a:t>FF </a:t>
            </a:r>
            <a:r>
              <a:rPr lang="en-US" altLang="zh-CN" sz="1800" b="1" i="1" dirty="0">
                <a:sym typeface="+mn-ea"/>
              </a:rPr>
              <a:t>Q</a:t>
            </a:r>
            <a:r>
              <a:rPr lang="en-US" altLang="zh-CN" sz="1800" b="1" dirty="0">
                <a:sym typeface="+mn-ea"/>
              </a:rPr>
              <a:t> </a:t>
            </a:r>
            <a:r>
              <a:rPr lang="zh-CN" altLang="en-US" sz="18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根据</a:t>
            </a:r>
            <a:r>
              <a:rPr lang="en-US" altLang="zh-CN" sz="1800" b="1" i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Q</a:t>
            </a:r>
            <a:r>
              <a:rPr lang="en-US" altLang="zh-CN" sz="1800" b="1" baseline="-25000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1</a:t>
            </a:r>
            <a:r>
              <a:rPr lang="zh-CN" altLang="en-US" sz="18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的状态变化</a:t>
            </a:r>
            <a:endParaRPr lang="zh-CN" altLang="en-US" sz="18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sz="1800" b="1" dirty="0">
                <a:sym typeface="+mn-ea"/>
              </a:rPr>
              <a:t>（</a:t>
            </a:r>
            <a:r>
              <a:rPr lang="en-US" altLang="zh-CN" sz="1800" b="1" dirty="0">
                <a:sym typeface="+mn-ea"/>
              </a:rPr>
              <a:t>4</a:t>
            </a:r>
            <a:r>
              <a:rPr lang="zh-CN" altLang="en-US" sz="1800" b="1" dirty="0">
                <a:sym typeface="+mn-ea"/>
              </a:rPr>
              <a:t>）所以每个</a:t>
            </a:r>
            <a:r>
              <a:rPr lang="en-US" altLang="zh-CN" sz="1800" b="1" dirty="0" err="1">
                <a:solidFill>
                  <a:schemeClr val="accent2">
                    <a:lumMod val="50000"/>
                  </a:schemeClr>
                </a:solidFill>
                <a:sym typeface="+mn-ea"/>
              </a:rPr>
              <a:t>CLK</a:t>
            </a:r>
            <a:r>
              <a:rPr lang="zh-CN" altLang="en-US" sz="1800" b="1" dirty="0">
                <a:sym typeface="+mn-ea"/>
              </a:rPr>
              <a:t>周期，输出</a:t>
            </a:r>
            <a:r>
              <a:rPr lang="en-US" altLang="zh-CN" sz="1800" b="1" i="1" dirty="0">
                <a:sym typeface="+mn-ea"/>
              </a:rPr>
              <a:t>Q</a:t>
            </a:r>
            <a:r>
              <a:rPr lang="zh-CN" altLang="en-US" sz="1800" b="1" dirty="0">
                <a:sym typeface="+mn-ea"/>
              </a:rPr>
              <a:t>状态只可能改变一次</a:t>
            </a:r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403985" y="4162425"/>
            <a:ext cx="455231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00" b="1" i="1">
                <a:solidFill>
                  <a:schemeClr val="accent2">
                    <a:lumMod val="50000"/>
                  </a:schemeClr>
                </a:solidFill>
              </a:rPr>
              <a:t>J</a:t>
            </a:r>
            <a:r>
              <a:rPr lang="en-US" altLang="zh-CN" sz="1900" b="1">
                <a:solidFill>
                  <a:schemeClr val="accent2">
                    <a:lumMod val="50000"/>
                  </a:schemeClr>
                </a:solidFill>
              </a:rPr>
              <a:t>=0 </a:t>
            </a:r>
            <a:r>
              <a:rPr lang="en-US" altLang="zh-CN" sz="1900" b="1" i="1">
                <a:solidFill>
                  <a:schemeClr val="accent2">
                    <a:lumMod val="50000"/>
                  </a:schemeClr>
                </a:solidFill>
                <a:sym typeface="+mn-ea"/>
              </a:rPr>
              <a:t>K</a:t>
            </a:r>
            <a:r>
              <a:rPr lang="en-US" altLang="zh-CN" sz="1900" b="1">
                <a:solidFill>
                  <a:schemeClr val="accent2">
                    <a:lumMod val="50000"/>
                  </a:schemeClr>
                </a:solidFill>
                <a:sym typeface="+mn-ea"/>
              </a:rPr>
              <a:t>=0</a:t>
            </a:r>
            <a:r>
              <a:rPr lang="zh-CN" altLang="en-US" sz="1900" b="1">
                <a:solidFill>
                  <a:schemeClr val="accent2">
                    <a:lumMod val="50000"/>
                  </a:schemeClr>
                </a:solidFill>
                <a:sym typeface="+mn-ea"/>
              </a:rPr>
              <a:t>：</a:t>
            </a:r>
            <a:r>
              <a:rPr lang="en-US" altLang="zh-CN" sz="1900" b="1" i="1">
                <a:solidFill>
                  <a:schemeClr val="accent2">
                    <a:lumMod val="50000"/>
                  </a:schemeClr>
                </a:solidFill>
                <a:sym typeface="+mn-ea"/>
              </a:rPr>
              <a:t>Q</a:t>
            </a:r>
            <a:r>
              <a:rPr lang="en-US" altLang="zh-CN" sz="1900" b="1" baseline="-25000">
                <a:solidFill>
                  <a:schemeClr val="accent2">
                    <a:lumMod val="50000"/>
                  </a:schemeClr>
                </a:solidFill>
                <a:sym typeface="+mn-ea"/>
              </a:rPr>
              <a:t>1</a:t>
            </a:r>
            <a:r>
              <a:rPr lang="zh-CN" altLang="en-US" sz="1900" b="1">
                <a:solidFill>
                  <a:schemeClr val="accent2">
                    <a:lumMod val="50000"/>
                  </a:schemeClr>
                </a:solidFill>
                <a:sym typeface="+mn-ea"/>
              </a:rPr>
              <a:t>保持</a:t>
            </a:r>
          </a:p>
          <a:p>
            <a:r>
              <a:rPr lang="en-US" altLang="zh-CN" sz="1900" b="1" i="1">
                <a:solidFill>
                  <a:srgbClr val="FFC000"/>
                </a:solidFill>
                <a:sym typeface="+mn-ea"/>
              </a:rPr>
              <a:t>J</a:t>
            </a:r>
            <a:r>
              <a:rPr lang="en-US" altLang="zh-CN" sz="1900" b="1">
                <a:solidFill>
                  <a:srgbClr val="FFC000"/>
                </a:solidFill>
                <a:sym typeface="+mn-ea"/>
              </a:rPr>
              <a:t>=1 </a:t>
            </a:r>
            <a:r>
              <a:rPr lang="en-US" altLang="zh-CN" sz="1900" b="1" i="1">
                <a:solidFill>
                  <a:srgbClr val="FFC000"/>
                </a:solidFill>
                <a:sym typeface="+mn-ea"/>
              </a:rPr>
              <a:t>K</a:t>
            </a:r>
            <a:r>
              <a:rPr lang="en-US" altLang="zh-CN" sz="1900" b="1">
                <a:solidFill>
                  <a:srgbClr val="FFC000"/>
                </a:solidFill>
                <a:sym typeface="+mn-ea"/>
              </a:rPr>
              <a:t>=0</a:t>
            </a:r>
            <a:r>
              <a:rPr lang="zh-CN" altLang="en-US" sz="1900" b="1">
                <a:solidFill>
                  <a:srgbClr val="FFC000"/>
                </a:solidFill>
                <a:sym typeface="+mn-ea"/>
              </a:rPr>
              <a:t>：</a:t>
            </a:r>
            <a:r>
              <a:rPr lang="en-US" altLang="zh-CN" sz="1900" b="1" i="1">
                <a:solidFill>
                  <a:srgbClr val="FFC000"/>
                </a:solidFill>
                <a:sym typeface="+mn-ea"/>
              </a:rPr>
              <a:t>Q</a:t>
            </a:r>
            <a:r>
              <a:rPr lang="en-US" altLang="zh-CN" sz="1900" b="1" baseline="-25000">
                <a:solidFill>
                  <a:srgbClr val="FFC000"/>
                </a:solidFill>
                <a:sym typeface="+mn-ea"/>
              </a:rPr>
              <a:t>1</a:t>
            </a:r>
            <a:r>
              <a:rPr lang="zh-CN" altLang="en-US" sz="1900" b="1">
                <a:solidFill>
                  <a:srgbClr val="FFC000"/>
                </a:solidFill>
                <a:sym typeface="+mn-ea"/>
              </a:rPr>
              <a:t>置</a:t>
            </a:r>
            <a:r>
              <a:rPr lang="en-US" altLang="zh-CN" sz="1900" b="1">
                <a:solidFill>
                  <a:srgbClr val="FFC000"/>
                </a:solidFill>
                <a:sym typeface="+mn-ea"/>
              </a:rPr>
              <a:t>1</a:t>
            </a:r>
          </a:p>
          <a:p>
            <a:r>
              <a:rPr lang="en-US" altLang="zh-CN" sz="1900" b="1" i="1">
                <a:solidFill>
                  <a:srgbClr val="00B050"/>
                </a:solidFill>
                <a:sym typeface="+mn-ea"/>
              </a:rPr>
              <a:t>J</a:t>
            </a:r>
            <a:r>
              <a:rPr lang="en-US" altLang="zh-CN" sz="1900" b="1">
                <a:solidFill>
                  <a:srgbClr val="00B050"/>
                </a:solidFill>
                <a:sym typeface="+mn-ea"/>
              </a:rPr>
              <a:t>=0 </a:t>
            </a:r>
            <a:r>
              <a:rPr lang="en-US" altLang="zh-CN" sz="1900" b="1" i="1">
                <a:solidFill>
                  <a:srgbClr val="00B050"/>
                </a:solidFill>
                <a:sym typeface="+mn-ea"/>
              </a:rPr>
              <a:t>K</a:t>
            </a:r>
            <a:r>
              <a:rPr lang="en-US" altLang="zh-CN" sz="1900" b="1">
                <a:solidFill>
                  <a:srgbClr val="00B050"/>
                </a:solidFill>
                <a:sym typeface="+mn-ea"/>
              </a:rPr>
              <a:t>=1</a:t>
            </a:r>
            <a:r>
              <a:rPr lang="zh-CN" altLang="en-US" sz="1900" b="1">
                <a:solidFill>
                  <a:srgbClr val="00B050"/>
                </a:solidFill>
                <a:sym typeface="+mn-ea"/>
              </a:rPr>
              <a:t>：</a:t>
            </a:r>
            <a:r>
              <a:rPr lang="en-US" altLang="zh-CN" sz="1900" b="1" i="1">
                <a:solidFill>
                  <a:srgbClr val="00B050"/>
                </a:solidFill>
                <a:sym typeface="+mn-ea"/>
              </a:rPr>
              <a:t>Q</a:t>
            </a:r>
            <a:r>
              <a:rPr lang="en-US" altLang="zh-CN" sz="1900" b="1" baseline="-25000">
                <a:solidFill>
                  <a:srgbClr val="00B050"/>
                </a:solidFill>
                <a:sym typeface="+mn-ea"/>
              </a:rPr>
              <a:t>1</a:t>
            </a:r>
            <a:r>
              <a:rPr lang="zh-CN" altLang="en-US" sz="1900" b="1">
                <a:solidFill>
                  <a:srgbClr val="00B050"/>
                </a:solidFill>
                <a:sym typeface="+mn-ea"/>
              </a:rPr>
              <a:t>置</a:t>
            </a:r>
            <a:r>
              <a:rPr lang="en-US" altLang="zh-CN" sz="1900" b="1">
                <a:solidFill>
                  <a:srgbClr val="00B050"/>
                </a:solidFill>
                <a:sym typeface="+mn-ea"/>
              </a:rPr>
              <a:t>0</a:t>
            </a:r>
            <a:endParaRPr lang="zh-CN" altLang="en-US" sz="1900" b="1">
              <a:sym typeface="+mn-ea"/>
            </a:endParaRPr>
          </a:p>
          <a:p>
            <a:r>
              <a:rPr lang="en-US" altLang="zh-CN" sz="1900" b="1" i="1">
                <a:solidFill>
                  <a:srgbClr val="7030A0"/>
                </a:solidFill>
                <a:sym typeface="+mn-ea"/>
              </a:rPr>
              <a:t>J</a:t>
            </a:r>
            <a:r>
              <a:rPr lang="en-US" altLang="zh-CN" sz="1900" b="1">
                <a:solidFill>
                  <a:srgbClr val="7030A0"/>
                </a:solidFill>
                <a:sym typeface="+mn-ea"/>
              </a:rPr>
              <a:t>=1 </a:t>
            </a:r>
            <a:r>
              <a:rPr lang="en-US" altLang="zh-CN" sz="1900" b="1" i="1">
                <a:solidFill>
                  <a:srgbClr val="7030A0"/>
                </a:solidFill>
                <a:sym typeface="+mn-ea"/>
              </a:rPr>
              <a:t>K</a:t>
            </a:r>
            <a:r>
              <a:rPr lang="en-US" altLang="zh-CN" sz="1900" b="1">
                <a:solidFill>
                  <a:srgbClr val="7030A0"/>
                </a:solidFill>
                <a:sym typeface="+mn-ea"/>
              </a:rPr>
              <a:t>=1</a:t>
            </a:r>
            <a:r>
              <a:rPr lang="zh-CN" altLang="en-US" sz="1900" b="1">
                <a:solidFill>
                  <a:srgbClr val="7030A0"/>
                </a:solidFill>
                <a:sym typeface="+mn-ea"/>
              </a:rPr>
              <a:t>：</a:t>
            </a:r>
            <a:r>
              <a:rPr lang="en-US" altLang="zh-CN" sz="1900" b="1" i="1">
                <a:solidFill>
                  <a:srgbClr val="7030A0"/>
                </a:solidFill>
                <a:sym typeface="+mn-ea"/>
              </a:rPr>
              <a:t>Q</a:t>
            </a:r>
            <a:r>
              <a:rPr lang="en-US" altLang="zh-CN" sz="1900" b="1" baseline="-25000">
                <a:solidFill>
                  <a:srgbClr val="7030A0"/>
                </a:solidFill>
                <a:sym typeface="+mn-ea"/>
              </a:rPr>
              <a:t>1</a:t>
            </a:r>
            <a:r>
              <a:rPr lang="en-US" altLang="zh-CN" sz="1900" b="1">
                <a:solidFill>
                  <a:srgbClr val="7030A0"/>
                </a:solidFill>
                <a:sym typeface="+mn-ea"/>
              </a:rPr>
              <a:t>=</a:t>
            </a:r>
            <a:r>
              <a:rPr lang="en-US" altLang="zh-CN" sz="1900" b="1" i="1">
                <a:solidFill>
                  <a:srgbClr val="7030A0"/>
                </a:solidFill>
                <a:sym typeface="+mn-ea"/>
              </a:rPr>
              <a:t>Q’</a:t>
            </a:r>
            <a:r>
              <a:rPr lang="en-US" altLang="zh-CN" sz="1900" b="1" baseline="-25000">
                <a:solidFill>
                  <a:srgbClr val="7030A0"/>
                </a:solidFill>
                <a:sym typeface="+mn-ea"/>
              </a:rPr>
              <a:t>1</a:t>
            </a:r>
            <a:endParaRPr lang="zh-CN" altLang="en-US" sz="1900">
              <a:sym typeface="+mn-ea"/>
            </a:endParaRPr>
          </a:p>
        </p:txBody>
      </p:sp>
      <p:grpSp>
        <p:nvGrpSpPr>
          <p:cNvPr id="303153" name="Group 49"/>
          <p:cNvGrpSpPr/>
          <p:nvPr/>
        </p:nvGrpSpPr>
        <p:grpSpPr bwMode="auto">
          <a:xfrm>
            <a:off x="1010920" y="1213485"/>
            <a:ext cx="4513580" cy="2300605"/>
            <a:chOff x="158" y="1071"/>
            <a:chExt cx="3266" cy="1665"/>
          </a:xfrm>
        </p:grpSpPr>
        <p:pic>
          <p:nvPicPr>
            <p:cNvPr id="16389" name="Picture 45" descr="5-4-3a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8" y="1071"/>
              <a:ext cx="3266" cy="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3150" name="Rectangle 46"/>
            <p:cNvSpPr>
              <a:spLocks noChangeArrowheads="1"/>
            </p:cNvSpPr>
            <p:nvPr/>
          </p:nvSpPr>
          <p:spPr bwMode="auto">
            <a:xfrm>
              <a:off x="703" y="1071"/>
              <a:ext cx="2224" cy="136"/>
            </a:xfrm>
            <a:prstGeom prst="rect">
              <a:avLst/>
            </a:prstGeom>
            <a:solidFill>
              <a:srgbClr val="FF99CC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99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楷体_GB2312" charset="0"/>
              </a:endParaRPr>
            </a:p>
          </p:txBody>
        </p:sp>
        <p:sp>
          <p:nvSpPr>
            <p:cNvPr id="303151" name="Rectangle 47"/>
            <p:cNvSpPr>
              <a:spLocks noChangeArrowheads="1"/>
            </p:cNvSpPr>
            <p:nvPr/>
          </p:nvSpPr>
          <p:spPr bwMode="auto">
            <a:xfrm>
              <a:off x="703" y="2205"/>
              <a:ext cx="2312" cy="136"/>
            </a:xfrm>
            <a:prstGeom prst="rect">
              <a:avLst/>
            </a:prstGeom>
            <a:solidFill>
              <a:srgbClr val="FF99CC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99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楷体_GB2312" charset="0"/>
              </a:endParaRPr>
            </a:p>
          </p:txBody>
        </p:sp>
      </p:grpSp>
      <p:pic>
        <p:nvPicPr>
          <p:cNvPr id="303152" name="Picture 48" descr="5-4-3b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838825" y="1418590"/>
            <a:ext cx="2632075" cy="1442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755650" y="6059170"/>
            <a:ext cx="702056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i="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带异步功能的</a:t>
            </a:r>
            <a:r>
              <a:rPr lang="en-US" altLang="zh-CN" sz="1800" i="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: </a:t>
            </a:r>
            <a:r>
              <a:rPr lang="en-US" altLang="zh-CN" sz="180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S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’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D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和</a:t>
            </a:r>
            <a:r>
              <a:rPr lang="en-US" altLang="zh-CN" sz="180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R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’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D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将触发器置位或复位不受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 </a:t>
            </a:r>
            <a:r>
              <a:rPr lang="en-US" altLang="zh-CN" sz="1800" i="1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CLK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 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  <a:sym typeface="+mn-ea"/>
              </a:rPr>
              <a:t>信号控制</a:t>
            </a:r>
            <a:endParaRPr lang="zh-CN" altLang="en-US" sz="1800" i="0">
              <a:solidFill>
                <a:schemeClr val="tx1"/>
              </a:solidFill>
              <a:latin typeface="Times New Roman" panose="02020603050405020304"/>
              <a:ea typeface="等线" panose="02010600030101010101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第五章：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脉冲触发的触发器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03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3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3" dur="1000"/>
                                        <p:tgtEl>
                                          <p:spTgt spid="303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3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3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0" dur="1000"/>
                                        <p:tgtEl>
                                          <p:spTgt spid="303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172720" y="958850"/>
            <a:ext cx="8378825" cy="5411470"/>
            <a:chOff x="240" y="1545"/>
            <a:chExt cx="13195" cy="8522"/>
          </a:xfrm>
        </p:grpSpPr>
        <p:sp>
          <p:nvSpPr>
            <p:cNvPr id="6" name="文本框 5"/>
            <p:cNvSpPr txBox="1"/>
            <p:nvPr/>
          </p:nvSpPr>
          <p:spPr>
            <a:xfrm>
              <a:off x="1303" y="1545"/>
              <a:ext cx="272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i="1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rPr>
                <a:t>SR</a:t>
              </a:r>
              <a:r>
                <a:rPr lang="zh-CN" altLang="en-US" sz="2000" b="1" dirty="0">
                  <a:solidFill>
                    <a:schemeClr val="accent2">
                      <a:lumMod val="50000"/>
                    </a:schemeClr>
                  </a:solidFill>
                </a:rPr>
                <a:t>触发器</a:t>
              </a: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705" y="1545"/>
              <a:ext cx="200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i="1" dirty="0">
                  <a:solidFill>
                    <a:schemeClr val="accent2">
                      <a:lumMod val="50000"/>
                    </a:schemeClr>
                  </a:solidFill>
                </a:rPr>
                <a:t>D</a:t>
              </a:r>
              <a:r>
                <a:rPr lang="zh-CN" altLang="en-US" sz="2000" b="1" dirty="0">
                  <a:solidFill>
                    <a:schemeClr val="accent2">
                      <a:lumMod val="50000"/>
                    </a:schemeClr>
                  </a:solidFill>
                </a:rPr>
                <a:t>触发器</a:t>
              </a: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240" y="1545"/>
              <a:ext cx="13195" cy="8522"/>
              <a:chOff x="240" y="1545"/>
              <a:chExt cx="13195" cy="8522"/>
            </a:xfrm>
          </p:grpSpPr>
          <p:pic>
            <p:nvPicPr>
              <p:cNvPr id="25" name="图片 24"/>
              <p:cNvPicPr>
                <a:picLocks noChangeAspect="1"/>
              </p:cNvPicPr>
              <p:nvPr/>
            </p:nvPicPr>
            <p:blipFill>
              <a:blip r:embed="rId4">
                <a:lum bright="-20000" contrast="40000"/>
              </a:blip>
              <a:srcRect l="9271" r="6230" b="33534"/>
              <a:stretch>
                <a:fillRect/>
              </a:stretch>
            </p:blipFill>
            <p:spPr>
              <a:xfrm>
                <a:off x="10488" y="5741"/>
                <a:ext cx="2947" cy="1716"/>
              </a:xfrm>
              <a:prstGeom prst="rect">
                <a:avLst/>
              </a:prstGeom>
            </p:spPr>
          </p:pic>
          <p:pic>
            <p:nvPicPr>
              <p:cNvPr id="303152" name="Picture 48" descr="5-4-3b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7252" y="5741"/>
                <a:ext cx="3192" cy="1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02227" name="Picture 147" descr="5-4-1"/>
              <p:cNvPicPr>
                <a:picLocks noChangeAspect="1" noChangeArrowheads="1"/>
              </p:cNvPicPr>
              <p:nvPr/>
            </p:nvPicPr>
            <p:blipFill>
              <a:blip r:embed="rId6"/>
              <a:srcRect l="72631" b="37591"/>
              <a:stretch>
                <a:fillRect/>
              </a:stretch>
            </p:blipFill>
            <p:spPr bwMode="auto">
              <a:xfrm>
                <a:off x="623" y="5114"/>
                <a:ext cx="3140" cy="25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96031" name="Picture 95" descr="5T21"/>
              <p:cNvPicPr>
                <a:picLocks noChangeAspect="1" noChangeArrowheads="1"/>
              </p:cNvPicPr>
              <p:nvPr>
                <p:custDataLst>
                  <p:tags r:id="rId1"/>
                </p:custDataLst>
              </p:nvPr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1254" b="16178"/>
              <a:stretch>
                <a:fillRect/>
              </a:stretch>
            </p:blipFill>
            <p:spPr bwMode="auto">
              <a:xfrm>
                <a:off x="397" y="2466"/>
                <a:ext cx="3515" cy="24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图片 17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8"/>
              <a:stretch>
                <a:fillRect/>
              </a:stretch>
            </p:blipFill>
            <p:spPr>
              <a:xfrm>
                <a:off x="4025" y="2983"/>
                <a:ext cx="3188" cy="1686"/>
              </a:xfrm>
              <a:prstGeom prst="rect">
                <a:avLst/>
              </a:prstGeom>
            </p:spPr>
          </p:pic>
          <p:sp>
            <p:nvSpPr>
              <p:cNvPr id="8" name="文本框 7"/>
              <p:cNvSpPr txBox="1"/>
              <p:nvPr/>
            </p:nvSpPr>
            <p:spPr>
              <a:xfrm>
                <a:off x="4478" y="7427"/>
                <a:ext cx="2135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1800" b="1">
                    <a:solidFill>
                      <a:srgbClr val="00B050"/>
                    </a:solidFill>
                    <a:effectLst/>
                    <a:sym typeface="+mn-ea"/>
                  </a:rPr>
                  <a:t>(</a:t>
                </a:r>
                <a:r>
                  <a:rPr lang="en-US" altLang="zh-CN" sz="1800" b="1" i="1">
                    <a:solidFill>
                      <a:srgbClr val="00B050"/>
                    </a:solidFill>
                    <a:effectLst/>
                    <a:sym typeface="+mn-ea"/>
                  </a:rPr>
                  <a:t>D</a:t>
                </a:r>
                <a:r>
                  <a:rPr lang="en-US" altLang="zh-CN" sz="1800" b="1">
                    <a:solidFill>
                      <a:srgbClr val="00B050"/>
                    </a:solidFill>
                    <a:effectLst/>
                    <a:sym typeface="+mn-ea"/>
                  </a:rPr>
                  <a:t>=</a:t>
                </a:r>
                <a:r>
                  <a:rPr lang="en-US" altLang="zh-CN" sz="1800" b="1" i="1">
                    <a:solidFill>
                      <a:srgbClr val="00B050"/>
                    </a:solidFill>
                    <a:effectLst/>
                    <a:sym typeface="+mn-ea"/>
                  </a:rPr>
                  <a:t>S</a:t>
                </a:r>
                <a:r>
                  <a:rPr lang="en-US" altLang="zh-CN" sz="1800" b="1">
                    <a:solidFill>
                      <a:srgbClr val="00B050"/>
                    </a:solidFill>
                    <a:effectLst/>
                    <a:sym typeface="+mn-ea"/>
                  </a:rPr>
                  <a:t>=</a:t>
                </a:r>
                <a:r>
                  <a:rPr lang="en-US" altLang="zh-CN" sz="1800" b="1" i="1">
                    <a:solidFill>
                      <a:srgbClr val="00B050"/>
                    </a:solidFill>
                    <a:effectLst/>
                    <a:sym typeface="+mn-ea"/>
                  </a:rPr>
                  <a:t>R</a:t>
                </a:r>
                <a:r>
                  <a:rPr lang="en-US" altLang="zh-CN" sz="1800" b="1">
                    <a:solidFill>
                      <a:srgbClr val="00B050"/>
                    </a:solidFill>
                    <a:effectLst/>
                    <a:sym typeface="+mn-ea"/>
                  </a:rPr>
                  <a:t>’)</a:t>
                </a: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1303" y="2174"/>
                <a:ext cx="1874" cy="10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1800" b="1" dirty="0">
                    <a:solidFill>
                      <a:schemeClr val="tx1"/>
                    </a:solidFill>
                    <a:sym typeface="+mn-ea"/>
                  </a:rPr>
                  <a:t>电平触发</a:t>
                </a:r>
                <a:r>
                  <a:rPr lang="en-US" altLang="zh-CN" sz="1800" b="1" i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SR</a:t>
                </a:r>
                <a:r>
                  <a:rPr lang="zh-CN" altLang="en-US" sz="1800" b="1" dirty="0">
                    <a:solidFill>
                      <a:schemeClr val="tx1"/>
                    </a:solidFill>
                    <a:sym typeface="+mn-ea"/>
                  </a:rPr>
                  <a:t>触发器</a:t>
                </a: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4705" y="2173"/>
                <a:ext cx="1809" cy="10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1800" b="1" dirty="0">
                    <a:solidFill>
                      <a:schemeClr val="tx1"/>
                    </a:solidFill>
                    <a:sym typeface="+mn-ea"/>
                  </a:rPr>
                  <a:t>电平触发</a:t>
                </a:r>
                <a:r>
                  <a:rPr lang="en-US" altLang="zh-CN" sz="1800" b="1" i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D</a:t>
                </a:r>
                <a:r>
                  <a:rPr lang="zh-CN" altLang="en-US" sz="1800" b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触发器</a:t>
                </a:r>
                <a:endParaRPr lang="zh-CN" altLang="en-US" sz="1800" b="1" dirty="0">
                  <a:solidFill>
                    <a:schemeClr val="tx1"/>
                  </a:solidFill>
                  <a:latin typeface="Times New Roman" panose="02020603050405020304" charset="0"/>
                  <a:ea typeface="Calibri" panose="020F0502020204030204"/>
                  <a:cs typeface="Times New Roman" panose="02020603050405020304" charset="0"/>
                  <a:sym typeface="+mn-ea"/>
                </a:endParaRPr>
              </a:p>
            </p:txBody>
          </p: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11" y="5627"/>
                <a:ext cx="3175" cy="1905"/>
              </a:xfrm>
              <a:prstGeom prst="rect">
                <a:avLst/>
              </a:prstGeom>
            </p:spPr>
          </p:pic>
          <p:sp>
            <p:nvSpPr>
              <p:cNvPr id="10" name="文本框 9"/>
              <p:cNvSpPr txBox="1"/>
              <p:nvPr/>
            </p:nvSpPr>
            <p:spPr>
              <a:xfrm>
                <a:off x="4592" y="4810"/>
                <a:ext cx="1831" cy="10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1800" b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 </a:t>
                </a:r>
                <a:r>
                  <a:rPr lang="zh-CN" altLang="en-US" sz="1800" b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边沿触发</a:t>
                </a:r>
                <a:r>
                  <a:rPr lang="en-US" altLang="zh-CN" sz="1800" b="1" i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D</a:t>
                </a:r>
                <a:r>
                  <a:rPr lang="zh-CN" altLang="en-US" sz="1800" b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触发器</a:t>
                </a: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1346" y="4833"/>
                <a:ext cx="1831" cy="10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1800" b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 </a:t>
                </a:r>
                <a:r>
                  <a:rPr lang="zh-CN" altLang="en-US" sz="1800" b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脉冲触发</a:t>
                </a:r>
                <a:r>
                  <a:rPr lang="en-US" altLang="zh-CN" sz="1800" b="1" i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SR</a:t>
                </a:r>
                <a:r>
                  <a:rPr lang="zh-CN" altLang="en-US" sz="1800" b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触发器</a:t>
                </a:r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57" y="1580"/>
                <a:ext cx="13146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直接连接符 13"/>
              <p:cNvCxnSpPr/>
              <p:nvPr/>
            </p:nvCxnSpPr>
            <p:spPr>
              <a:xfrm>
                <a:off x="240" y="1580"/>
                <a:ext cx="0" cy="848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直接连接符 14"/>
              <p:cNvCxnSpPr/>
              <p:nvPr/>
            </p:nvCxnSpPr>
            <p:spPr>
              <a:xfrm>
                <a:off x="4025" y="1580"/>
                <a:ext cx="0" cy="848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直接连接符 15"/>
              <p:cNvCxnSpPr/>
              <p:nvPr/>
            </p:nvCxnSpPr>
            <p:spPr>
              <a:xfrm>
                <a:off x="7326" y="1580"/>
                <a:ext cx="0" cy="848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" name="文本框 16"/>
              <p:cNvSpPr txBox="1"/>
              <p:nvPr/>
            </p:nvSpPr>
            <p:spPr>
              <a:xfrm>
                <a:off x="7757" y="1545"/>
                <a:ext cx="2007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i="1" dirty="0">
                    <a:solidFill>
                      <a:schemeClr val="accent2">
                        <a:lumMod val="50000"/>
                      </a:schemeClr>
                    </a:solidFill>
                  </a:rPr>
                  <a:t>JK</a:t>
                </a: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触发器</a:t>
                </a: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7975" y="4810"/>
                <a:ext cx="1831" cy="10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1800" b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 </a:t>
                </a:r>
                <a:r>
                  <a:rPr lang="zh-CN" altLang="en-US" sz="1800" b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脉冲触发</a:t>
                </a:r>
                <a:r>
                  <a:rPr lang="en-US" altLang="zh-CN" sz="1800" b="1" i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JK</a:t>
                </a:r>
                <a:r>
                  <a:rPr lang="zh-CN" altLang="en-US" sz="1800" b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触发器</a:t>
                </a:r>
              </a:p>
            </p:txBody>
          </p:sp>
          <p:cxnSp>
            <p:nvCxnSpPr>
              <p:cNvPr id="21" name="直接连接符 20"/>
              <p:cNvCxnSpPr/>
              <p:nvPr/>
            </p:nvCxnSpPr>
            <p:spPr>
              <a:xfrm>
                <a:off x="10455" y="1580"/>
                <a:ext cx="0" cy="848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直接连接符 21"/>
              <p:cNvCxnSpPr/>
              <p:nvPr/>
            </p:nvCxnSpPr>
            <p:spPr>
              <a:xfrm>
                <a:off x="13401" y="1580"/>
                <a:ext cx="0" cy="848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" name="文本框 22"/>
              <p:cNvSpPr txBox="1"/>
              <p:nvPr/>
            </p:nvSpPr>
            <p:spPr>
              <a:xfrm>
                <a:off x="10828" y="1580"/>
                <a:ext cx="2007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i="1" dirty="0">
                    <a:solidFill>
                      <a:schemeClr val="accent2">
                        <a:lumMod val="50000"/>
                      </a:schemeClr>
                    </a:solidFill>
                  </a:rPr>
                  <a:t>T</a:t>
                </a: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触发器</a:t>
                </a: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11013" y="4833"/>
                <a:ext cx="1831" cy="10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1800" b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 </a:t>
                </a:r>
                <a:r>
                  <a:rPr lang="zh-CN" altLang="en-US" sz="1800" b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脉冲触发</a:t>
                </a:r>
                <a:r>
                  <a:rPr lang="en-US" altLang="zh-CN" sz="1800" b="1" i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T</a:t>
                </a:r>
                <a:r>
                  <a:rPr lang="zh-CN" altLang="en-US" sz="1800" b="1">
                    <a:solidFill>
                      <a:schemeClr val="tx1"/>
                    </a:solidFill>
                    <a:latin typeface="Times New Roman" panose="02020603050405020304" charset="0"/>
                    <a:ea typeface="Calibri" panose="020F0502020204030204"/>
                    <a:cs typeface="Times New Roman" panose="02020603050405020304" charset="0"/>
                    <a:sym typeface="+mn-ea"/>
                  </a:rPr>
                  <a:t>触发器</a:t>
                </a: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11009" y="7427"/>
                <a:ext cx="2135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1800" b="1">
                    <a:solidFill>
                      <a:srgbClr val="00B050"/>
                    </a:solidFill>
                    <a:effectLst/>
                    <a:sym typeface="+mn-ea"/>
                  </a:rPr>
                  <a:t>(</a:t>
                </a:r>
                <a:r>
                  <a:rPr lang="en-US" altLang="zh-CN" sz="1800" b="1" i="1">
                    <a:solidFill>
                      <a:srgbClr val="00B050"/>
                    </a:solidFill>
                    <a:effectLst/>
                    <a:sym typeface="+mn-ea"/>
                  </a:rPr>
                  <a:t>T</a:t>
                </a:r>
                <a:r>
                  <a:rPr lang="en-US" altLang="zh-CN" sz="1800" b="1">
                    <a:solidFill>
                      <a:srgbClr val="00B050"/>
                    </a:solidFill>
                    <a:effectLst/>
                    <a:sym typeface="+mn-ea"/>
                  </a:rPr>
                  <a:t>=</a:t>
                </a:r>
                <a:r>
                  <a:rPr lang="en-US" altLang="zh-CN" sz="1800" b="1" i="1">
                    <a:solidFill>
                      <a:srgbClr val="00B050"/>
                    </a:solidFill>
                    <a:effectLst/>
                    <a:sym typeface="+mn-ea"/>
                  </a:rPr>
                  <a:t>J</a:t>
                </a:r>
                <a:r>
                  <a:rPr lang="en-US" altLang="zh-CN" sz="1800" b="1">
                    <a:solidFill>
                      <a:srgbClr val="00B050"/>
                    </a:solidFill>
                    <a:effectLst/>
                    <a:sym typeface="+mn-ea"/>
                  </a:rPr>
                  <a:t>=</a:t>
                </a:r>
                <a:r>
                  <a:rPr lang="en-US" altLang="zh-CN" sz="1800" b="1" i="1">
                    <a:solidFill>
                      <a:srgbClr val="00B050"/>
                    </a:solidFill>
                    <a:effectLst/>
                    <a:sym typeface="+mn-ea"/>
                  </a:rPr>
                  <a:t>K</a:t>
                </a:r>
                <a:r>
                  <a:rPr lang="en-US" altLang="zh-CN" sz="1800" b="1">
                    <a:solidFill>
                      <a:srgbClr val="00B050"/>
                    </a:solidFill>
                    <a:effectLst/>
                    <a:sym typeface="+mn-ea"/>
                  </a:rPr>
                  <a:t>)</a:t>
                </a:r>
              </a:p>
            </p:txBody>
          </p:sp>
          <p:cxnSp>
            <p:nvCxnSpPr>
              <p:cNvPr id="27" name="直接连接符 26"/>
              <p:cNvCxnSpPr/>
              <p:nvPr/>
            </p:nvCxnSpPr>
            <p:spPr>
              <a:xfrm>
                <a:off x="247" y="8007"/>
                <a:ext cx="13146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8" name="文本框 27"/>
              <p:cNvSpPr txBox="1"/>
              <p:nvPr/>
            </p:nvSpPr>
            <p:spPr>
              <a:xfrm>
                <a:off x="755" y="8349"/>
                <a:ext cx="2817" cy="10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1800" b="1" i="1">
                    <a:solidFill>
                      <a:schemeClr val="tx1"/>
                    </a:solidFill>
                    <a:effectLst/>
                    <a:sym typeface="+mn-ea"/>
                  </a:rPr>
                  <a:t>Q*</a:t>
                </a:r>
                <a:r>
                  <a:rPr lang="en-US" altLang="zh-CN" sz="1800" b="1">
                    <a:solidFill>
                      <a:schemeClr val="tx1"/>
                    </a:solidFill>
                    <a:effectLst/>
                    <a:sym typeface="+mn-ea"/>
                  </a:rPr>
                  <a:t>=</a:t>
                </a:r>
                <a:r>
                  <a:rPr lang="en-US" altLang="zh-CN" sz="1800" b="1" i="1">
                    <a:solidFill>
                      <a:schemeClr val="tx1"/>
                    </a:solidFill>
                    <a:effectLst/>
                    <a:sym typeface="+mn-ea"/>
                  </a:rPr>
                  <a:t>S</a:t>
                </a:r>
                <a:r>
                  <a:rPr lang="en-US" altLang="zh-CN" sz="1800" b="1">
                    <a:solidFill>
                      <a:schemeClr val="tx1"/>
                    </a:solidFill>
                    <a:effectLst/>
                    <a:sym typeface="+mn-ea"/>
                  </a:rPr>
                  <a:t>+</a:t>
                </a:r>
                <a:r>
                  <a:rPr lang="en-US" altLang="zh-CN" sz="1800" b="1" i="1">
                    <a:solidFill>
                      <a:schemeClr val="tx1"/>
                    </a:solidFill>
                    <a:effectLst/>
                    <a:sym typeface="+mn-ea"/>
                  </a:rPr>
                  <a:t>R</a:t>
                </a:r>
                <a:r>
                  <a:rPr lang="en-US" altLang="zh-CN" sz="1800" b="1">
                    <a:solidFill>
                      <a:schemeClr val="tx1"/>
                    </a:solidFill>
                    <a:effectLst/>
                    <a:sym typeface="+mn-ea"/>
                  </a:rPr>
                  <a:t>’</a:t>
                </a:r>
                <a:r>
                  <a:rPr lang="en-US" altLang="zh-CN" sz="1800" b="1" i="1">
                    <a:solidFill>
                      <a:schemeClr val="tx1"/>
                    </a:solidFill>
                    <a:effectLst/>
                    <a:sym typeface="+mn-ea"/>
                  </a:rPr>
                  <a:t>Q</a:t>
                </a:r>
              </a:p>
              <a:p>
                <a:r>
                  <a:rPr lang="en-US" altLang="zh-CN" sz="1800" b="1" i="1">
                    <a:solidFill>
                      <a:schemeClr val="tx1"/>
                    </a:solidFill>
                    <a:effectLst/>
                    <a:sym typeface="+mn-ea"/>
                  </a:rPr>
                  <a:t>SR</a:t>
                </a:r>
                <a:r>
                  <a:rPr lang="en-US" altLang="zh-CN" sz="1800" b="1">
                    <a:solidFill>
                      <a:schemeClr val="tx1"/>
                    </a:solidFill>
                    <a:effectLst/>
                    <a:sym typeface="+mn-ea"/>
                  </a:rPr>
                  <a:t>=0(</a:t>
                </a:r>
                <a:r>
                  <a:rPr lang="zh-CN" altLang="en-US" sz="1800" b="1">
                    <a:solidFill>
                      <a:schemeClr val="tx1"/>
                    </a:solidFill>
                    <a:effectLst/>
                    <a:sym typeface="+mn-ea"/>
                  </a:rPr>
                  <a:t>约束条件</a:t>
                </a:r>
                <a:r>
                  <a:rPr lang="en-US" altLang="zh-CN" sz="1800" b="1">
                    <a:solidFill>
                      <a:schemeClr val="tx1"/>
                    </a:solidFill>
                    <a:effectLst/>
                    <a:sym typeface="+mn-ea"/>
                  </a:rPr>
                  <a:t>)</a:t>
                </a: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630" y="8463"/>
                <a:ext cx="2091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1800" b="1" i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Q*</a:t>
                </a:r>
                <a:r>
                  <a:rPr lang="en-US" altLang="zh-CN" sz="1800" b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=</a:t>
                </a:r>
                <a:r>
                  <a:rPr lang="en-US" altLang="zh-CN" sz="1800" b="1" i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D</a:t>
                </a: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7653" y="8482"/>
                <a:ext cx="2768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1800" b="1" i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Q*</a:t>
                </a:r>
                <a:r>
                  <a:rPr lang="en-US" altLang="zh-CN" sz="1800" b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=</a:t>
                </a:r>
                <a:r>
                  <a:rPr lang="en-US" altLang="zh-CN" sz="1800" b="1" i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JQ’</a:t>
                </a:r>
                <a:r>
                  <a:rPr lang="en-US" altLang="zh-CN" sz="1800" b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+</a:t>
                </a:r>
                <a:r>
                  <a:rPr lang="en-US" altLang="zh-CN" sz="1800" b="1" i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K</a:t>
                </a:r>
                <a:r>
                  <a:rPr lang="en-US" altLang="zh-CN" sz="1800" b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’</a:t>
                </a:r>
                <a:r>
                  <a:rPr lang="en-US" altLang="zh-CN" sz="1800" b="1" i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Q</a:t>
                </a: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10666" y="8474"/>
                <a:ext cx="2768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1800" b="1" i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Q*</a:t>
                </a:r>
                <a:r>
                  <a:rPr lang="en-US" altLang="zh-CN" sz="1800" b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=</a:t>
                </a:r>
                <a:r>
                  <a:rPr lang="en-US" altLang="zh-CN" sz="1800" b="1" i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TQ’</a:t>
                </a:r>
                <a:r>
                  <a:rPr lang="en-US" altLang="zh-CN" sz="1800" b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+</a:t>
                </a:r>
                <a:r>
                  <a:rPr lang="en-US" altLang="zh-CN" sz="1800" b="1" i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T</a:t>
                </a:r>
                <a:r>
                  <a:rPr lang="en-US" altLang="zh-CN" sz="1800" b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’</a:t>
                </a:r>
                <a:r>
                  <a:rPr lang="en-US" altLang="zh-CN" sz="1800" b="1" i="1">
                    <a:solidFill>
                      <a:schemeClr val="accent2">
                        <a:lumMod val="50000"/>
                      </a:schemeClr>
                    </a:solidFill>
                    <a:effectLst/>
                    <a:sym typeface="+mn-ea"/>
                  </a:rPr>
                  <a:t>Q</a:t>
                </a:r>
              </a:p>
            </p:txBody>
          </p:sp>
          <p:cxnSp>
            <p:nvCxnSpPr>
              <p:cNvPr id="32" name="直接连接符 31"/>
              <p:cNvCxnSpPr/>
              <p:nvPr/>
            </p:nvCxnSpPr>
            <p:spPr>
              <a:xfrm>
                <a:off x="248" y="10053"/>
                <a:ext cx="13146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" name="文本框 1"/>
          <p:cNvSpPr txBox="1"/>
          <p:nvPr/>
        </p:nvSpPr>
        <p:spPr>
          <a:xfrm>
            <a:off x="4859655" y="1431290"/>
            <a:ext cx="359346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注意：</a:t>
            </a:r>
            <a:r>
              <a:rPr lang="zh-CN" altLang="en-US" sz="1800" b="1">
                <a:solidFill>
                  <a:srgbClr val="FF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边沿触发方式为上升沿，脉冲触发方式为下降沿，若</a:t>
            </a:r>
            <a:r>
              <a:rPr lang="en-US" altLang="zh-CN" sz="1800" b="1">
                <a:solidFill>
                  <a:srgbClr val="FF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CLK</a:t>
            </a:r>
            <a:r>
              <a:rPr lang="zh-CN" altLang="en-US" sz="1800" b="1">
                <a:solidFill>
                  <a:srgbClr val="FF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在加入反相器，触发方式翻转。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31635" y="2377440"/>
            <a:ext cx="17189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800" b="1" i="1">
                <a:solidFill>
                  <a:srgbClr val="00B050"/>
                </a:solidFill>
                <a:sym typeface="+mn-ea"/>
              </a:rPr>
              <a:t>T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=0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：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 </a:t>
            </a:r>
            <a:r>
              <a:rPr lang="en-US" altLang="zh-CN" sz="1800" b="1" i="1">
                <a:solidFill>
                  <a:srgbClr val="00B050"/>
                </a:solidFill>
                <a:sym typeface="+mn-ea"/>
              </a:rPr>
              <a:t>Q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保持</a:t>
            </a:r>
          </a:p>
          <a:p>
            <a:r>
              <a:rPr lang="en-US" altLang="zh-CN" sz="1800" b="1" i="1">
                <a:solidFill>
                  <a:srgbClr val="00B050"/>
                </a:solidFill>
                <a:sym typeface="+mn-ea"/>
              </a:rPr>
              <a:t>T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=1 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：</a:t>
            </a:r>
            <a:r>
              <a:rPr lang="en-US" altLang="zh-CN" sz="1800" b="1" i="1">
                <a:solidFill>
                  <a:srgbClr val="00B050"/>
                </a:solidFill>
                <a:sym typeface="+mn-ea"/>
              </a:rPr>
              <a:t>Q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计数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0" y="476885"/>
            <a:ext cx="654240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第五章：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触发器的种类与特性方程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476885"/>
            <a:ext cx="7331710" cy="2521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35" y="3213100"/>
            <a:ext cx="7311390" cy="500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780" y="3713480"/>
            <a:ext cx="6487160" cy="24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476885"/>
            <a:ext cx="7731760" cy="35382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" name="组合 35"/>
          <p:cNvGrpSpPr/>
          <p:nvPr/>
        </p:nvGrpSpPr>
        <p:grpSpPr>
          <a:xfrm>
            <a:off x="3923665" y="765175"/>
            <a:ext cx="4498975" cy="5974080"/>
            <a:chOff x="2211" y="297"/>
            <a:chExt cx="7085" cy="9408"/>
          </a:xfrm>
        </p:grpSpPr>
        <p:pic>
          <p:nvPicPr>
            <p:cNvPr id="114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11" y="297"/>
              <a:ext cx="7085" cy="940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" name="直接箭头连接符 3"/>
            <p:cNvCxnSpPr/>
            <p:nvPr/>
          </p:nvCxnSpPr>
          <p:spPr>
            <a:xfrm flipV="1">
              <a:off x="3387" y="8733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5" name="文本框 4"/>
            <p:cNvSpPr txBox="1"/>
            <p:nvPr/>
          </p:nvSpPr>
          <p:spPr>
            <a:xfrm>
              <a:off x="2566" y="9125"/>
              <a:ext cx="136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i="1">
                  <a:solidFill>
                    <a:schemeClr val="accent2">
                      <a:lumMod val="50000"/>
                    </a:schemeClr>
                  </a:solidFill>
                </a:rPr>
                <a:t>Q</a:t>
              </a:r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 = 0/K</a:t>
              </a:r>
            </a:p>
          </p:txBody>
        </p:sp>
        <p:cxnSp>
          <p:nvCxnSpPr>
            <p:cNvPr id="6" name="直接箭头连接符 5"/>
            <p:cNvCxnSpPr/>
            <p:nvPr/>
          </p:nvCxnSpPr>
          <p:spPr>
            <a:xfrm flipV="1">
              <a:off x="3755" y="8733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7" name="文本框 6"/>
            <p:cNvSpPr txBox="1"/>
            <p:nvPr/>
          </p:nvSpPr>
          <p:spPr>
            <a:xfrm>
              <a:off x="3621" y="9125"/>
              <a:ext cx="55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3714" y="1620"/>
              <a:ext cx="0" cy="696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9" name="直接箭头连接符 8"/>
            <p:cNvCxnSpPr/>
            <p:nvPr/>
          </p:nvCxnSpPr>
          <p:spPr>
            <a:xfrm flipV="1">
              <a:off x="3714" y="977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0" name="直接连接符 9"/>
            <p:cNvCxnSpPr/>
            <p:nvPr/>
          </p:nvCxnSpPr>
          <p:spPr>
            <a:xfrm>
              <a:off x="4734" y="1544"/>
              <a:ext cx="0" cy="696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1" name="直接连接符 10"/>
            <p:cNvCxnSpPr/>
            <p:nvPr/>
          </p:nvCxnSpPr>
          <p:spPr>
            <a:xfrm>
              <a:off x="5698" y="1544"/>
              <a:ext cx="0" cy="696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" name="直接连接符 11"/>
            <p:cNvCxnSpPr/>
            <p:nvPr/>
          </p:nvCxnSpPr>
          <p:spPr>
            <a:xfrm>
              <a:off x="6690" y="1658"/>
              <a:ext cx="0" cy="696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3" name="直接连接符 12"/>
            <p:cNvCxnSpPr/>
            <p:nvPr/>
          </p:nvCxnSpPr>
          <p:spPr>
            <a:xfrm>
              <a:off x="7694" y="1658"/>
              <a:ext cx="0" cy="696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4" name="直接箭头连接符 13"/>
            <p:cNvCxnSpPr/>
            <p:nvPr/>
          </p:nvCxnSpPr>
          <p:spPr>
            <a:xfrm flipV="1">
              <a:off x="4408" y="8761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5" name="文本框 14"/>
            <p:cNvSpPr txBox="1"/>
            <p:nvPr/>
          </p:nvSpPr>
          <p:spPr>
            <a:xfrm>
              <a:off x="4183" y="9153"/>
              <a:ext cx="51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K</a:t>
              </a:r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V="1">
              <a:off x="4734" y="977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7" name="直接箭头连接符 16"/>
            <p:cNvCxnSpPr/>
            <p:nvPr/>
          </p:nvCxnSpPr>
          <p:spPr>
            <a:xfrm flipV="1">
              <a:off x="5698" y="977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8" name="直接箭头连接符 17"/>
            <p:cNvCxnSpPr/>
            <p:nvPr/>
          </p:nvCxnSpPr>
          <p:spPr>
            <a:xfrm flipV="1">
              <a:off x="6690" y="977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9" name="直接箭头连接符 18"/>
            <p:cNvCxnSpPr/>
            <p:nvPr/>
          </p:nvCxnSpPr>
          <p:spPr>
            <a:xfrm flipV="1">
              <a:off x="7694" y="977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0" name="直接箭头连接符 19"/>
            <p:cNvCxnSpPr/>
            <p:nvPr/>
          </p:nvCxnSpPr>
          <p:spPr>
            <a:xfrm flipV="1">
              <a:off x="4703" y="8761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21" name="文本框 20"/>
            <p:cNvSpPr txBox="1"/>
            <p:nvPr/>
          </p:nvSpPr>
          <p:spPr>
            <a:xfrm>
              <a:off x="4479" y="9153"/>
              <a:ext cx="554" cy="48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</a:p>
          </p:txBody>
        </p:sp>
        <p:cxnSp>
          <p:nvCxnSpPr>
            <p:cNvPr id="22" name="直接箭头连接符 21"/>
            <p:cNvCxnSpPr/>
            <p:nvPr/>
          </p:nvCxnSpPr>
          <p:spPr>
            <a:xfrm flipV="1">
              <a:off x="5429" y="8761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23" name="文本框 22"/>
            <p:cNvSpPr txBox="1"/>
            <p:nvPr/>
          </p:nvSpPr>
          <p:spPr>
            <a:xfrm>
              <a:off x="5236" y="9181"/>
              <a:ext cx="51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K</a:t>
              </a:r>
            </a:p>
          </p:txBody>
        </p:sp>
        <p:cxnSp>
          <p:nvCxnSpPr>
            <p:cNvPr id="24" name="直接箭头连接符 23"/>
            <p:cNvCxnSpPr/>
            <p:nvPr/>
          </p:nvCxnSpPr>
          <p:spPr>
            <a:xfrm flipV="1">
              <a:off x="5715" y="8750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25" name="文本框 24"/>
            <p:cNvSpPr txBox="1"/>
            <p:nvPr/>
          </p:nvSpPr>
          <p:spPr>
            <a:xfrm>
              <a:off x="5491" y="9142"/>
              <a:ext cx="554" cy="48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0</a:t>
              </a:r>
            </a:p>
          </p:txBody>
        </p:sp>
        <p:cxnSp>
          <p:nvCxnSpPr>
            <p:cNvPr id="26" name="直接箭头连接符 25"/>
            <p:cNvCxnSpPr/>
            <p:nvPr/>
          </p:nvCxnSpPr>
          <p:spPr>
            <a:xfrm flipV="1">
              <a:off x="6423" y="8789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27" name="文本框 26"/>
            <p:cNvSpPr txBox="1"/>
            <p:nvPr/>
          </p:nvSpPr>
          <p:spPr>
            <a:xfrm>
              <a:off x="6198" y="9181"/>
              <a:ext cx="51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K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494" y="9181"/>
              <a:ext cx="554" cy="48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</a:p>
          </p:txBody>
        </p:sp>
        <p:cxnSp>
          <p:nvCxnSpPr>
            <p:cNvPr id="29" name="直接箭头连接符 28"/>
            <p:cNvCxnSpPr/>
            <p:nvPr/>
          </p:nvCxnSpPr>
          <p:spPr>
            <a:xfrm flipV="1">
              <a:off x="6727" y="8789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30" name="直接箭头连接符 29"/>
            <p:cNvCxnSpPr/>
            <p:nvPr/>
          </p:nvCxnSpPr>
          <p:spPr>
            <a:xfrm flipV="1">
              <a:off x="7397" y="8761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31" name="直接箭头连接符 30"/>
            <p:cNvCxnSpPr/>
            <p:nvPr/>
          </p:nvCxnSpPr>
          <p:spPr>
            <a:xfrm flipV="1">
              <a:off x="7706" y="8761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32" name="文本框 31"/>
            <p:cNvSpPr txBox="1"/>
            <p:nvPr/>
          </p:nvSpPr>
          <p:spPr>
            <a:xfrm>
              <a:off x="6863" y="9170"/>
              <a:ext cx="106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K/0/K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606" y="9170"/>
              <a:ext cx="466" cy="4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0</a:t>
              </a:r>
            </a:p>
          </p:txBody>
        </p:sp>
        <p:cxnSp>
          <p:nvCxnSpPr>
            <p:cNvPr id="34" name="直接箭头连接符 33"/>
            <p:cNvCxnSpPr/>
            <p:nvPr/>
          </p:nvCxnSpPr>
          <p:spPr>
            <a:xfrm flipV="1">
              <a:off x="8376" y="8750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35" name="文本框 34"/>
            <p:cNvSpPr txBox="1"/>
            <p:nvPr/>
          </p:nvSpPr>
          <p:spPr>
            <a:xfrm>
              <a:off x="8151" y="9142"/>
              <a:ext cx="51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K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95" y="404495"/>
            <a:ext cx="8112760" cy="37426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" name="组合 109"/>
          <p:cNvGrpSpPr/>
          <p:nvPr/>
        </p:nvGrpSpPr>
        <p:grpSpPr>
          <a:xfrm>
            <a:off x="3995420" y="668655"/>
            <a:ext cx="4903470" cy="6282690"/>
            <a:chOff x="1871" y="586"/>
            <a:chExt cx="7722" cy="9894"/>
          </a:xfrm>
        </p:grpSpPr>
        <p:grpSp>
          <p:nvGrpSpPr>
            <p:cNvPr id="4" name="组合 3"/>
            <p:cNvGrpSpPr/>
            <p:nvPr/>
          </p:nvGrpSpPr>
          <p:grpSpPr>
            <a:xfrm>
              <a:off x="1871" y="586"/>
              <a:ext cx="7722" cy="9895"/>
              <a:chOff x="1871" y="586"/>
              <a:chExt cx="7722" cy="9895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3"/>
              <a:srcRect b="-654"/>
              <a:stretch>
                <a:fillRect/>
              </a:stretch>
            </p:blipFill>
            <p:spPr>
              <a:xfrm>
                <a:off x="1871" y="586"/>
                <a:ext cx="7722" cy="9690"/>
              </a:xfrm>
              <a:prstGeom prst="rect">
                <a:avLst/>
              </a:prstGeom>
            </p:spPr>
          </p:pic>
          <p:cxnSp>
            <p:nvCxnSpPr>
              <p:cNvPr id="6" name="直接箭头连接符 5"/>
              <p:cNvCxnSpPr/>
              <p:nvPr/>
            </p:nvCxnSpPr>
            <p:spPr>
              <a:xfrm flipV="1">
                <a:off x="3145" y="9544"/>
                <a:ext cx="0" cy="42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7" name="文本框 6"/>
              <p:cNvSpPr txBox="1"/>
              <p:nvPr/>
            </p:nvSpPr>
            <p:spPr>
              <a:xfrm>
                <a:off x="2098" y="9936"/>
                <a:ext cx="1365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i="1">
                    <a:solidFill>
                      <a:schemeClr val="accent2">
                        <a:lumMod val="50000"/>
                      </a:schemeClr>
                    </a:solidFill>
                  </a:rPr>
                  <a:t>Q</a:t>
                </a:r>
                <a:r>
                  <a:rPr lang="en-US" altLang="zh-CN" sz="1400" baseline="-25000">
                    <a:solidFill>
                      <a:schemeClr val="accent2">
                        <a:lumMod val="50000"/>
                      </a:schemeClr>
                    </a:solidFill>
                  </a:rPr>
                  <a:t>1</a:t>
                </a:r>
                <a:r>
                  <a:rPr lang="en-US" altLang="zh-CN" sz="1400">
                    <a:solidFill>
                      <a:schemeClr val="accent2">
                        <a:lumMod val="50000"/>
                      </a:schemeClr>
                    </a:solidFill>
                  </a:rPr>
                  <a:t> = 0/K</a:t>
                </a:r>
              </a:p>
            </p:txBody>
          </p:sp>
          <p:cxnSp>
            <p:nvCxnSpPr>
              <p:cNvPr id="8" name="直接箭头连接符 7"/>
              <p:cNvCxnSpPr/>
              <p:nvPr/>
            </p:nvCxnSpPr>
            <p:spPr>
              <a:xfrm flipV="1">
                <a:off x="3685" y="9544"/>
                <a:ext cx="0" cy="42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9" name="直接连接符 8"/>
              <p:cNvCxnSpPr/>
              <p:nvPr/>
            </p:nvCxnSpPr>
            <p:spPr>
              <a:xfrm>
                <a:off x="3923" y="1771"/>
                <a:ext cx="0" cy="696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" name="直接连接符 9"/>
              <p:cNvCxnSpPr/>
              <p:nvPr/>
            </p:nvCxnSpPr>
            <p:spPr>
              <a:xfrm>
                <a:off x="5000" y="1851"/>
                <a:ext cx="0" cy="696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" name="直接连接符 10"/>
              <p:cNvCxnSpPr/>
              <p:nvPr/>
            </p:nvCxnSpPr>
            <p:spPr>
              <a:xfrm>
                <a:off x="6094" y="1918"/>
                <a:ext cx="0" cy="696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直接连接符 11"/>
              <p:cNvCxnSpPr/>
              <p:nvPr/>
            </p:nvCxnSpPr>
            <p:spPr>
              <a:xfrm>
                <a:off x="8249" y="1918"/>
                <a:ext cx="0" cy="696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" name="文本框 12"/>
              <p:cNvSpPr txBox="1"/>
              <p:nvPr/>
            </p:nvSpPr>
            <p:spPr>
              <a:xfrm>
                <a:off x="3482" y="9964"/>
                <a:ext cx="55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solidFill>
                      <a:schemeClr val="accent2">
                        <a:lumMod val="50000"/>
                      </a:schemeClr>
                    </a:solidFill>
                  </a:rPr>
                  <a:t>1</a:t>
                </a:r>
              </a:p>
            </p:txBody>
          </p:sp>
          <p:cxnSp>
            <p:nvCxnSpPr>
              <p:cNvPr id="14" name="直接箭头连接符 13"/>
              <p:cNvCxnSpPr/>
              <p:nvPr/>
            </p:nvCxnSpPr>
            <p:spPr>
              <a:xfrm flipH="1" flipV="1">
                <a:off x="3923" y="9516"/>
                <a:ext cx="102" cy="30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15" name="直接箭头连接符 14"/>
              <p:cNvCxnSpPr/>
              <p:nvPr/>
            </p:nvCxnSpPr>
            <p:spPr>
              <a:xfrm flipV="1">
                <a:off x="4705" y="9579"/>
                <a:ext cx="0" cy="42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16" name="文本框 15"/>
              <p:cNvSpPr txBox="1"/>
              <p:nvPr/>
            </p:nvSpPr>
            <p:spPr>
              <a:xfrm>
                <a:off x="4252" y="9964"/>
                <a:ext cx="1045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solidFill>
                      <a:schemeClr val="accent2">
                        <a:lumMod val="50000"/>
                      </a:schemeClr>
                    </a:solidFill>
                  </a:rPr>
                  <a:t>1/0/K</a:t>
                </a:r>
              </a:p>
            </p:txBody>
          </p:sp>
          <p:cxnSp>
            <p:nvCxnSpPr>
              <p:cNvPr id="17" name="直接箭头连接符 16"/>
              <p:cNvCxnSpPr/>
              <p:nvPr/>
            </p:nvCxnSpPr>
            <p:spPr>
              <a:xfrm flipV="1">
                <a:off x="5839" y="9614"/>
                <a:ext cx="0" cy="42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18" name="文本框 17"/>
              <p:cNvSpPr txBox="1"/>
              <p:nvPr/>
            </p:nvSpPr>
            <p:spPr>
              <a:xfrm>
                <a:off x="5499" y="9936"/>
                <a:ext cx="858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solidFill>
                      <a:schemeClr val="accent2">
                        <a:lumMod val="50000"/>
                      </a:schemeClr>
                    </a:solidFill>
                  </a:rPr>
                  <a:t>1/K</a:t>
                </a:r>
              </a:p>
            </p:txBody>
          </p:sp>
          <p:cxnSp>
            <p:nvCxnSpPr>
              <p:cNvPr id="19" name="直接箭头连接符 18"/>
              <p:cNvCxnSpPr/>
              <p:nvPr/>
            </p:nvCxnSpPr>
            <p:spPr>
              <a:xfrm flipH="1" flipV="1">
                <a:off x="5045" y="9579"/>
                <a:ext cx="102" cy="30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20" name="直接箭头连接符 19"/>
              <p:cNvCxnSpPr/>
              <p:nvPr/>
            </p:nvCxnSpPr>
            <p:spPr>
              <a:xfrm flipH="1" flipV="1">
                <a:off x="6094" y="9579"/>
                <a:ext cx="102" cy="30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21" name="直接箭头连接符 20"/>
              <p:cNvCxnSpPr/>
              <p:nvPr/>
            </p:nvCxnSpPr>
            <p:spPr>
              <a:xfrm flipV="1">
                <a:off x="6860" y="9614"/>
                <a:ext cx="0" cy="42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22" name="文本框 21"/>
              <p:cNvSpPr txBox="1"/>
              <p:nvPr/>
            </p:nvSpPr>
            <p:spPr>
              <a:xfrm>
                <a:off x="6520" y="9999"/>
                <a:ext cx="858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solidFill>
                      <a:schemeClr val="accent2">
                        <a:lumMod val="50000"/>
                      </a:schemeClr>
                    </a:solidFill>
                  </a:rPr>
                  <a:t>1/1</a:t>
                </a:r>
              </a:p>
            </p:txBody>
          </p:sp>
          <p:cxnSp>
            <p:nvCxnSpPr>
              <p:cNvPr id="23" name="直接箭头连接符 22"/>
              <p:cNvCxnSpPr/>
              <p:nvPr/>
            </p:nvCxnSpPr>
            <p:spPr>
              <a:xfrm flipH="1" flipV="1">
                <a:off x="7200" y="9544"/>
                <a:ext cx="102" cy="30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24" name="文本框 23"/>
              <p:cNvSpPr txBox="1"/>
              <p:nvPr/>
            </p:nvSpPr>
            <p:spPr>
              <a:xfrm>
                <a:off x="3911" y="9681"/>
                <a:ext cx="55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solidFill>
                      <a:srgbClr val="33CC33"/>
                    </a:solidFill>
                  </a:rPr>
                  <a:t>1</a:t>
                </a: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5045" y="9681"/>
                <a:ext cx="55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solidFill>
                      <a:srgbClr val="33CC33"/>
                    </a:solidFill>
                  </a:rPr>
                  <a:t>0</a:t>
                </a: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6066" y="9709"/>
                <a:ext cx="55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solidFill>
                      <a:srgbClr val="33CC33"/>
                    </a:solidFill>
                  </a:rPr>
                  <a:t>1</a:t>
                </a: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7189" y="9709"/>
                <a:ext cx="55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solidFill>
                      <a:srgbClr val="33CC33"/>
                    </a:solidFill>
                  </a:rPr>
                  <a:t>1</a:t>
                </a:r>
              </a:p>
            </p:txBody>
          </p:sp>
          <p:cxnSp>
            <p:nvCxnSpPr>
              <p:cNvPr id="28" name="直接箭头连接符 27"/>
              <p:cNvCxnSpPr/>
              <p:nvPr/>
            </p:nvCxnSpPr>
            <p:spPr>
              <a:xfrm flipV="1">
                <a:off x="7540" y="9642"/>
                <a:ext cx="0" cy="42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29" name="文本框 28"/>
              <p:cNvSpPr txBox="1"/>
              <p:nvPr/>
            </p:nvSpPr>
            <p:spPr>
              <a:xfrm>
                <a:off x="7302" y="9964"/>
                <a:ext cx="593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solidFill>
                      <a:schemeClr val="accent2">
                        <a:lumMod val="50000"/>
                      </a:schemeClr>
                    </a:solidFill>
                  </a:rPr>
                  <a:t>K</a:t>
                </a:r>
              </a:p>
            </p:txBody>
          </p:sp>
          <p:cxnSp>
            <p:nvCxnSpPr>
              <p:cNvPr id="30" name="直接箭头连接符 29"/>
              <p:cNvCxnSpPr/>
              <p:nvPr/>
            </p:nvCxnSpPr>
            <p:spPr>
              <a:xfrm flipV="1">
                <a:off x="7994" y="9607"/>
                <a:ext cx="0" cy="42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31" name="文本框 30"/>
              <p:cNvSpPr txBox="1"/>
              <p:nvPr/>
            </p:nvSpPr>
            <p:spPr>
              <a:xfrm>
                <a:off x="7767" y="9936"/>
                <a:ext cx="593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solidFill>
                      <a:schemeClr val="accent2">
                        <a:lumMod val="50000"/>
                      </a:schemeClr>
                    </a:solidFill>
                  </a:rPr>
                  <a:t>K</a:t>
                </a:r>
              </a:p>
            </p:txBody>
          </p:sp>
          <p:cxnSp>
            <p:nvCxnSpPr>
              <p:cNvPr id="32" name="直接箭头连接符 31"/>
              <p:cNvCxnSpPr/>
              <p:nvPr/>
            </p:nvCxnSpPr>
            <p:spPr>
              <a:xfrm flipH="1" flipV="1">
                <a:off x="8249" y="9516"/>
                <a:ext cx="102" cy="30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33" name="文本框 32"/>
              <p:cNvSpPr txBox="1"/>
              <p:nvPr/>
            </p:nvSpPr>
            <p:spPr>
              <a:xfrm>
                <a:off x="8221" y="9681"/>
                <a:ext cx="55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solidFill>
                      <a:srgbClr val="33CC33"/>
                    </a:solidFill>
                  </a:rPr>
                  <a:t>1</a:t>
                </a:r>
              </a:p>
            </p:txBody>
          </p:sp>
        </p:grpSp>
        <p:cxnSp>
          <p:nvCxnSpPr>
            <p:cNvPr id="104" name="直接箭头连接符 103"/>
            <p:cNvCxnSpPr/>
            <p:nvPr/>
          </p:nvCxnSpPr>
          <p:spPr>
            <a:xfrm>
              <a:off x="3929" y="1204"/>
              <a:ext cx="0" cy="48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05" name="直接箭头连接符 104"/>
            <p:cNvCxnSpPr/>
            <p:nvPr/>
          </p:nvCxnSpPr>
          <p:spPr>
            <a:xfrm>
              <a:off x="5018" y="1204"/>
              <a:ext cx="0" cy="48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06" name="直接箭头连接符 105"/>
            <p:cNvCxnSpPr/>
            <p:nvPr/>
          </p:nvCxnSpPr>
          <p:spPr>
            <a:xfrm>
              <a:off x="6095" y="1204"/>
              <a:ext cx="0" cy="48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07" name="直接箭头连接符 106"/>
            <p:cNvCxnSpPr/>
            <p:nvPr/>
          </p:nvCxnSpPr>
          <p:spPr>
            <a:xfrm>
              <a:off x="7172" y="1204"/>
              <a:ext cx="0" cy="48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08" name="直接箭头连接符 107"/>
            <p:cNvCxnSpPr/>
            <p:nvPr/>
          </p:nvCxnSpPr>
          <p:spPr>
            <a:xfrm>
              <a:off x="8249" y="1204"/>
              <a:ext cx="0" cy="48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09" name="直接连接符 108"/>
            <p:cNvCxnSpPr/>
            <p:nvPr/>
          </p:nvCxnSpPr>
          <p:spPr>
            <a:xfrm>
              <a:off x="7183" y="1885"/>
              <a:ext cx="0" cy="696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395" y="1169670"/>
            <a:ext cx="5088890" cy="3905885"/>
          </a:xfrm>
          <a:prstGeom prst="rect">
            <a:avLst/>
          </a:prstGeom>
        </p:spPr>
      </p:pic>
      <p:pic>
        <p:nvPicPr>
          <p:cNvPr id="156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548640"/>
            <a:ext cx="9063355" cy="6210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组合 39"/>
          <p:cNvGrpSpPr/>
          <p:nvPr/>
        </p:nvGrpSpPr>
        <p:grpSpPr>
          <a:xfrm>
            <a:off x="3736340" y="376555"/>
            <a:ext cx="4170680" cy="6457950"/>
            <a:chOff x="3798" y="637"/>
            <a:chExt cx="6568" cy="1017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98" y="637"/>
              <a:ext cx="6568" cy="10058"/>
            </a:xfrm>
            <a:prstGeom prst="rect">
              <a:avLst/>
            </a:prstGeom>
          </p:spPr>
        </p:pic>
        <p:cxnSp>
          <p:nvCxnSpPr>
            <p:cNvPr id="6" name="直接箭头连接符 5"/>
            <p:cNvCxnSpPr/>
            <p:nvPr/>
          </p:nvCxnSpPr>
          <p:spPr>
            <a:xfrm flipV="1">
              <a:off x="4932" y="9936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7" name="文本框 6"/>
            <p:cNvSpPr txBox="1"/>
            <p:nvPr/>
          </p:nvSpPr>
          <p:spPr>
            <a:xfrm>
              <a:off x="3912" y="10317"/>
              <a:ext cx="136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i="1">
                  <a:solidFill>
                    <a:schemeClr val="accent2">
                      <a:lumMod val="50000"/>
                    </a:schemeClr>
                  </a:solidFill>
                </a:rPr>
                <a:t>Q</a:t>
              </a:r>
              <a:r>
                <a:rPr lang="en-US" altLang="zh-CN" sz="1400" baseline="-25000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 = 1/K</a:t>
              </a:r>
            </a:p>
          </p:txBody>
        </p:sp>
        <p:cxnSp>
          <p:nvCxnSpPr>
            <p:cNvPr id="8" name="直接箭头连接符 7"/>
            <p:cNvCxnSpPr/>
            <p:nvPr/>
          </p:nvCxnSpPr>
          <p:spPr>
            <a:xfrm flipV="1">
              <a:off x="5386" y="9936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24" name="文本框 23"/>
            <p:cNvSpPr txBox="1"/>
            <p:nvPr/>
          </p:nvSpPr>
          <p:spPr>
            <a:xfrm>
              <a:off x="5499" y="10163"/>
              <a:ext cx="55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rgbClr val="33CC33"/>
                  </a:solidFill>
                </a:rPr>
                <a:t>0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494" y="10162"/>
              <a:ext cx="55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rgbClr val="33CC33"/>
                  </a:solidFill>
                </a:rPr>
                <a:t>0</a:t>
              </a: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5601" y="1011"/>
              <a:ext cx="3775" cy="8889"/>
              <a:chOff x="5556" y="1011"/>
              <a:chExt cx="4326" cy="8889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5556" y="1578"/>
                <a:ext cx="0" cy="828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" name="直接连接符 9"/>
              <p:cNvCxnSpPr/>
              <p:nvPr/>
            </p:nvCxnSpPr>
            <p:spPr>
              <a:xfrm>
                <a:off x="6633" y="1658"/>
                <a:ext cx="0" cy="824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" name="直接连接符 10"/>
              <p:cNvCxnSpPr/>
              <p:nvPr/>
            </p:nvCxnSpPr>
            <p:spPr>
              <a:xfrm>
                <a:off x="7727" y="1725"/>
                <a:ext cx="0" cy="8035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直接连接符 11"/>
              <p:cNvCxnSpPr/>
              <p:nvPr/>
            </p:nvCxnSpPr>
            <p:spPr>
              <a:xfrm>
                <a:off x="9882" y="1725"/>
                <a:ext cx="0" cy="8155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直接箭头连接符 103"/>
              <p:cNvCxnSpPr/>
              <p:nvPr/>
            </p:nvCxnSpPr>
            <p:spPr>
              <a:xfrm>
                <a:off x="5562" y="1011"/>
                <a:ext cx="0" cy="48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105" name="直接箭头连接符 104"/>
              <p:cNvCxnSpPr/>
              <p:nvPr/>
            </p:nvCxnSpPr>
            <p:spPr>
              <a:xfrm>
                <a:off x="6651" y="1011"/>
                <a:ext cx="0" cy="48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106" name="直接箭头连接符 105"/>
              <p:cNvCxnSpPr/>
              <p:nvPr/>
            </p:nvCxnSpPr>
            <p:spPr>
              <a:xfrm>
                <a:off x="7728" y="1011"/>
                <a:ext cx="0" cy="48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107" name="直接箭头连接符 106"/>
              <p:cNvCxnSpPr/>
              <p:nvPr/>
            </p:nvCxnSpPr>
            <p:spPr>
              <a:xfrm>
                <a:off x="8805" y="1011"/>
                <a:ext cx="0" cy="48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108" name="直接箭头连接符 107"/>
              <p:cNvCxnSpPr/>
              <p:nvPr/>
            </p:nvCxnSpPr>
            <p:spPr>
              <a:xfrm>
                <a:off x="9882" y="1011"/>
                <a:ext cx="0" cy="48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109" name="直接连接符 108"/>
              <p:cNvCxnSpPr/>
              <p:nvPr/>
            </p:nvCxnSpPr>
            <p:spPr>
              <a:xfrm>
                <a:off x="8816" y="1692"/>
                <a:ext cx="0" cy="81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4" name="文本框 13"/>
            <p:cNvSpPr txBox="1"/>
            <p:nvPr/>
          </p:nvSpPr>
          <p:spPr>
            <a:xfrm>
              <a:off x="5159" y="10317"/>
              <a:ext cx="55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0</a:t>
              </a:r>
            </a:p>
          </p:txBody>
        </p:sp>
        <p:cxnSp>
          <p:nvCxnSpPr>
            <p:cNvPr id="15" name="直接箭头连接符 14"/>
            <p:cNvCxnSpPr/>
            <p:nvPr/>
          </p:nvCxnSpPr>
          <p:spPr>
            <a:xfrm flipH="1" flipV="1">
              <a:off x="5604" y="9932"/>
              <a:ext cx="102" cy="30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7" name="直接箭头连接符 16"/>
            <p:cNvCxnSpPr/>
            <p:nvPr/>
          </p:nvCxnSpPr>
          <p:spPr>
            <a:xfrm flipV="1">
              <a:off x="6349" y="9904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8" name="文本框 17"/>
            <p:cNvSpPr txBox="1"/>
            <p:nvPr/>
          </p:nvSpPr>
          <p:spPr>
            <a:xfrm>
              <a:off x="6122" y="10285"/>
              <a:ext cx="55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H="1" flipV="1">
              <a:off x="6567" y="9900"/>
              <a:ext cx="102" cy="30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1" name="直接箭头连接符 20"/>
            <p:cNvCxnSpPr/>
            <p:nvPr/>
          </p:nvCxnSpPr>
          <p:spPr>
            <a:xfrm flipV="1">
              <a:off x="7312" y="9936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22" name="文本框 21"/>
            <p:cNvSpPr txBox="1"/>
            <p:nvPr/>
          </p:nvSpPr>
          <p:spPr>
            <a:xfrm>
              <a:off x="7087" y="10317"/>
              <a:ext cx="55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0</a:t>
              </a:r>
            </a:p>
          </p:txBody>
        </p:sp>
        <p:cxnSp>
          <p:nvCxnSpPr>
            <p:cNvPr id="23" name="直接箭头连接符 22"/>
            <p:cNvCxnSpPr/>
            <p:nvPr/>
          </p:nvCxnSpPr>
          <p:spPr>
            <a:xfrm flipH="1" flipV="1">
              <a:off x="7497" y="9932"/>
              <a:ext cx="102" cy="30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27" name="文本框 26"/>
            <p:cNvSpPr txBox="1"/>
            <p:nvPr/>
          </p:nvSpPr>
          <p:spPr>
            <a:xfrm>
              <a:off x="6520" y="10162"/>
              <a:ext cx="55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rgbClr val="33CC33"/>
                  </a:solidFill>
                </a:rPr>
                <a:t>1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394" y="10049"/>
              <a:ext cx="55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rgbClr val="33CC33"/>
                  </a:solidFill>
                </a:rPr>
                <a:t>1</a:t>
              </a:r>
            </a:p>
          </p:txBody>
        </p:sp>
        <p:cxnSp>
          <p:nvCxnSpPr>
            <p:cNvPr id="29" name="直接箭头连接符 28"/>
            <p:cNvCxnSpPr/>
            <p:nvPr/>
          </p:nvCxnSpPr>
          <p:spPr>
            <a:xfrm flipV="1">
              <a:off x="8221" y="9943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30" name="文本框 29"/>
            <p:cNvSpPr txBox="1"/>
            <p:nvPr/>
          </p:nvSpPr>
          <p:spPr>
            <a:xfrm>
              <a:off x="7832" y="10324"/>
              <a:ext cx="77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K/1</a:t>
              </a:r>
            </a:p>
          </p:txBody>
        </p:sp>
        <p:cxnSp>
          <p:nvCxnSpPr>
            <p:cNvPr id="31" name="直接箭头连接符 30"/>
            <p:cNvCxnSpPr/>
            <p:nvPr/>
          </p:nvCxnSpPr>
          <p:spPr>
            <a:xfrm flipH="1" flipV="1">
              <a:off x="8439" y="9939"/>
              <a:ext cx="102" cy="30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34" name="直接箭头连接符 33"/>
            <p:cNvCxnSpPr/>
            <p:nvPr/>
          </p:nvCxnSpPr>
          <p:spPr>
            <a:xfrm flipV="1">
              <a:off x="8783" y="9903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35" name="文本框 34"/>
            <p:cNvSpPr txBox="1"/>
            <p:nvPr/>
          </p:nvSpPr>
          <p:spPr>
            <a:xfrm>
              <a:off x="8394" y="10284"/>
              <a:ext cx="77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1/0</a:t>
              </a:r>
            </a:p>
          </p:txBody>
        </p:sp>
        <p:cxnSp>
          <p:nvCxnSpPr>
            <p:cNvPr id="36" name="直接箭头连接符 35"/>
            <p:cNvCxnSpPr/>
            <p:nvPr/>
          </p:nvCxnSpPr>
          <p:spPr>
            <a:xfrm flipV="1">
              <a:off x="9177" y="9904"/>
              <a:ext cx="0" cy="4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37" name="文本框 36"/>
            <p:cNvSpPr txBox="1"/>
            <p:nvPr/>
          </p:nvSpPr>
          <p:spPr>
            <a:xfrm>
              <a:off x="9014" y="10285"/>
              <a:ext cx="77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accent2">
                      <a:lumMod val="50000"/>
                    </a:schemeClr>
                  </a:solidFill>
                </a:rPr>
                <a:t>K</a:t>
              </a:r>
            </a:p>
          </p:txBody>
        </p:sp>
        <p:cxnSp>
          <p:nvCxnSpPr>
            <p:cNvPr id="38" name="直接箭头连接符 37"/>
            <p:cNvCxnSpPr/>
            <p:nvPr/>
          </p:nvCxnSpPr>
          <p:spPr>
            <a:xfrm flipH="1" flipV="1">
              <a:off x="9406" y="9939"/>
              <a:ext cx="102" cy="30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39" name="文本框 38"/>
            <p:cNvSpPr txBox="1"/>
            <p:nvPr/>
          </p:nvSpPr>
          <p:spPr>
            <a:xfrm>
              <a:off x="9359" y="10201"/>
              <a:ext cx="55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rgbClr val="33CC33"/>
                  </a:solidFill>
                </a:rPr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548640"/>
            <a:ext cx="8579485" cy="603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1152525"/>
            <a:ext cx="8267700" cy="52349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548640"/>
            <a:ext cx="8703310" cy="5956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10565" y="1156970"/>
            <a:ext cx="757999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存储器中包含译码器，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32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位的地址线，有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en-US" altLang="zh-CN" sz="1600" i="0" baseline="30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32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的输出端，对应存储器的字数，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16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位并行数据输入输出端对应于位数，</a:t>
            </a:r>
            <a:r>
              <a:rPr lang="zh-CN" altLang="en-US" sz="1600" i="0">
                <a:solidFill>
                  <a:srgbClr val="0000FF"/>
                </a:solidFill>
                <a:latin typeface="Times New Roman" panose="02020603050405020304"/>
                <a:ea typeface="等线" panose="02010600030101010101" charset="-122"/>
              </a:rPr>
              <a:t>存储器的容量：“字数</a:t>
            </a:r>
            <a:r>
              <a:rPr lang="en-US" altLang="zh-CN" sz="1600" i="0">
                <a:solidFill>
                  <a:srgbClr val="0000FF"/>
                </a:solidFill>
                <a:latin typeface="Times New Roman" panose="02020603050405020304"/>
                <a:ea typeface="等线" panose="02010600030101010101" charset="-122"/>
              </a:rPr>
              <a:t>× </a:t>
            </a:r>
            <a:r>
              <a:rPr lang="zh-CN" altLang="en-US" sz="1600" i="0">
                <a:solidFill>
                  <a:srgbClr val="0000FF"/>
                </a:solidFill>
                <a:latin typeface="Times New Roman" panose="02020603050405020304"/>
                <a:ea typeface="等线" panose="02010600030101010101" charset="-122"/>
              </a:rPr>
              <a:t>位数”（</a:t>
            </a:r>
            <a:r>
              <a:rPr lang="en-US" altLang="zh-CN" sz="1600" i="0">
                <a:solidFill>
                  <a:srgbClr val="0000FF"/>
                </a:solidFill>
                <a:latin typeface="Times New Roman" panose="02020603050405020304"/>
                <a:ea typeface="等线" panose="02010600030101010101" charset="-122"/>
              </a:rPr>
              <a:t>P232</a:t>
            </a:r>
            <a:r>
              <a:rPr lang="zh-CN" altLang="en-US" sz="1600" i="0">
                <a:solidFill>
                  <a:srgbClr val="0000FF"/>
                </a:solidFill>
                <a:latin typeface="Times New Roman" panose="02020603050405020304"/>
                <a:ea typeface="等线" panose="02010600030101010101" charset="-122"/>
              </a:rPr>
              <a:t>）。</a:t>
            </a:r>
          </a:p>
        </p:txBody>
      </p:sp>
      <p:pic>
        <p:nvPicPr>
          <p:cNvPr id="122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0" y="1988820"/>
            <a:ext cx="8812530" cy="60134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755650" y="2781300"/>
            <a:ext cx="7234555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解题思路：对于题中的字扩展，将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2114 RAM 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的字由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1K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扩展到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4K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，需要通过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线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-8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线译码器（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线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-4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线译码器已足够）扩展，只需增加两位地址代码，生成四种输出编码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00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，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01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，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10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，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11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分别译成</a:t>
            </a:r>
            <a:r>
              <a:rPr lang="en-US" altLang="zh-CN" sz="160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Y</a:t>
            </a:r>
            <a:r>
              <a:rPr lang="en-US" altLang="zh-CN" sz="1600" i="0" baseline="-25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'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、</a:t>
            </a:r>
            <a:r>
              <a:rPr lang="en-US" altLang="zh-CN" sz="160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Y</a:t>
            </a:r>
            <a:r>
              <a:rPr lang="en-US" altLang="zh-CN" sz="1600" i="0" baseline="-25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'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、</a:t>
            </a:r>
            <a:r>
              <a:rPr lang="en-US" altLang="zh-CN" sz="160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Y</a:t>
            </a:r>
            <a:r>
              <a:rPr lang="en-US" altLang="zh-CN" sz="1600" i="0" baseline="-25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'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、</a:t>
            </a:r>
            <a:r>
              <a:rPr lang="en-US" altLang="zh-CN" sz="160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Y</a:t>
            </a:r>
            <a:r>
              <a:rPr lang="en-US" altLang="zh-CN" sz="1600" i="0" baseline="-25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' 4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个低电平信号分别去接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4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片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RAM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的片选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CS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’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端即可。然后将每一片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RAM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的读写端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R/W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’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和数据端</a:t>
            </a:r>
            <a:r>
              <a:rPr lang="en-US" altLang="zh-CN" sz="160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I/O</a:t>
            </a:r>
            <a:r>
              <a:rPr lang="en-US" altLang="zh-CN" sz="1600" i="0" baseline="-25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~</a:t>
            </a:r>
            <a:r>
              <a:rPr lang="en-US" altLang="zh-CN" sz="160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I/O</a:t>
            </a:r>
            <a:r>
              <a:rPr lang="en-US" altLang="zh-CN" sz="1600" i="0" baseline="-25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4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并联起来。</a:t>
            </a:r>
          </a:p>
        </p:txBody>
      </p:sp>
      <p:pic>
        <p:nvPicPr>
          <p:cNvPr id="123" name="图片 8"/>
          <p:cNvPicPr>
            <a:picLocks noChangeAspect="1"/>
          </p:cNvPicPr>
          <p:nvPr/>
        </p:nvPicPr>
        <p:blipFill>
          <a:blip r:embed="rId4"/>
          <a:srcRect t="27767"/>
          <a:stretch>
            <a:fillRect/>
          </a:stretch>
        </p:blipFill>
        <p:spPr>
          <a:xfrm>
            <a:off x="899795" y="4076700"/>
            <a:ext cx="7588250" cy="2696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2" grpId="0"/>
      <p:bldP spid="2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476885"/>
            <a:ext cx="7934325" cy="27901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55650" y="3267075"/>
            <a:ext cx="7245985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解题思路：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256</a:t>
            </a:r>
            <a:r>
              <a:rPr lang="en-US" altLang="zh-CN" sz="1600" i="0">
                <a:solidFill>
                  <a:schemeClr val="tx1"/>
                </a:solidFill>
                <a:latin typeface="Arial" panose="020B0604020202020204"/>
                <a:ea typeface="等线" panose="02010600030101010101" charset="-122"/>
              </a:rPr>
              <a:t>×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8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位的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ROM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存储器，包含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8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位（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en-US" altLang="zh-CN" sz="1600" i="0" baseline="30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8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=256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）地址输入端和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8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位数据输出端，相似过程见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P246-247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。组合函数包含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、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B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、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C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、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D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四个变量，即需要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4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个地址输入端即可，组合函数包含</a:t>
            </a:r>
            <a:r>
              <a:rPr lang="en-US" altLang="zh-CN" sz="160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Y</a:t>
            </a:r>
            <a:r>
              <a:rPr lang="en-US" altLang="zh-CN" sz="1600" i="0" baseline="-25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~</a:t>
            </a:r>
            <a:r>
              <a:rPr lang="en-US" altLang="zh-CN" sz="160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Y</a:t>
            </a:r>
            <a:r>
              <a:rPr lang="en-US" altLang="zh-CN" sz="1600" i="0" baseline="-25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6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 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六个数据输出端，即需要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6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个数据输出端即可。将</a:t>
            </a:r>
            <a:r>
              <a:rPr lang="en-US" altLang="zh-CN" sz="160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Y</a:t>
            </a:r>
            <a:r>
              <a:rPr lang="en-US" altLang="zh-CN" sz="1600" i="0" baseline="-25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~</a:t>
            </a:r>
            <a:r>
              <a:rPr lang="en-US" altLang="zh-CN" sz="160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Y</a:t>
            </a:r>
            <a:r>
              <a:rPr lang="en-US" altLang="zh-CN" sz="1600" i="0" baseline="-25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6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 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组合逻辑函数化为最小项之和，然后生成相应的</a:t>
            </a:r>
            <a:r>
              <a:rPr lang="en-US" altLang="zh-CN" sz="16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ROM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数据表。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323850" y="4395470"/>
            <a:ext cx="7715250" cy="1997710"/>
            <a:chOff x="238" y="6922"/>
            <a:chExt cx="12150" cy="3146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8" y="7214"/>
              <a:ext cx="9276" cy="210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14" y="6922"/>
              <a:ext cx="2875" cy="314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第六章：时序逻辑电路</a:t>
            </a:r>
            <a:endParaRPr lang="zh-CN" altLang="en-US">
              <a:solidFill>
                <a:srgbClr val="000000"/>
              </a:solidFill>
              <a:sym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539115" y="1196975"/>
            <a:ext cx="7820660" cy="502920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9pPr>
          </a:lstStyle>
          <a:p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本章讨论了时序逻辑电路的分析方法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和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设计方法，</a:t>
            </a:r>
            <a:r>
              <a:rPr lang="zh-CN" altLang="en-US" sz="2400">
                <a:sym typeface="+mn-ea"/>
              </a:rPr>
              <a:t>介绍了</a:t>
            </a:r>
            <a:r>
              <a:rPr lang="zh-CN" altLang="en-US" sz="2400">
                <a:solidFill>
                  <a:srgbClr val="0066FF"/>
                </a:solidFill>
                <a:sym typeface="+mn-ea"/>
              </a:rPr>
              <a:t>移位寄存器（功能）、计数器</a:t>
            </a:r>
            <a:r>
              <a:rPr lang="zh-CN" altLang="en-US" sz="2400">
                <a:sym typeface="+mn-ea"/>
              </a:rPr>
              <a:t>、顺序脉冲发生器等电路的工作原理和使用方法，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重点掌握：</a:t>
            </a: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1. 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时序逻辑电路的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分析方法（驱动方程、状态方程、输出方程、状态转换图</a:t>
            </a:r>
            <a:r>
              <a:rPr kumimoji="0" lang="en-US" altLang="zh-CN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/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表）</a:t>
            </a: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2. 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时序逻辑电路的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设计方法</a:t>
            </a: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3. 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计数器的功能与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分析</a:t>
            </a: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4. 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任意进制计数器的构成方法（</a:t>
            </a:r>
            <a:r>
              <a:rPr lang="en-US" altLang="zh-CN" sz="24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M&gt;N</a:t>
            </a:r>
            <a:r>
              <a:rPr lang="zh-CN" altLang="en-US" sz="24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</a:t>
            </a:r>
            <a:r>
              <a:rPr lang="en-US" altLang="zh-CN" sz="24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M&lt;N</a:t>
            </a:r>
            <a:r>
              <a:rPr lang="zh-CN" altLang="en-US" sz="24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情况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）</a:t>
            </a:r>
            <a:endParaRPr kumimoji="0" lang="zh-CN" altLang="en-US" sz="2400" kern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830" name="Picture 6" descr="6-1-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4970" y="981075"/>
            <a:ext cx="399097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本框 6"/>
          <p:cNvSpPr txBox="1"/>
          <p:nvPr/>
        </p:nvSpPr>
        <p:spPr>
          <a:xfrm>
            <a:off x="4572000" y="926465"/>
            <a:ext cx="419481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一般步骤：</a:t>
            </a:r>
            <a:endParaRPr lang="en-US" altLang="zh-CN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①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存储电路中每个触发器输入端的逻辑式为</a:t>
            </a:r>
            <a:r>
              <a:rPr lang="zh-CN" altLang="en-US" sz="200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驱动方程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：</a:t>
            </a:r>
            <a:r>
              <a:rPr lang="en-US" altLang="zh-CN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Z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=G(</a:t>
            </a:r>
            <a:r>
              <a:rPr lang="en-US" altLang="zh-CN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X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,</a:t>
            </a:r>
            <a:r>
              <a:rPr lang="en-US" altLang="zh-CN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US" altLang="zh-CN" sz="20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②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将驱动方程代入触发器的特性方程，得到触发器输出端的</a:t>
            </a:r>
            <a:r>
              <a:rPr lang="zh-CN" altLang="en-US" sz="200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状态方程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：</a:t>
            </a:r>
            <a:r>
              <a:rPr lang="en-US" altLang="zh-CN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sz="2000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*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=H(</a:t>
            </a:r>
            <a:r>
              <a:rPr lang="en-US" altLang="zh-CN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Z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,</a:t>
            </a:r>
            <a:r>
              <a:rPr lang="en-US" altLang="zh-CN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US" altLang="zh-CN" sz="20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③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电路总的</a:t>
            </a:r>
            <a:r>
              <a:rPr lang="zh-CN" altLang="en-US" sz="200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输出方程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：</a:t>
            </a:r>
            <a:r>
              <a:rPr lang="en-US" altLang="zh-CN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=F(</a:t>
            </a:r>
            <a:r>
              <a:rPr lang="en-US" altLang="zh-CN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X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,</a:t>
            </a:r>
            <a:r>
              <a:rPr lang="en-US" altLang="zh-CN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51460" y="4168140"/>
            <a:ext cx="457200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④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列出</a:t>
            </a:r>
            <a:r>
              <a:rPr lang="zh-CN" altLang="en-US" sz="200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状态转换表</a:t>
            </a:r>
            <a:r>
              <a:rPr lang="en-US" altLang="zh-CN" sz="200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/</a:t>
            </a:r>
            <a:r>
              <a:rPr lang="zh-CN" altLang="en-US" sz="200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图或时序波形图</a:t>
            </a:r>
            <a:endParaRPr lang="zh-CN" altLang="en-US" sz="20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例如：</a:t>
            </a:r>
          </a:p>
          <a:p>
            <a:pPr>
              <a:buFontTx/>
              <a:buNone/>
            </a:pPr>
            <a:endParaRPr lang="zh-CN" altLang="en-US" sz="20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Tx/>
              <a:buNone/>
            </a:pPr>
            <a:endParaRPr lang="zh-CN" altLang="en-US" sz="20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Tx/>
              <a:buNone/>
            </a:pPr>
            <a:endParaRPr lang="zh-CN" altLang="en-US" sz="20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Tx/>
              <a:buNone/>
            </a:pPr>
            <a:endParaRPr lang="zh-CN" altLang="en-US" sz="20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⑤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分析逻辑功能。</a:t>
            </a:r>
          </a:p>
        </p:txBody>
      </p:sp>
      <p:graphicFrame>
        <p:nvGraphicFramePr>
          <p:cNvPr id="335876" name="Object 4"/>
          <p:cNvGraphicFramePr>
            <a:graphicFrameLocks noChangeAspect="1"/>
          </p:cNvGraphicFramePr>
          <p:nvPr/>
        </p:nvGraphicFramePr>
        <p:xfrm>
          <a:off x="4499610" y="3333750"/>
          <a:ext cx="4154805" cy="734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387600" imgH="457200" progId="Equation.3">
                  <p:embed/>
                </p:oleObj>
              </mc:Choice>
              <mc:Fallback>
                <p:oleObj name="公式" r:id="rId3" imgW="23876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610" y="3333750"/>
                        <a:ext cx="4154805" cy="7340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203575" y="3357245"/>
            <a:ext cx="148082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Tx/>
              <a:buNone/>
            </a:pP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Mealy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型：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     </a:t>
            </a:r>
            <a:endParaRPr lang="en-US" altLang="zh-CN" sz="2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Tx/>
              <a:buNone/>
            </a:pP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Moore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型：</a:t>
            </a:r>
          </a:p>
        </p:txBody>
      </p:sp>
      <p:pic>
        <p:nvPicPr>
          <p:cNvPr id="3399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5"/>
          <a:srcRect/>
          <a:stretch>
            <a:fillRect/>
          </a:stretch>
        </p:blipFill>
        <p:spPr>
          <a:xfrm>
            <a:off x="2339340" y="4581525"/>
            <a:ext cx="4594225" cy="1443990"/>
          </a:xfrm>
          <a:noFill/>
        </p:spPr>
      </p:pic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第六章：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时序逻辑的分析方法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753" name="Picture 113" descr="74LS194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7495" y="998220"/>
            <a:ext cx="2367280" cy="1421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68752" name="Group 112"/>
          <p:cNvGraphicFramePr>
            <a:graphicFrameLocks noGrp="1"/>
          </p:cNvGraphicFramePr>
          <p:nvPr/>
        </p:nvGraphicFramePr>
        <p:xfrm>
          <a:off x="5003908" y="908685"/>
          <a:ext cx="2808313" cy="2381250"/>
        </p:xfrm>
        <a:graphic>
          <a:graphicData uri="http://schemas.openxmlformats.org/drawingml/2006/table">
            <a:tbl>
              <a:tblPr/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R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D</a:t>
                      </a:r>
                      <a:r>
                        <a:rPr kumimoji="0" lang="en-US" altLang="zh-CN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’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S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S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工作状态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置零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保持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右移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左移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并行输入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5601" name="Picture 20" descr="6-3-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3905" y="3429000"/>
            <a:ext cx="7110095" cy="3260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683260" y="3141345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用两片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4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位连接成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8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位移位寄存器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691640" y="2420620"/>
            <a:ext cx="18942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移位功能</a:t>
            </a:r>
          </a:p>
          <a:p>
            <a:r>
              <a:rPr lang="zh-CN" altLang="en-US" sz="20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串行</a:t>
            </a:r>
            <a:r>
              <a:rPr lang="en-US" altLang="zh-CN" sz="20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-</a:t>
            </a:r>
            <a:r>
              <a:rPr lang="zh-CN" altLang="en-US" sz="20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并行转换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7811770" y="1485265"/>
            <a:ext cx="144145" cy="1656080"/>
          </a:xfrm>
          <a:prstGeom prst="rightBrac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楷体_GB2312" charset="0"/>
              <a:cs typeface="楷体_GB2312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56550" y="1772920"/>
            <a:ext cx="753110" cy="1517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solidFill>
                  <a:srgbClr val="0066FF"/>
                </a:solidFill>
                <a:sym typeface="+mn-ea"/>
              </a:rPr>
              <a:t>移位寄存器</a:t>
            </a:r>
            <a:r>
              <a:rPr lang="zh-CN" altLang="en-US" sz="2000">
                <a:solidFill>
                  <a:srgbClr val="0066FF"/>
                </a:solidFill>
              </a:rPr>
              <a:t>功能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第六章：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移位寄存器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179705" y="923925"/>
          <a:ext cx="8662035" cy="17595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5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0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5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sym typeface="+mn-ea"/>
                        </a:rPr>
                        <a:t>同步二进制加法计数器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sym typeface="+mn-ea"/>
                        </a:rPr>
                        <a:t>同步二进制加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sym typeface="+mn-ea"/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sym typeface="+mn-ea"/>
                        </a:rPr>
                        <a:t>减法计数器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sym typeface="+mn-ea"/>
                        </a:rPr>
                        <a:t>（下降沿触发）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sym typeface="+mn-ea"/>
                        </a:rPr>
                        <a:t>同步二进制减法计数器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91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323850" y="1628458"/>
          <a:ext cx="211613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1079500" imgH="457200" progId="Equation.3">
                  <p:embed/>
                </p:oleObj>
              </mc:Choice>
              <mc:Fallback>
                <p:oleObj name="公式" r:id="rId35" imgW="10795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628458"/>
                        <a:ext cx="2116138" cy="8985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2" name="Object 3"/>
          <p:cNvGraphicFramePr>
            <a:graphicFrameLocks noChangeAspect="1"/>
          </p:cNvGraphicFramePr>
          <p:nvPr/>
        </p:nvGraphicFramePr>
        <p:xfrm>
          <a:off x="6443980" y="1663700"/>
          <a:ext cx="2160270" cy="916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1079500" imgH="457200" progId="Equation.3">
                  <p:embed/>
                </p:oleObj>
              </mc:Choice>
              <mc:Fallback>
                <p:oleObj name="公式" r:id="rId37" imgW="10795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980" y="1663700"/>
                        <a:ext cx="2160270" cy="91694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72" name="Object 68"/>
          <p:cNvGraphicFramePr>
            <a:graphicFrameLocks noChangeAspect="1"/>
          </p:cNvGraphicFramePr>
          <p:nvPr/>
        </p:nvGraphicFramePr>
        <p:xfrm>
          <a:off x="2691765" y="1602740"/>
          <a:ext cx="3573145" cy="1113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9" imgW="2120900" imgH="660400" progId="Equation.3">
                  <p:embed/>
                </p:oleObj>
              </mc:Choice>
              <mc:Fallback>
                <p:oleObj name="公式" r:id="rId39" imgW="2120900" imgH="66040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1765" y="1602740"/>
                        <a:ext cx="3573145" cy="111315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>
            <p:custDataLst>
              <p:tags r:id="rId2"/>
            </p:custDataLst>
          </p:nvPr>
        </p:nvGrpSpPr>
        <p:grpSpPr>
          <a:xfrm>
            <a:off x="-95250" y="2853055"/>
            <a:ext cx="2284730" cy="3364865"/>
            <a:chOff x="0" y="4499"/>
            <a:chExt cx="3598" cy="5299"/>
          </a:xfrm>
        </p:grpSpPr>
        <p:sp>
          <p:nvSpPr>
            <p:cNvPr id="7" name="文本框 6"/>
            <p:cNvSpPr txBox="1"/>
            <p:nvPr>
              <p:custDataLst>
                <p:tags r:id="rId28"/>
              </p:custDataLst>
            </p:nvPr>
          </p:nvSpPr>
          <p:spPr>
            <a:xfrm>
              <a:off x="0" y="4499"/>
              <a:ext cx="3598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342900" indent="-342900" algn="ctr">
                <a:buFont typeface="Wingdings" panose="05000000000000000000" charset="0"/>
                <a:buChar char="Ø"/>
              </a:pPr>
              <a:r>
                <a:rPr lang="en-US" altLang="zh-CN" sz="2000" b="1" dirty="0">
                  <a:solidFill>
                    <a:schemeClr val="tx1"/>
                  </a:solidFill>
                  <a:sym typeface="+mn-ea"/>
                </a:rPr>
                <a:t>4</a:t>
              </a:r>
              <a:r>
                <a:rPr lang="zh-CN" altLang="en-US" sz="2000" b="1" dirty="0">
                  <a:solidFill>
                    <a:schemeClr val="tx1"/>
                  </a:solidFill>
                  <a:sym typeface="+mn-ea"/>
                </a:rPr>
                <a:t>位同步二进制加法计数器</a:t>
              </a:r>
            </a:p>
          </p:txBody>
        </p:sp>
        <p:graphicFrame>
          <p:nvGraphicFramePr>
            <p:cNvPr id="381956" name="Object 4"/>
            <p:cNvGraphicFramePr>
              <a:graphicFrameLocks noChangeAspect="1"/>
            </p:cNvGraphicFramePr>
            <p:nvPr>
              <p:custDataLst>
                <p:tags r:id="rId29"/>
              </p:custDataLst>
            </p:nvPr>
          </p:nvGraphicFramePr>
          <p:xfrm>
            <a:off x="736" y="5740"/>
            <a:ext cx="1093" cy="7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1" imgW="381000" imgH="228600" progId="Equation.3">
                    <p:embed/>
                  </p:oleObj>
                </mc:Choice>
                <mc:Fallback>
                  <p:oleObj name="公式" r:id="rId41" imgW="38100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" y="5740"/>
                          <a:ext cx="1093" cy="747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1957" name="Object 5"/>
            <p:cNvGraphicFramePr>
              <a:graphicFrameLocks noChangeAspect="1"/>
            </p:cNvGraphicFramePr>
            <p:nvPr>
              <p:custDataLst>
                <p:tags r:id="rId30"/>
              </p:custDataLst>
            </p:nvPr>
          </p:nvGraphicFramePr>
          <p:xfrm>
            <a:off x="773" y="6592"/>
            <a:ext cx="1305" cy="7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3" imgW="457200" imgH="228600" progId="Equation.3">
                    <p:embed/>
                  </p:oleObj>
                </mc:Choice>
                <mc:Fallback>
                  <p:oleObj name="公式" r:id="rId43" imgW="45720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3" y="6592"/>
                          <a:ext cx="1305" cy="749"/>
                        </a:xfrm>
                        <a:prstGeom prst="rect">
                          <a:avLst/>
                        </a:prstGeom>
                        <a:solidFill>
                          <a:srgbClr val="99CCFF">
                            <a:alpha val="30196"/>
                          </a:srgbClr>
                        </a:solidFill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1958" name="Object 6"/>
            <p:cNvGraphicFramePr>
              <a:graphicFrameLocks noChangeAspect="1"/>
            </p:cNvGraphicFramePr>
            <p:nvPr>
              <p:custDataLst>
                <p:tags r:id="rId31"/>
              </p:custDataLst>
            </p:nvPr>
          </p:nvGraphicFramePr>
          <p:xfrm>
            <a:off x="736" y="7446"/>
            <a:ext cx="1645" cy="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5" imgW="14630400" imgH="5486400" progId="Equation.DSMT4">
                    <p:embed/>
                  </p:oleObj>
                </mc:Choice>
                <mc:Fallback>
                  <p:oleObj name="Equation" r:id="rId45" imgW="14630400" imgH="54864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" y="7446"/>
                          <a:ext cx="1645" cy="700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文本框 12"/>
            <p:cNvSpPr txBox="1"/>
            <p:nvPr>
              <p:custDataLst>
                <p:tags r:id="rId32"/>
              </p:custDataLst>
            </p:nvPr>
          </p:nvSpPr>
          <p:spPr>
            <a:xfrm>
              <a:off x="319" y="9315"/>
              <a:ext cx="327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tx1"/>
                  </a:solidFill>
                </a:rPr>
                <a:t>0000</a:t>
              </a:r>
              <a:r>
                <a:rPr lang="en-US" altLang="zh-CN" sz="1400">
                  <a:solidFill>
                    <a:schemeClr val="tx1"/>
                  </a:solidFill>
                  <a:cs typeface="Arial" panose="020B0604020202020204" pitchFamily="34" charset="0"/>
                </a:rPr>
                <a:t>→...</a:t>
              </a:r>
              <a:r>
                <a:rPr lang="en-US" altLang="zh-CN" sz="1400">
                  <a:solidFill>
                    <a:schemeClr val="tx1"/>
                  </a:solidFill>
                  <a:cs typeface="Arial" panose="020B0604020202020204" pitchFamily="34" charset="0"/>
                  <a:sym typeface="+mn-ea"/>
                </a:rPr>
                <a:t>→</a:t>
              </a:r>
              <a:r>
                <a:rPr lang="en-US" altLang="zh-CN" sz="1400">
                  <a:solidFill>
                    <a:schemeClr val="tx1"/>
                  </a:solidFill>
                  <a:cs typeface="Arial" panose="020B0604020202020204" pitchFamily="34" charset="0"/>
                </a:rPr>
                <a:t>1111</a:t>
              </a:r>
              <a:r>
                <a:rPr lang="en-US" altLang="zh-CN" sz="1400">
                  <a:solidFill>
                    <a:schemeClr val="tx1"/>
                  </a:solidFill>
                  <a:cs typeface="Arial" panose="020B0604020202020204" pitchFamily="34" charset="0"/>
                  <a:sym typeface="+mn-ea"/>
                </a:rPr>
                <a:t>→0000</a:t>
              </a:r>
            </a:p>
          </p:txBody>
        </p:sp>
        <p:sp>
          <p:nvSpPr>
            <p:cNvPr id="14" name="左大括号 13"/>
            <p:cNvSpPr/>
            <p:nvPr>
              <p:custDataLst>
                <p:tags r:id="rId33"/>
              </p:custDataLst>
            </p:nvPr>
          </p:nvSpPr>
          <p:spPr>
            <a:xfrm>
              <a:off x="362" y="5967"/>
              <a:ext cx="267" cy="2949"/>
            </a:xfrm>
            <a:prstGeom prst="leftBrac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楷体_GB2312" charset="0"/>
                <a:cs typeface="楷体_GB2312" charset="0"/>
              </a:endParaRPr>
            </a:p>
          </p:txBody>
        </p:sp>
      </p:grpSp>
      <p:graphicFrame>
        <p:nvGraphicFramePr>
          <p:cNvPr id="28" name="Object 5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323850" y="5280025"/>
          <a:ext cx="1381125" cy="47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7" imgW="762000" imgH="228600" progId="Equation.3">
                  <p:embed/>
                </p:oleObj>
              </mc:Choice>
              <mc:Fallback>
                <p:oleObj name="公式" r:id="rId47" imgW="7620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280025"/>
                        <a:ext cx="1381125" cy="475615"/>
                      </a:xfrm>
                      <a:prstGeom prst="rect">
                        <a:avLst/>
                      </a:prstGeom>
                      <a:solidFill>
                        <a:srgbClr val="99CCFF">
                          <a:alpha val="30196"/>
                        </a:srgbClr>
                      </a:solidFill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/>
          <p:nvPr>
            <p:custDataLst>
              <p:tags r:id="rId4"/>
            </p:custDataLst>
          </p:nvPr>
        </p:nvGrpSpPr>
        <p:grpSpPr>
          <a:xfrm>
            <a:off x="2052955" y="2853055"/>
            <a:ext cx="2512060" cy="3364865"/>
            <a:chOff x="0" y="4499"/>
            <a:chExt cx="3956" cy="5299"/>
          </a:xfrm>
        </p:grpSpPr>
        <p:sp>
          <p:nvSpPr>
            <p:cNvPr id="17" name="文本框 16"/>
            <p:cNvSpPr txBox="1"/>
            <p:nvPr>
              <p:custDataLst>
                <p:tags r:id="rId21"/>
              </p:custDataLst>
            </p:nvPr>
          </p:nvSpPr>
          <p:spPr>
            <a:xfrm>
              <a:off x="0" y="4499"/>
              <a:ext cx="3598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342900" indent="-342900" algn="ctr">
                <a:buFont typeface="Wingdings" panose="05000000000000000000" charset="0"/>
                <a:buChar char="Ø"/>
              </a:pPr>
              <a:r>
                <a:rPr lang="zh-CN" altLang="en-US" sz="2000" b="1" dirty="0">
                  <a:solidFill>
                    <a:schemeClr val="tx1"/>
                  </a:solidFill>
                  <a:sym typeface="+mn-ea"/>
                </a:rPr>
                <a:t>同步十进制加法计数器</a:t>
              </a:r>
            </a:p>
          </p:txBody>
        </p:sp>
        <p:graphicFrame>
          <p:nvGraphicFramePr>
            <p:cNvPr id="18" name="Object 4"/>
            <p:cNvGraphicFramePr>
              <a:graphicFrameLocks noChangeAspect="1"/>
            </p:cNvGraphicFramePr>
            <p:nvPr>
              <p:custDataLst>
                <p:tags r:id="rId22"/>
              </p:custDataLst>
            </p:nvPr>
          </p:nvGraphicFramePr>
          <p:xfrm>
            <a:off x="736" y="5740"/>
            <a:ext cx="1093" cy="7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9" imgW="381000" imgH="228600" progId="Equation.3">
                    <p:embed/>
                  </p:oleObj>
                </mc:Choice>
                <mc:Fallback>
                  <p:oleObj name="公式" r:id="rId49" imgW="38100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" y="5740"/>
                          <a:ext cx="1093" cy="747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5"/>
            <p:cNvGraphicFramePr>
              <a:graphicFrameLocks noChangeAspect="1"/>
            </p:cNvGraphicFramePr>
            <p:nvPr>
              <p:custDataLst>
                <p:tags r:id="rId23"/>
              </p:custDataLst>
            </p:nvPr>
          </p:nvGraphicFramePr>
          <p:xfrm>
            <a:off x="753" y="6593"/>
            <a:ext cx="2826" cy="7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0" imgW="990600" imgH="228600" progId="Equation.3">
                    <p:embed/>
                  </p:oleObj>
                </mc:Choice>
                <mc:Fallback>
                  <p:oleObj name="公式" r:id="rId50" imgW="99060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3" y="6593"/>
                          <a:ext cx="2826" cy="746"/>
                        </a:xfrm>
                        <a:prstGeom prst="rect">
                          <a:avLst/>
                        </a:prstGeom>
                        <a:solidFill>
                          <a:srgbClr val="99CCFF">
                            <a:alpha val="30196"/>
                          </a:srgbClr>
                        </a:solidFill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6"/>
            <p:cNvGraphicFramePr>
              <a:graphicFrameLocks noChangeAspect="1"/>
            </p:cNvGraphicFramePr>
            <p:nvPr>
              <p:custDataLst>
                <p:tags r:id="rId24"/>
              </p:custDataLst>
            </p:nvPr>
          </p:nvGraphicFramePr>
          <p:xfrm>
            <a:off x="736" y="7446"/>
            <a:ext cx="1645" cy="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2" imgW="14630400" imgH="5486400" progId="Equation.DSMT4">
                    <p:embed/>
                  </p:oleObj>
                </mc:Choice>
                <mc:Fallback>
                  <p:oleObj name="Equation" r:id="rId52" imgW="14630400" imgH="54864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" y="7446"/>
                          <a:ext cx="1645" cy="700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7"/>
            <p:cNvGraphicFramePr>
              <a:graphicFrameLocks noChangeAspect="1"/>
            </p:cNvGraphicFramePr>
            <p:nvPr>
              <p:custDataLst>
                <p:tags r:id="rId25"/>
              </p:custDataLst>
            </p:nvPr>
          </p:nvGraphicFramePr>
          <p:xfrm>
            <a:off x="736" y="8235"/>
            <a:ext cx="3220" cy="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3" imgW="28651200" imgH="5486400" progId="Equation.DSMT4">
                    <p:embed/>
                  </p:oleObj>
                </mc:Choice>
                <mc:Fallback>
                  <p:oleObj name="Equation" r:id="rId53" imgW="28651200" imgH="54864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" y="8235"/>
                          <a:ext cx="3220" cy="700"/>
                        </a:xfrm>
                        <a:prstGeom prst="rect">
                          <a:avLst/>
                        </a:prstGeom>
                        <a:solidFill>
                          <a:srgbClr val="99CCFF">
                            <a:alpha val="30196"/>
                          </a:srgbClr>
                        </a:solidFill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文本框 25"/>
            <p:cNvSpPr txBox="1"/>
            <p:nvPr>
              <p:custDataLst>
                <p:tags r:id="rId26"/>
              </p:custDataLst>
            </p:nvPr>
          </p:nvSpPr>
          <p:spPr>
            <a:xfrm>
              <a:off x="319" y="9315"/>
              <a:ext cx="343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tx1"/>
                  </a:solidFill>
                </a:rPr>
                <a:t>0000</a:t>
              </a:r>
              <a:r>
                <a:rPr lang="en-US" altLang="zh-CN" sz="1400">
                  <a:solidFill>
                    <a:schemeClr val="tx1"/>
                  </a:solidFill>
                  <a:cs typeface="Arial" panose="020B0604020202020204" pitchFamily="34" charset="0"/>
                  <a:sym typeface="+mn-ea"/>
                </a:rPr>
                <a:t>→...→</a:t>
              </a:r>
              <a:r>
                <a:rPr lang="en-US" altLang="zh-CN" sz="1400">
                  <a:solidFill>
                    <a:schemeClr val="tx1"/>
                  </a:solidFill>
                  <a:cs typeface="Arial" panose="020B0604020202020204" pitchFamily="34" charset="0"/>
                </a:rPr>
                <a:t>1001→0000</a:t>
              </a:r>
            </a:p>
          </p:txBody>
        </p:sp>
        <p:sp>
          <p:nvSpPr>
            <p:cNvPr id="27" name="左大括号 26"/>
            <p:cNvSpPr/>
            <p:nvPr>
              <p:custDataLst>
                <p:tags r:id="rId27"/>
              </p:custDataLst>
            </p:nvPr>
          </p:nvSpPr>
          <p:spPr>
            <a:xfrm>
              <a:off x="362" y="5967"/>
              <a:ext cx="267" cy="2949"/>
            </a:xfrm>
            <a:prstGeom prst="leftBrac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楷体_GB2312" charset="0"/>
                <a:cs typeface="楷体_GB2312" charset="0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5"/>
            </p:custDataLst>
          </p:nvPr>
        </p:nvGrpSpPr>
        <p:grpSpPr>
          <a:xfrm>
            <a:off x="4404360" y="2853055"/>
            <a:ext cx="2284730" cy="3364865"/>
            <a:chOff x="0" y="4499"/>
            <a:chExt cx="3598" cy="5299"/>
          </a:xfrm>
        </p:grpSpPr>
        <p:sp>
          <p:nvSpPr>
            <p:cNvPr id="34" name="文本框 33"/>
            <p:cNvSpPr txBox="1"/>
            <p:nvPr>
              <p:custDataLst>
                <p:tags r:id="rId16"/>
              </p:custDataLst>
            </p:nvPr>
          </p:nvSpPr>
          <p:spPr>
            <a:xfrm>
              <a:off x="0" y="4499"/>
              <a:ext cx="3598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342900" indent="-342900" algn="ctr">
                <a:buFont typeface="Wingdings" panose="05000000000000000000" charset="0"/>
                <a:buChar char="Ø"/>
              </a:pPr>
              <a:r>
                <a:rPr lang="en-US" altLang="zh-CN" sz="2000" b="1" dirty="0">
                  <a:solidFill>
                    <a:schemeClr val="tx1"/>
                  </a:solidFill>
                  <a:sym typeface="+mn-ea"/>
                </a:rPr>
                <a:t>4</a:t>
              </a:r>
              <a:r>
                <a:rPr lang="zh-CN" altLang="en-US" sz="2000" b="1" dirty="0">
                  <a:solidFill>
                    <a:schemeClr val="tx1"/>
                  </a:solidFill>
                  <a:sym typeface="+mn-ea"/>
                </a:rPr>
                <a:t>位同步二进制减法计数器</a:t>
              </a:r>
            </a:p>
          </p:txBody>
        </p:sp>
        <p:graphicFrame>
          <p:nvGraphicFramePr>
            <p:cNvPr id="35" name="Object 4"/>
            <p:cNvGraphicFramePr>
              <a:graphicFrameLocks noChangeAspect="1"/>
            </p:cNvGraphicFramePr>
            <p:nvPr>
              <p:custDataLst>
                <p:tags r:id="rId17"/>
              </p:custDataLst>
            </p:nvPr>
          </p:nvGraphicFramePr>
          <p:xfrm>
            <a:off x="736" y="5740"/>
            <a:ext cx="1093" cy="7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5" imgW="381000" imgH="228600" progId="Equation.3">
                    <p:embed/>
                  </p:oleObj>
                </mc:Choice>
                <mc:Fallback>
                  <p:oleObj name="公式" r:id="rId55" imgW="38100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" y="5740"/>
                          <a:ext cx="1093" cy="747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5"/>
            <p:cNvGraphicFramePr>
              <a:graphicFrameLocks noChangeAspect="1"/>
            </p:cNvGraphicFramePr>
            <p:nvPr>
              <p:custDataLst>
                <p:tags r:id="rId18"/>
              </p:custDataLst>
            </p:nvPr>
          </p:nvGraphicFramePr>
          <p:xfrm>
            <a:off x="719" y="6592"/>
            <a:ext cx="1414" cy="7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6" imgW="495300" imgH="228600" progId="Equation.3">
                    <p:embed/>
                  </p:oleObj>
                </mc:Choice>
                <mc:Fallback>
                  <p:oleObj name="公式" r:id="rId56" imgW="49530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" y="6592"/>
                          <a:ext cx="1414" cy="749"/>
                        </a:xfrm>
                        <a:prstGeom prst="rect">
                          <a:avLst/>
                        </a:prstGeom>
                        <a:solidFill>
                          <a:srgbClr val="99CCFF">
                            <a:alpha val="30196"/>
                          </a:srgbClr>
                        </a:solidFill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文本框 40"/>
            <p:cNvSpPr txBox="1"/>
            <p:nvPr>
              <p:custDataLst>
                <p:tags r:id="rId19"/>
              </p:custDataLst>
            </p:nvPr>
          </p:nvSpPr>
          <p:spPr>
            <a:xfrm>
              <a:off x="319" y="9315"/>
              <a:ext cx="322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tx1"/>
                  </a:solidFill>
                </a:rPr>
                <a:t>1111</a:t>
              </a:r>
              <a:r>
                <a:rPr lang="en-US" altLang="zh-CN" sz="1400">
                  <a:solidFill>
                    <a:schemeClr val="tx1"/>
                  </a:solidFill>
                  <a:cs typeface="Arial" panose="020B0604020202020204" pitchFamily="34" charset="0"/>
                  <a:sym typeface="+mn-ea"/>
                </a:rPr>
                <a:t>→...→</a:t>
              </a:r>
              <a:r>
                <a:rPr lang="en-US" altLang="zh-CN" sz="1400">
                  <a:solidFill>
                    <a:schemeClr val="tx1"/>
                  </a:solidFill>
                  <a:cs typeface="Arial" panose="020B0604020202020204" pitchFamily="34" charset="0"/>
                </a:rPr>
                <a:t>0000</a:t>
              </a:r>
              <a:r>
                <a:rPr lang="zh-CN" altLang="en-US" sz="1400">
                  <a:solidFill>
                    <a:schemeClr val="tx1"/>
                  </a:solidFill>
                  <a:cs typeface="Arial" panose="020B0604020202020204" pitchFamily="34" charset="0"/>
                  <a:sym typeface="+mn-ea"/>
                </a:rPr>
                <a:t>→</a:t>
              </a:r>
              <a:r>
                <a:rPr lang="en-US" altLang="zh-CN" sz="1400">
                  <a:solidFill>
                    <a:schemeClr val="tx1"/>
                  </a:solidFill>
                  <a:cs typeface="Arial" panose="020B0604020202020204" pitchFamily="34" charset="0"/>
                </a:rPr>
                <a:t>1111</a:t>
              </a:r>
            </a:p>
          </p:txBody>
        </p:sp>
        <p:sp>
          <p:nvSpPr>
            <p:cNvPr id="42" name="左大括号 41"/>
            <p:cNvSpPr/>
            <p:nvPr>
              <p:custDataLst>
                <p:tags r:id="rId20"/>
              </p:custDataLst>
            </p:nvPr>
          </p:nvSpPr>
          <p:spPr>
            <a:xfrm>
              <a:off x="362" y="5967"/>
              <a:ext cx="267" cy="2949"/>
            </a:xfrm>
            <a:prstGeom prst="leftBrac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楷体_GB2312" charset="0"/>
                <a:cs typeface="楷体_GB2312" charset="0"/>
              </a:endParaRPr>
            </a:p>
          </p:txBody>
        </p:sp>
      </p:grpSp>
      <p:graphicFrame>
        <p:nvGraphicFramePr>
          <p:cNvPr id="43" name="Object 5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4859973" y="4724400"/>
          <a:ext cx="1290320" cy="47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8" imgW="711200" imgH="228600" progId="Equation.3">
                  <p:embed/>
                </p:oleObj>
              </mc:Choice>
              <mc:Fallback>
                <p:oleObj name="公式" r:id="rId58" imgW="7112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973" y="4724400"/>
                        <a:ext cx="1290320" cy="475615"/>
                      </a:xfrm>
                      <a:prstGeom prst="rect">
                        <a:avLst/>
                      </a:prstGeom>
                      <a:solidFill>
                        <a:srgbClr val="99CCFF">
                          <a:alpha val="30196"/>
                        </a:srgbClr>
                      </a:solidFill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4662" name="Object 6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6959918" y="4196715"/>
          <a:ext cx="172561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0" imgW="25298400" imgH="5486400" progId="Equation.DSMT4">
                  <p:embed/>
                </p:oleObj>
              </mc:Choice>
              <mc:Fallback>
                <p:oleObj name="Equation" r:id="rId60" imgW="25298400" imgH="5486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918" y="4196715"/>
                        <a:ext cx="1725612" cy="423863"/>
                      </a:xfrm>
                      <a:prstGeom prst="rect">
                        <a:avLst/>
                      </a:prstGeom>
                      <a:solidFill>
                        <a:srgbClr val="99CCFF">
                          <a:alpha val="30980"/>
                        </a:srgbClr>
                      </a:solidFill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4663" name="Object 7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6948170" y="4769485"/>
          <a:ext cx="214503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2" imgW="30784800" imgH="5486400" progId="Equation.DSMT4">
                  <p:embed/>
                </p:oleObj>
              </mc:Choice>
              <mc:Fallback>
                <p:oleObj name="Equation" r:id="rId62" imgW="30784800" imgH="5486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170" y="4769485"/>
                        <a:ext cx="2145030" cy="434975"/>
                      </a:xfrm>
                      <a:prstGeom prst="rect">
                        <a:avLst/>
                      </a:prstGeom>
                      <a:solidFill>
                        <a:srgbClr val="99CCFF">
                          <a:alpha val="23921"/>
                        </a:srgbClr>
                      </a:solidFill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4664" name="Object 8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6946417" y="5185772"/>
          <a:ext cx="1536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4" imgW="19507200" imgH="5791200" progId="Equation.DSMT4">
                  <p:embed/>
                </p:oleObj>
              </mc:Choice>
              <mc:Fallback>
                <p:oleObj name="Equation" r:id="rId64" imgW="19507200" imgH="579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417" y="5185772"/>
                        <a:ext cx="1536700" cy="5207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8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4856632" y="5199742"/>
          <a:ext cx="1536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6" imgW="19507200" imgH="5791200" progId="Equation.DSMT4">
                  <p:embed/>
                </p:oleObj>
              </mc:Choice>
              <mc:Fallback>
                <p:oleObj name="Equation" r:id="rId66" imgW="19507200" imgH="579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6632" y="5199742"/>
                        <a:ext cx="1536700" cy="5207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组合 54"/>
          <p:cNvGrpSpPr/>
          <p:nvPr>
            <p:custDataLst>
              <p:tags r:id="rId11"/>
            </p:custDataLst>
          </p:nvPr>
        </p:nvGrpSpPr>
        <p:grpSpPr>
          <a:xfrm>
            <a:off x="6515735" y="2853055"/>
            <a:ext cx="2383790" cy="3364865"/>
            <a:chOff x="0" y="4499"/>
            <a:chExt cx="3754" cy="5299"/>
          </a:xfrm>
        </p:grpSpPr>
        <p:sp>
          <p:nvSpPr>
            <p:cNvPr id="56" name="文本框 55"/>
            <p:cNvSpPr txBox="1"/>
            <p:nvPr>
              <p:custDataLst>
                <p:tags r:id="rId12"/>
              </p:custDataLst>
            </p:nvPr>
          </p:nvSpPr>
          <p:spPr>
            <a:xfrm>
              <a:off x="0" y="4499"/>
              <a:ext cx="3598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342900" indent="-342900" algn="ctr">
                <a:buFont typeface="Wingdings" panose="05000000000000000000" charset="0"/>
                <a:buChar char="Ø"/>
              </a:pPr>
              <a:r>
                <a:rPr lang="en-US" altLang="zh-CN" sz="2000" b="1" dirty="0">
                  <a:solidFill>
                    <a:schemeClr val="tx1"/>
                  </a:solidFill>
                  <a:sym typeface="+mn-ea"/>
                </a:rPr>
                <a:t>4</a:t>
              </a:r>
              <a:r>
                <a:rPr lang="zh-CN" altLang="en-US" sz="2000" b="1" dirty="0">
                  <a:solidFill>
                    <a:schemeClr val="tx1"/>
                  </a:solidFill>
                  <a:sym typeface="+mn-ea"/>
                </a:rPr>
                <a:t>位同步二进制减法计数器</a:t>
              </a:r>
            </a:p>
          </p:txBody>
        </p:sp>
        <p:graphicFrame>
          <p:nvGraphicFramePr>
            <p:cNvPr id="57" name="Object 4"/>
            <p:cNvGraphicFramePr>
              <a:graphicFrameLocks noChangeAspect="1"/>
            </p:cNvGraphicFramePr>
            <p:nvPr>
              <p:custDataLst>
                <p:tags r:id="rId13"/>
              </p:custDataLst>
            </p:nvPr>
          </p:nvGraphicFramePr>
          <p:xfrm>
            <a:off x="736" y="5740"/>
            <a:ext cx="1093" cy="7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7" imgW="381000" imgH="228600" progId="Equation.3">
                    <p:embed/>
                  </p:oleObj>
                </mc:Choice>
                <mc:Fallback>
                  <p:oleObj name="公式" r:id="rId67" imgW="38100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" y="5740"/>
                          <a:ext cx="1093" cy="747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" name="文本框 60"/>
            <p:cNvSpPr txBox="1"/>
            <p:nvPr>
              <p:custDataLst>
                <p:tags r:id="rId14"/>
              </p:custDataLst>
            </p:nvPr>
          </p:nvSpPr>
          <p:spPr>
            <a:xfrm>
              <a:off x="319" y="9315"/>
              <a:ext cx="343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tx1"/>
                  </a:solidFill>
                </a:rPr>
                <a:t>1001</a:t>
              </a:r>
              <a:r>
                <a:rPr lang="en-US" altLang="zh-CN" sz="1400">
                  <a:solidFill>
                    <a:schemeClr val="tx1"/>
                  </a:solidFill>
                  <a:cs typeface="Arial" panose="020B0604020202020204" pitchFamily="34" charset="0"/>
                  <a:sym typeface="+mn-ea"/>
                </a:rPr>
                <a:t>→...</a:t>
              </a:r>
              <a:r>
                <a:rPr lang="zh-CN" altLang="en-US" sz="1400">
                  <a:solidFill>
                    <a:schemeClr val="tx1"/>
                  </a:solidFill>
                  <a:cs typeface="Arial" panose="020B0604020202020204" pitchFamily="34" charset="0"/>
                  <a:sym typeface="+mn-ea"/>
                </a:rPr>
                <a:t>→</a:t>
              </a:r>
              <a:r>
                <a:rPr lang="en-US" altLang="zh-CN" sz="1400">
                  <a:solidFill>
                    <a:schemeClr val="tx1"/>
                  </a:solidFill>
                  <a:cs typeface="Arial" panose="020B0604020202020204" pitchFamily="34" charset="0"/>
                </a:rPr>
                <a:t>0000</a:t>
              </a:r>
              <a:r>
                <a:rPr lang="zh-CN" altLang="en-US" sz="1400">
                  <a:solidFill>
                    <a:schemeClr val="tx1"/>
                  </a:solidFill>
                  <a:cs typeface="Arial" panose="020B0604020202020204" pitchFamily="34" charset="0"/>
                  <a:sym typeface="+mn-ea"/>
                </a:rPr>
                <a:t>→</a:t>
              </a:r>
              <a:r>
                <a:rPr lang="en-US" altLang="zh-CN" sz="1400">
                  <a:solidFill>
                    <a:schemeClr val="tx1"/>
                  </a:solidFill>
                  <a:cs typeface="Arial" panose="020B0604020202020204" pitchFamily="34" charset="0"/>
                </a:rPr>
                <a:t>1001</a:t>
              </a:r>
            </a:p>
          </p:txBody>
        </p:sp>
        <p:sp>
          <p:nvSpPr>
            <p:cNvPr id="62" name="左大括号 61"/>
            <p:cNvSpPr/>
            <p:nvPr>
              <p:custDataLst>
                <p:tags r:id="rId15"/>
              </p:custDataLst>
            </p:nvPr>
          </p:nvSpPr>
          <p:spPr>
            <a:xfrm>
              <a:off x="362" y="5967"/>
              <a:ext cx="267" cy="2949"/>
            </a:xfrm>
            <a:prstGeom prst="leftBrac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楷体_GB2312" charset="0"/>
                <a:cs typeface="楷体_GB2312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第六章：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同步计数器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5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454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454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179705" y="923925"/>
          <a:ext cx="8662035" cy="17595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5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0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5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sym typeface="+mn-ea"/>
                        </a:rPr>
                        <a:t>同步二进制加法计数器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sym typeface="+mn-ea"/>
                        </a:rPr>
                        <a:t>同步二进制加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sym typeface="+mn-ea"/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sym typeface="+mn-ea"/>
                        </a:rPr>
                        <a:t>减法计数器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sym typeface="+mn-ea"/>
                        </a:rPr>
                        <a:t>（下降沿触发）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sym typeface="+mn-ea"/>
                        </a:rPr>
                        <a:t>同步二进制减法计数器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91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323850" y="1628458"/>
          <a:ext cx="211613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79500" imgH="457200" progId="Equation.3">
                  <p:embed/>
                </p:oleObj>
              </mc:Choice>
              <mc:Fallback>
                <p:oleObj name="公式" r:id="rId3" imgW="10795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628458"/>
                        <a:ext cx="2116138" cy="8985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2" name="Object 3"/>
          <p:cNvGraphicFramePr>
            <a:graphicFrameLocks noChangeAspect="1"/>
          </p:cNvGraphicFramePr>
          <p:nvPr/>
        </p:nvGraphicFramePr>
        <p:xfrm>
          <a:off x="6443980" y="1663700"/>
          <a:ext cx="2160270" cy="916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079500" imgH="457200" progId="Equation.3">
                  <p:embed/>
                </p:oleObj>
              </mc:Choice>
              <mc:Fallback>
                <p:oleObj name="公式" r:id="rId5" imgW="10795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980" y="1663700"/>
                        <a:ext cx="2160270" cy="91694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0" y="2740025"/>
            <a:ext cx="3721735" cy="983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ctr">
              <a:buFont typeface="Wingdings" panose="05000000000000000000" charset="0"/>
              <a:buChar char="Ø"/>
            </a:pPr>
            <a:r>
              <a:rPr lang="en-US" altLang="zh-CN" sz="20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4</a:t>
            </a:r>
            <a:r>
              <a:rPr lang="zh-CN" altLang="en-US" sz="20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位同步二进制加法计数器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（同步十六进制加法计数器）</a:t>
            </a:r>
          </a:p>
          <a:p>
            <a:pPr algn="ctr"/>
            <a:r>
              <a:rPr lang="en-US" altLang="zh-CN" sz="1800" b="1" dirty="0">
                <a:solidFill>
                  <a:srgbClr val="FFC000"/>
                </a:solidFill>
                <a:sym typeface="+mn-ea"/>
              </a:rPr>
              <a:t>74161</a:t>
            </a:r>
          </a:p>
        </p:txBody>
      </p:sp>
      <p:graphicFrame>
        <p:nvGraphicFramePr>
          <p:cNvPr id="373765" name="Group 5"/>
          <p:cNvGraphicFramePr>
            <a:graphicFrameLocks noGrp="1"/>
          </p:cNvGraphicFramePr>
          <p:nvPr/>
        </p:nvGraphicFramePr>
        <p:xfrm>
          <a:off x="3923348" y="2780348"/>
          <a:ext cx="4608512" cy="2879726"/>
        </p:xfrm>
        <a:graphic>
          <a:graphicData uri="http://schemas.openxmlformats.org/drawingml/2006/table">
            <a:tbl>
              <a:tblPr/>
              <a:tblGrid>
                <a:gridCol w="54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5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工作状态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置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 0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（异步）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预置数（同步）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4509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4509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4509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4509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4509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保持（包括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4509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4509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4509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4509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4509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4509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保持（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但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C=0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>
                        <a:alpha val="4509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mic Sans MS" panose="030F0702030302020204" pitchFamily="66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>
                        <a:alpha val="4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>
                        <a:alpha val="4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>
                        <a:alpha val="4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>
                        <a:alpha val="4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>
                        <a:alpha val="4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计数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>
                        <a:alpha val="4705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9749" name="Picture 85" descr="7416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55650" y="3608705"/>
            <a:ext cx="2092960" cy="1224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9746" name="Object 70"/>
          <p:cNvGraphicFramePr>
            <a:graphicFrameLocks noChangeAspect="1"/>
          </p:cNvGraphicFramePr>
          <p:nvPr/>
        </p:nvGraphicFramePr>
        <p:xfrm>
          <a:off x="3780790" y="2879090"/>
          <a:ext cx="2684463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82800" imgH="215900" progId="Equation.3">
                  <p:embed/>
                </p:oleObj>
              </mc:Choice>
              <mc:Fallback>
                <p:oleObj name="公式" r:id="rId8" imgW="2082800" imgH="21590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0790" y="2879090"/>
                        <a:ext cx="2684463" cy="2778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47" name="Group 71"/>
          <p:cNvGrpSpPr/>
          <p:nvPr/>
        </p:nvGrpSpPr>
        <p:grpSpPr bwMode="auto">
          <a:xfrm>
            <a:off x="3995738" y="3788728"/>
            <a:ext cx="431800" cy="215900"/>
            <a:chOff x="2789" y="1970"/>
            <a:chExt cx="545" cy="190"/>
          </a:xfrm>
        </p:grpSpPr>
        <p:sp>
          <p:nvSpPr>
            <p:cNvPr id="373832" name="Line 72"/>
            <p:cNvSpPr>
              <a:spLocks noChangeShapeType="1"/>
            </p:cNvSpPr>
            <p:nvPr/>
          </p:nvSpPr>
          <p:spPr bwMode="auto">
            <a:xfrm>
              <a:off x="2789" y="2160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楷体_GB2312" charset="0"/>
              </a:endParaRPr>
            </a:p>
          </p:txBody>
        </p:sp>
        <p:sp>
          <p:nvSpPr>
            <p:cNvPr id="373833" name="Line 73"/>
            <p:cNvSpPr>
              <a:spLocks noChangeShapeType="1"/>
            </p:cNvSpPr>
            <p:nvPr/>
          </p:nvSpPr>
          <p:spPr bwMode="auto">
            <a:xfrm flipV="1">
              <a:off x="2971" y="1978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楷体_GB2312" charset="0"/>
              </a:endParaRPr>
            </a:p>
          </p:txBody>
        </p:sp>
        <p:sp>
          <p:nvSpPr>
            <p:cNvPr id="373834" name="Line 74"/>
            <p:cNvSpPr>
              <a:spLocks noChangeShapeType="1"/>
            </p:cNvSpPr>
            <p:nvPr/>
          </p:nvSpPr>
          <p:spPr bwMode="auto">
            <a:xfrm>
              <a:off x="2969" y="1970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楷体_GB2312" charset="0"/>
              </a:endParaRPr>
            </a:p>
          </p:txBody>
        </p:sp>
        <p:sp>
          <p:nvSpPr>
            <p:cNvPr id="373835" name="Line 75"/>
            <p:cNvSpPr>
              <a:spLocks noChangeShapeType="1"/>
            </p:cNvSpPr>
            <p:nvPr/>
          </p:nvSpPr>
          <p:spPr bwMode="auto">
            <a:xfrm>
              <a:off x="3152" y="1978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楷体_GB2312" charset="0"/>
              </a:endParaRPr>
            </a:p>
          </p:txBody>
        </p:sp>
        <p:sp>
          <p:nvSpPr>
            <p:cNvPr id="373836" name="Line 76"/>
            <p:cNvSpPr>
              <a:spLocks noChangeShapeType="1"/>
            </p:cNvSpPr>
            <p:nvPr/>
          </p:nvSpPr>
          <p:spPr bwMode="auto">
            <a:xfrm>
              <a:off x="3152" y="2160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楷体_GB2312" charset="0"/>
              </a:endParaRPr>
            </a:p>
          </p:txBody>
        </p:sp>
      </p:grpSp>
      <p:grpSp>
        <p:nvGrpSpPr>
          <p:cNvPr id="29748" name="Group 77"/>
          <p:cNvGrpSpPr/>
          <p:nvPr/>
        </p:nvGrpSpPr>
        <p:grpSpPr bwMode="auto">
          <a:xfrm>
            <a:off x="3995738" y="5301933"/>
            <a:ext cx="431800" cy="215900"/>
            <a:chOff x="2789" y="1970"/>
            <a:chExt cx="545" cy="190"/>
          </a:xfrm>
        </p:grpSpPr>
        <p:sp>
          <p:nvSpPr>
            <p:cNvPr id="373838" name="Line 78"/>
            <p:cNvSpPr>
              <a:spLocks noChangeShapeType="1"/>
            </p:cNvSpPr>
            <p:nvPr/>
          </p:nvSpPr>
          <p:spPr bwMode="auto">
            <a:xfrm>
              <a:off x="2789" y="2160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楷体_GB2312" charset="0"/>
              </a:endParaRPr>
            </a:p>
          </p:txBody>
        </p:sp>
        <p:sp>
          <p:nvSpPr>
            <p:cNvPr id="373839" name="Line 79"/>
            <p:cNvSpPr>
              <a:spLocks noChangeShapeType="1"/>
            </p:cNvSpPr>
            <p:nvPr/>
          </p:nvSpPr>
          <p:spPr bwMode="auto">
            <a:xfrm flipV="1">
              <a:off x="2971" y="1978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楷体_GB2312" charset="0"/>
              </a:endParaRPr>
            </a:p>
          </p:txBody>
        </p:sp>
        <p:sp>
          <p:nvSpPr>
            <p:cNvPr id="373840" name="Line 80"/>
            <p:cNvSpPr>
              <a:spLocks noChangeShapeType="1"/>
            </p:cNvSpPr>
            <p:nvPr/>
          </p:nvSpPr>
          <p:spPr bwMode="auto">
            <a:xfrm>
              <a:off x="2969" y="1970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楷体_GB2312" charset="0"/>
              </a:endParaRPr>
            </a:p>
          </p:txBody>
        </p:sp>
        <p:sp>
          <p:nvSpPr>
            <p:cNvPr id="373841" name="Line 81"/>
            <p:cNvSpPr>
              <a:spLocks noChangeShapeType="1"/>
            </p:cNvSpPr>
            <p:nvPr/>
          </p:nvSpPr>
          <p:spPr bwMode="auto">
            <a:xfrm>
              <a:off x="3152" y="1978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楷体_GB2312" charset="0"/>
              </a:endParaRPr>
            </a:p>
          </p:txBody>
        </p:sp>
        <p:sp>
          <p:nvSpPr>
            <p:cNvPr id="373842" name="Line 82"/>
            <p:cNvSpPr>
              <a:spLocks noChangeShapeType="1"/>
            </p:cNvSpPr>
            <p:nvPr/>
          </p:nvSpPr>
          <p:spPr bwMode="auto">
            <a:xfrm>
              <a:off x="3152" y="2160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楷体_GB2312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4356100" y="5684520"/>
            <a:ext cx="3048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i="1"/>
              <a:t>LD</a:t>
            </a:r>
            <a:r>
              <a:rPr lang="en-US" altLang="zh-CN" sz="1800"/>
              <a:t>’ (Load)</a:t>
            </a:r>
            <a:r>
              <a:rPr lang="zh-CN" altLang="en-US" sz="1800"/>
              <a:t>：预置数控制端</a:t>
            </a:r>
          </a:p>
          <a:p>
            <a:r>
              <a:rPr lang="en-US" altLang="zh-CN" sz="1800" i="1"/>
              <a:t>EP</a:t>
            </a:r>
            <a:r>
              <a:rPr lang="en-US" altLang="zh-CN" sz="1800"/>
              <a:t> (Enable P)</a:t>
            </a:r>
            <a:r>
              <a:rPr lang="zh-CN" altLang="en-US" sz="1800"/>
              <a:t>：始能</a:t>
            </a:r>
            <a:r>
              <a:rPr lang="en-US" altLang="zh-CN" sz="1800"/>
              <a:t>P</a:t>
            </a:r>
            <a:r>
              <a:rPr lang="zh-CN" altLang="en-US" sz="1800"/>
              <a:t>端</a:t>
            </a:r>
          </a:p>
          <a:p>
            <a:r>
              <a:rPr lang="en-US" altLang="zh-CN" sz="1800" i="1">
                <a:sym typeface="+mn-ea"/>
              </a:rPr>
              <a:t>ET</a:t>
            </a:r>
            <a:r>
              <a:rPr lang="en-US" altLang="zh-CN" sz="1800">
                <a:sym typeface="+mn-ea"/>
              </a:rPr>
              <a:t> (Enable T)</a:t>
            </a:r>
            <a:r>
              <a:rPr lang="zh-CN" altLang="en-US" sz="1800">
                <a:sym typeface="+mn-ea"/>
              </a:rPr>
              <a:t>：始能</a:t>
            </a:r>
            <a:r>
              <a:rPr lang="en-US" altLang="zh-CN" sz="1800">
                <a:sym typeface="+mn-ea"/>
              </a:rPr>
              <a:t>T</a:t>
            </a:r>
            <a:r>
              <a:rPr lang="zh-CN" altLang="en-US" sz="1800">
                <a:sym typeface="+mn-ea"/>
              </a:rPr>
              <a:t>端</a:t>
            </a:r>
          </a:p>
        </p:txBody>
      </p:sp>
      <p:graphicFrame>
        <p:nvGraphicFramePr>
          <p:cNvPr id="379972" name="Object 68"/>
          <p:cNvGraphicFramePr>
            <a:graphicFrameLocks noChangeAspect="1"/>
          </p:cNvGraphicFramePr>
          <p:nvPr/>
        </p:nvGraphicFramePr>
        <p:xfrm>
          <a:off x="2691765" y="1602740"/>
          <a:ext cx="3573145" cy="1113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20900" imgH="660400" progId="Equation.3">
                  <p:embed/>
                </p:oleObj>
              </mc:Choice>
              <mc:Fallback>
                <p:oleObj name="公式" r:id="rId10" imgW="2120900" imgH="66040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1765" y="1602740"/>
                        <a:ext cx="3573145" cy="111315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323850" y="3983355"/>
            <a:ext cx="41338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上升沿触发</a:t>
            </a:r>
          </a:p>
        </p:txBody>
      </p:sp>
      <p:pic>
        <p:nvPicPr>
          <p:cNvPr id="36917" name="Picture 84" descr="74160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37235" y="4869180"/>
            <a:ext cx="2155190" cy="1261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111760" y="6381115"/>
            <a:ext cx="35737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chemeClr val="accent2">
                    <a:lumMod val="50000"/>
                  </a:schemeClr>
                </a:solidFill>
                <a:sym typeface="+mn-ea"/>
              </a:rPr>
              <a:t>同步十进制加法计数器</a:t>
            </a:r>
            <a:endParaRPr lang="en-US" altLang="zh-CN" b="1" dirty="0">
              <a:solidFill>
                <a:srgbClr val="FFC000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8040" y="6093460"/>
            <a:ext cx="18656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FFC000"/>
                </a:solidFill>
                <a:sym typeface="+mn-ea"/>
              </a:rPr>
              <a:t>74160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第六章：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同步计数器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970" y="980440"/>
            <a:ext cx="54457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若已有的</a:t>
            </a:r>
            <a:r>
              <a:rPr lang="en-US" altLang="zh-CN" sz="20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N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进制芯片，组成</a:t>
            </a:r>
            <a:r>
              <a:rPr lang="en-US" altLang="zh-CN" sz="20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M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进制计数器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94970" y="1383030"/>
            <a:ext cx="808291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Tx/>
              <a:buNone/>
            </a:pP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1.  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当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N &gt; M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时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(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如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10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进制到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6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进制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)</a:t>
            </a:r>
            <a:endParaRPr lang="en-US" altLang="zh-CN" sz="20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None/>
            </a:pP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     </a:t>
            </a:r>
            <a:r>
              <a:rPr lang="zh-CN" altLang="en-US" sz="20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置零法（初始值默认</a:t>
            </a:r>
            <a:r>
              <a:rPr lang="en-US" altLang="zh-CN" sz="2000" i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S</a:t>
            </a:r>
            <a:r>
              <a:rPr lang="en-US" altLang="zh-CN" sz="2000" baseline="-250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0</a:t>
            </a:r>
            <a:r>
              <a:rPr lang="zh-CN" altLang="en-US" sz="20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）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   </a:t>
            </a:r>
            <a:r>
              <a:rPr lang="en-US" altLang="zh-CN" sz="20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              </a:t>
            </a:r>
            <a:r>
              <a:rPr lang="zh-CN" altLang="en-US" sz="20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置数法（初始值可变）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83260" y="2093595"/>
            <a:ext cx="392049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/>
              <a:t>(1)</a:t>
            </a:r>
            <a:r>
              <a:rPr lang="zh-CN" altLang="en-US" sz="1800"/>
              <a:t>画出状态图</a:t>
            </a:r>
          </a:p>
          <a:p>
            <a:r>
              <a:rPr lang="en-US" altLang="zh-CN" sz="1800"/>
              <a:t>(2)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</a:rPr>
              <a:t>异步置</a:t>
            </a:r>
            <a:r>
              <a:rPr lang="en-US" altLang="zh-CN" sz="1800">
                <a:solidFill>
                  <a:schemeClr val="accent2">
                    <a:lumMod val="50000"/>
                  </a:schemeClr>
                </a:solidFill>
              </a:rPr>
              <a:t>0</a:t>
            </a:r>
            <a:r>
              <a:rPr lang="zh-CN" altLang="en-US" sz="1800"/>
              <a:t>，初始值</a:t>
            </a:r>
            <a:r>
              <a:rPr lang="en-US" altLang="zh-CN" sz="1800" i="1">
                <a:sym typeface="+mn-ea"/>
              </a:rPr>
              <a:t>Q</a:t>
            </a:r>
            <a:r>
              <a:rPr lang="en-US" altLang="zh-CN" sz="1800" baseline="-25000">
                <a:sym typeface="+mn-ea"/>
              </a:rPr>
              <a:t>3</a:t>
            </a:r>
            <a:r>
              <a:rPr lang="en-US" altLang="zh-CN" sz="1800" i="1">
                <a:sym typeface="+mn-ea"/>
              </a:rPr>
              <a:t>Q</a:t>
            </a:r>
            <a:r>
              <a:rPr lang="en-US" altLang="zh-CN" sz="1800" baseline="-25000">
                <a:sym typeface="+mn-ea"/>
              </a:rPr>
              <a:t>2</a:t>
            </a:r>
            <a:r>
              <a:rPr lang="en-US" altLang="zh-CN" sz="1800" i="1">
                <a:sym typeface="+mn-ea"/>
              </a:rPr>
              <a:t>Q</a:t>
            </a:r>
            <a:r>
              <a:rPr lang="en-US" altLang="zh-CN" sz="1800" baseline="-25000">
                <a:sym typeface="+mn-ea"/>
              </a:rPr>
              <a:t>1</a:t>
            </a:r>
            <a:r>
              <a:rPr lang="en-US" altLang="zh-CN" sz="1800" i="1"/>
              <a:t>Q</a:t>
            </a:r>
            <a:r>
              <a:rPr lang="en-US" altLang="zh-CN" sz="1800" baseline="-25000"/>
              <a:t>0</a:t>
            </a:r>
            <a:r>
              <a:rPr lang="en-US" altLang="zh-CN" sz="1800"/>
              <a:t>=0000</a:t>
            </a:r>
            <a:r>
              <a:rPr lang="zh-CN" altLang="en-US" sz="1800"/>
              <a:t>；</a:t>
            </a:r>
          </a:p>
          <a:p>
            <a:r>
              <a:rPr lang="zh-CN" altLang="en-US" sz="1800"/>
              <a:t>在</a:t>
            </a:r>
            <a:r>
              <a:rPr lang="en-US" altLang="zh-CN" sz="1800" i="1">
                <a:sym typeface="+mn-ea"/>
              </a:rPr>
              <a:t>Q</a:t>
            </a:r>
            <a:r>
              <a:rPr lang="en-US" altLang="zh-CN" sz="1800" baseline="-25000">
                <a:sym typeface="+mn-ea"/>
              </a:rPr>
              <a:t>3</a:t>
            </a:r>
            <a:r>
              <a:rPr lang="en-US" altLang="zh-CN" sz="1800" i="1">
                <a:sym typeface="+mn-ea"/>
              </a:rPr>
              <a:t>Q</a:t>
            </a:r>
            <a:r>
              <a:rPr lang="en-US" altLang="zh-CN" sz="1800" baseline="-25000">
                <a:sym typeface="+mn-ea"/>
              </a:rPr>
              <a:t>2</a:t>
            </a:r>
            <a:r>
              <a:rPr lang="en-US" altLang="zh-CN" sz="1800" i="1">
                <a:sym typeface="+mn-ea"/>
              </a:rPr>
              <a:t>Q</a:t>
            </a:r>
            <a:r>
              <a:rPr lang="en-US" altLang="zh-CN" sz="1800" baseline="-25000">
                <a:sym typeface="+mn-ea"/>
              </a:rPr>
              <a:t>1</a:t>
            </a:r>
            <a:r>
              <a:rPr lang="en-US" altLang="zh-CN" sz="1800" i="1">
                <a:sym typeface="+mn-ea"/>
              </a:rPr>
              <a:t>Q</a:t>
            </a:r>
            <a:r>
              <a:rPr lang="en-US" altLang="zh-CN" sz="1800" baseline="-25000">
                <a:sym typeface="+mn-ea"/>
              </a:rPr>
              <a:t>0</a:t>
            </a:r>
            <a:r>
              <a:rPr lang="en-US" altLang="zh-CN" sz="1800">
                <a:sym typeface="+mn-ea"/>
              </a:rPr>
              <a:t>=0110</a:t>
            </a:r>
            <a:r>
              <a:rPr lang="zh-CN" altLang="en-US" sz="1800">
                <a:sym typeface="+mn-ea"/>
              </a:rPr>
              <a:t>（</a:t>
            </a:r>
            <a:r>
              <a:rPr lang="en-US" altLang="zh-CN" sz="1800" i="1">
                <a:sym typeface="+mn-ea"/>
              </a:rPr>
              <a:t>S</a:t>
            </a:r>
            <a:r>
              <a:rPr lang="en-US" altLang="zh-CN" sz="1800" baseline="-25000">
                <a:sym typeface="+mn-ea"/>
              </a:rPr>
              <a:t>M</a:t>
            </a:r>
            <a:r>
              <a:rPr lang="zh-CN" altLang="en-US" sz="1800">
                <a:sym typeface="+mn-ea"/>
              </a:rPr>
              <a:t>）时，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使用与非门的全</a:t>
            </a:r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1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为</a:t>
            </a:r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0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性质</a:t>
            </a:r>
            <a:r>
              <a:rPr lang="zh-CN" altLang="en-US" sz="1800">
                <a:sym typeface="+mn-ea"/>
              </a:rPr>
              <a:t>使</a:t>
            </a:r>
            <a:r>
              <a:rPr lang="en-US" altLang="zh-CN" sz="1800" i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R</a:t>
            </a:r>
            <a:r>
              <a:rPr lang="en-US" altLang="zh-CN" sz="1800" i="1" baseline="-250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D</a:t>
            </a:r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’=0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，得到：</a:t>
            </a:r>
          </a:p>
          <a:p>
            <a:r>
              <a:rPr lang="en-US" altLang="zh-CN" sz="1800" i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       R</a:t>
            </a:r>
            <a:r>
              <a:rPr lang="en-US" altLang="zh-CN" sz="1800" i="1" baseline="-250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D</a:t>
            </a:r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’=(</a:t>
            </a:r>
            <a:r>
              <a:rPr lang="en-US" altLang="zh-CN" sz="1800" i="1">
                <a:sym typeface="+mn-ea"/>
              </a:rPr>
              <a:t>Q’</a:t>
            </a:r>
            <a:r>
              <a:rPr lang="en-US" altLang="zh-CN" sz="1800" baseline="-25000">
                <a:sym typeface="+mn-ea"/>
              </a:rPr>
              <a:t>3</a:t>
            </a:r>
            <a:r>
              <a:rPr lang="en-US" altLang="zh-CN" sz="1800" i="1">
                <a:sym typeface="+mn-ea"/>
              </a:rPr>
              <a:t>Q</a:t>
            </a:r>
            <a:r>
              <a:rPr lang="en-US" altLang="zh-CN" sz="1800" baseline="-25000">
                <a:sym typeface="+mn-ea"/>
              </a:rPr>
              <a:t>2</a:t>
            </a:r>
            <a:r>
              <a:rPr lang="en-US" altLang="zh-CN" sz="1800" i="1">
                <a:sym typeface="+mn-ea"/>
              </a:rPr>
              <a:t>Q</a:t>
            </a:r>
            <a:r>
              <a:rPr lang="en-US" altLang="zh-CN" sz="1800" baseline="-25000">
                <a:sym typeface="+mn-ea"/>
              </a:rPr>
              <a:t>1</a:t>
            </a:r>
            <a:r>
              <a:rPr lang="en-US" altLang="zh-CN" sz="1800" i="1">
                <a:sym typeface="+mn-ea"/>
              </a:rPr>
              <a:t>Q’</a:t>
            </a:r>
            <a:r>
              <a:rPr lang="en-US" altLang="zh-CN" sz="1800" baseline="-25000">
                <a:sym typeface="+mn-ea"/>
              </a:rPr>
              <a:t>0</a:t>
            </a:r>
            <a:r>
              <a:rPr lang="en-US" altLang="zh-CN" sz="1800">
                <a:sym typeface="+mn-ea"/>
              </a:rPr>
              <a:t>)’</a:t>
            </a:r>
          </a:p>
          <a:p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   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或</a:t>
            </a:r>
            <a:r>
              <a:rPr lang="en-US" altLang="zh-CN" sz="1800" i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R</a:t>
            </a:r>
            <a:r>
              <a:rPr lang="en-US" altLang="zh-CN" sz="1800" i="1" baseline="-250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D</a:t>
            </a:r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  <a:sym typeface="+mn-ea"/>
              </a:rPr>
              <a:t>’=(</a:t>
            </a:r>
            <a:r>
              <a:rPr lang="en-US" altLang="zh-CN" sz="1800" i="1">
                <a:sym typeface="+mn-ea"/>
              </a:rPr>
              <a:t>Q</a:t>
            </a:r>
            <a:r>
              <a:rPr lang="en-US" altLang="zh-CN" sz="1800" baseline="-25000">
                <a:sym typeface="+mn-ea"/>
              </a:rPr>
              <a:t>2</a:t>
            </a:r>
            <a:r>
              <a:rPr lang="en-US" altLang="zh-CN" sz="1800" i="1">
                <a:sym typeface="+mn-ea"/>
              </a:rPr>
              <a:t>Q</a:t>
            </a:r>
            <a:r>
              <a:rPr lang="en-US" altLang="zh-CN" sz="1800" baseline="-25000">
                <a:sym typeface="+mn-ea"/>
              </a:rPr>
              <a:t>1</a:t>
            </a:r>
            <a:r>
              <a:rPr lang="en-US" altLang="zh-CN" sz="1800">
                <a:sym typeface="+mn-ea"/>
              </a:rPr>
              <a:t>)’</a:t>
            </a:r>
          </a:p>
          <a:p>
            <a:r>
              <a:rPr lang="en-US" altLang="zh-CN" sz="1800">
                <a:sym typeface="+mn-ea"/>
              </a:rPr>
              <a:t>(3)</a:t>
            </a:r>
            <a:r>
              <a:rPr lang="zh-CN" altLang="en-US" sz="1800">
                <a:sym typeface="+mn-ea"/>
              </a:rPr>
              <a:t>画出逻辑图，给出进位输出。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16145" y="2093595"/>
            <a:ext cx="4128770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(1)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画出状态图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(2)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Times New Roman" panose="02020603050405020304"/>
                <a:ea typeface="宋体" panose="02010600030101010101" pitchFamily="2" charset="-122"/>
              </a:rPr>
              <a:t>同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步置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Times New Roman" panose="02020603050405020304"/>
                <a:ea typeface="宋体" panose="02010600030101010101" pitchFamily="2" charset="-122"/>
              </a:rPr>
              <a:t>数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若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初始值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Q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Q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Q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Q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=0000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Q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Q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Q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Q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=01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</a:rPr>
              <a:t>01</a:t>
            </a:r>
            <a:r>
              <a:rPr lang="zh-CN" altLang="en-US" sz="180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S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</a:rPr>
              <a:t>M-1</a:t>
            </a:r>
            <a:r>
              <a:rPr lang="zh-CN" altLang="en-US" sz="180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）时，使用与非门的全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en-US" sz="180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zh-CN" altLang="en-US" sz="180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性质使</a:t>
            </a:r>
            <a:r>
              <a:rPr lang="en-US" altLang="zh-CN" sz="1800" i="1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</a:rPr>
              <a:t>LD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’=0</a:t>
            </a:r>
            <a:r>
              <a:rPr lang="zh-CN" altLang="en-US" sz="180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，得到：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       </a:t>
            </a:r>
            <a:r>
              <a:rPr lang="en-US" altLang="zh-CN" sz="1800" i="1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</a:rPr>
              <a:t>LD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’=(Q’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Q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Q’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Q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)’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    </a:t>
            </a:r>
            <a:r>
              <a:rPr lang="zh-CN" altLang="en-US" sz="180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1800" i="1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</a:rPr>
              <a:t>LD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’=(Q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Q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)’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(3)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画出逻辑图，给出进位输出。</a:t>
            </a:r>
          </a:p>
        </p:txBody>
      </p:sp>
      <p:pic>
        <p:nvPicPr>
          <p:cNvPr id="49156" name="Picture 6" descr="6-3-3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505" y="4179570"/>
            <a:ext cx="3609975" cy="2305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0" name="Picture 8" descr="6-3-36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7628" y="4180523"/>
            <a:ext cx="2952750" cy="2281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本框 6"/>
          <p:cNvSpPr txBox="1"/>
          <p:nvPr/>
        </p:nvSpPr>
        <p:spPr>
          <a:xfrm>
            <a:off x="0" y="476885"/>
            <a:ext cx="734885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第六章：</a:t>
            </a:r>
            <a:r>
              <a:rPr lang="zh-CN" altLang="en-US">
                <a:solidFill>
                  <a:srgbClr val="0066FF"/>
                </a:solidFill>
                <a:sym typeface="+mn-ea"/>
              </a:rPr>
              <a:t>任意进制计数器的构成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66FF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4970" y="980440"/>
            <a:ext cx="54457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若已有的</a:t>
            </a:r>
            <a:r>
              <a:rPr lang="en-US" altLang="zh-CN" sz="20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N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进制芯片，组成</a:t>
            </a:r>
            <a:r>
              <a:rPr lang="en-US" altLang="zh-CN" sz="20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M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进制计数器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94970" y="1383030"/>
            <a:ext cx="808291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Tx/>
              <a:buNone/>
            </a:pP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2.  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当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N &lt; M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时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(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如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10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进制到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29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进制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)</a:t>
            </a:r>
            <a:endParaRPr lang="en-US" altLang="zh-CN" sz="20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None/>
            </a:pP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     </a:t>
            </a:r>
            <a:r>
              <a:rPr lang="zh-CN" altLang="en-US" sz="20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并行进位方式，串行进位方式，整体置零和整体置数法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   </a:t>
            </a:r>
            <a:r>
              <a:rPr lang="en-US" altLang="zh-CN" sz="200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              </a:t>
            </a:r>
            <a:endParaRPr lang="zh-CN" altLang="en-US" sz="200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5650" y="2132965"/>
            <a:ext cx="814641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并行进位方式：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用同一个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CLK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，低位片的进位输出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C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作为高位片的计数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始能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EP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ET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）。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Times New Roman" panose="02020603050405020304"/>
                <a:ea typeface="宋体" panose="02010600030101010101" pitchFamily="2" charset="-122"/>
              </a:rPr>
              <a:t>整体置零和整体置数法：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先按并行方法将两片</a:t>
            </a:r>
            <a:r>
              <a:rPr lang="en-US" altLang="zh-CN" sz="1800">
                <a:latin typeface="Times New Roman" panose="02020603050405020304"/>
                <a:ea typeface="Times New Roman" panose="02020603050405020304"/>
              </a:rPr>
              <a:t>N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进制计数器接为</a:t>
            </a:r>
            <a:r>
              <a:rPr lang="en-US" altLang="zh-CN" sz="1800">
                <a:latin typeface="Times New Roman" panose="02020603050405020304"/>
                <a:ea typeface="Times New Roman" panose="02020603050405020304"/>
              </a:rPr>
              <a:t>N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</a:rPr>
              <a:t>·</a:t>
            </a:r>
            <a:r>
              <a:rPr lang="en-US" altLang="zh-CN" sz="1800">
                <a:latin typeface="Times New Roman" panose="02020603050405020304"/>
                <a:ea typeface="Times New Roman" panose="02020603050405020304"/>
              </a:rPr>
              <a:t>N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进制计数器，然后在两片计数器的末态采用异步置</a:t>
            </a:r>
            <a:r>
              <a:rPr lang="en-US" altLang="zh-CN" sz="1800"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法（</a:t>
            </a:r>
            <a:r>
              <a:rPr lang="zh-CN" altLang="en-US" sz="180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R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D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’=0</a:t>
            </a:r>
            <a:r>
              <a:rPr lang="zh-CN" altLang="en-US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或同步置数法（</a:t>
            </a:r>
            <a:r>
              <a:rPr lang="zh-CN" altLang="en-US" sz="180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</a:rPr>
              <a:t>LD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’=0</a:t>
            </a:r>
            <a:r>
              <a:rPr lang="zh-CN" altLang="en-US" sz="180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</a:rPr>
              <a:t>）。</a:t>
            </a:r>
          </a:p>
        </p:txBody>
      </p:sp>
      <p:grpSp>
        <p:nvGrpSpPr>
          <p:cNvPr id="402443" name="Group 11"/>
          <p:cNvGrpSpPr/>
          <p:nvPr/>
        </p:nvGrpSpPr>
        <p:grpSpPr bwMode="auto">
          <a:xfrm>
            <a:off x="0" y="3488055"/>
            <a:ext cx="4527550" cy="2820035"/>
            <a:chOff x="975" y="366"/>
            <a:chExt cx="2880" cy="1794"/>
          </a:xfrm>
        </p:grpSpPr>
        <p:sp>
          <p:nvSpPr>
            <p:cNvPr id="402437" name="Text Box 5"/>
            <p:cNvSpPr txBox="1">
              <a:spLocks noChangeArrowheads="1"/>
            </p:cNvSpPr>
            <p:nvPr/>
          </p:nvSpPr>
          <p:spPr bwMode="auto">
            <a:xfrm>
              <a:off x="1731" y="366"/>
              <a:ext cx="1676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charset="0"/>
                </a:rPr>
                <a:t>整体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charset="0"/>
                </a:rPr>
                <a:t>异步置零</a:t>
              </a:r>
              <a:endParaRPr lang="en-US" altLang="zh-CN" sz="2400" dirty="0">
                <a:solidFill>
                  <a:srgbClr val="FF0000"/>
                </a:solidFill>
                <a:latin typeface="Times New Roman" panose="02020603050405020304" charset="0"/>
              </a:endParaRPr>
            </a:p>
          </p:txBody>
        </p:sp>
        <p:pic>
          <p:nvPicPr>
            <p:cNvPr id="56327" name="Picture 9" descr="6-3-4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5" y="737"/>
              <a:ext cx="2880" cy="1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02444" name="Group 12"/>
          <p:cNvGrpSpPr/>
          <p:nvPr/>
        </p:nvGrpSpPr>
        <p:grpSpPr bwMode="auto">
          <a:xfrm>
            <a:off x="4500245" y="3543935"/>
            <a:ext cx="4605655" cy="2386330"/>
            <a:chOff x="1020" y="1983"/>
            <a:chExt cx="2930" cy="1518"/>
          </a:xfrm>
        </p:grpSpPr>
        <p:sp>
          <p:nvSpPr>
            <p:cNvPr id="402440" name="Text Box 8"/>
            <p:cNvSpPr txBox="1">
              <a:spLocks noChangeArrowheads="1"/>
            </p:cNvSpPr>
            <p:nvPr/>
          </p:nvSpPr>
          <p:spPr bwMode="auto">
            <a:xfrm>
              <a:off x="1890" y="1983"/>
              <a:ext cx="1523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charset="0"/>
                </a:rPr>
                <a:t>整体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charset="0"/>
                </a:rPr>
                <a:t>同步置零</a:t>
              </a:r>
              <a:endParaRPr lang="en-US" altLang="zh-CN" sz="2400" dirty="0">
                <a:solidFill>
                  <a:srgbClr val="FF0000"/>
                </a:solidFill>
                <a:latin typeface="Times New Roman" panose="02020603050405020304" charset="0"/>
              </a:endParaRPr>
            </a:p>
          </p:txBody>
        </p:sp>
        <p:pic>
          <p:nvPicPr>
            <p:cNvPr id="56325" name="Picture 10" descr="6-3-41"/>
            <p:cNvPicPr>
              <a:picLocks noChangeAspect="1" noChangeArrowheads="1"/>
            </p:cNvPicPr>
            <p:nvPr/>
          </p:nvPicPr>
          <p:blipFill>
            <a:blip r:embed="rId3"/>
            <a:srcRect r="12796"/>
            <a:stretch>
              <a:fillRect/>
            </a:stretch>
          </p:blipFill>
          <p:spPr bwMode="auto">
            <a:xfrm>
              <a:off x="1020" y="2346"/>
              <a:ext cx="2930" cy="1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第六章：</a:t>
            </a:r>
            <a:r>
              <a:rPr lang="zh-CN" altLang="en-US">
                <a:solidFill>
                  <a:srgbClr val="0066FF"/>
                </a:solidFill>
                <a:sym typeface="+mn-ea"/>
              </a:rPr>
              <a:t>任意进制计数器的构成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8967EA-5BDB-DC26-A9FA-A89AD3FDA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8431"/>
            <a:ext cx="9144000" cy="64811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5" name="Rectangle 3"/>
          <p:cNvSpPr>
            <a:spLocks noGrp="1" noChangeArrowheads="1"/>
          </p:cNvSpPr>
          <p:nvPr/>
        </p:nvSpPr>
        <p:spPr>
          <a:xfrm>
            <a:off x="207010" y="981075"/>
            <a:ext cx="8357870" cy="41008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16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一、逻辑抽象，求出状态转换图或状态转换表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None/>
            </a:pPr>
            <a:r>
              <a:rPr lang="en-US" altLang="zh-CN" sz="20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1.  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确定输入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输出变量、电路状态数以及含义。</a:t>
            </a:r>
            <a:endParaRPr lang="en-US" altLang="zh-CN" sz="20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2.  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按设计要求列出状态转换表，或画出状态转换图。</a:t>
            </a:r>
            <a:endParaRPr lang="en-US" altLang="zh-CN" sz="20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None/>
            </a:pP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二、状态化简：等价状态可合并。</a:t>
            </a:r>
            <a:endParaRPr lang="en-US" altLang="zh-CN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None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三、状态分配：确定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触发器数目，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规定代码。</a:t>
            </a:r>
          </a:p>
          <a:p>
            <a:pPr>
              <a:buFontTx/>
              <a:buNone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四、选定触发器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类型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，求出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状态方程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输出方程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通过触发器类型写出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驱动方程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。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Tx/>
              <a:buNone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五、画出逻辑图</a:t>
            </a:r>
          </a:p>
          <a:p>
            <a:pPr>
              <a:buFontTx/>
              <a:buNone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六、检查自启动</a:t>
            </a:r>
          </a:p>
        </p:txBody>
      </p:sp>
      <p:pic>
        <p:nvPicPr>
          <p:cNvPr id="6246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3305" y="4725035"/>
            <a:ext cx="6671945" cy="168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第六章：同步时序逻辑电路的设计方法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" y="548640"/>
            <a:ext cx="8780145" cy="27813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27405" y="3573145"/>
            <a:ext cx="695071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解题思路：</a:t>
            </a:r>
            <a:r>
              <a:rPr lang="zh-CN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存储电路中每个触发器的输入端电路对应驱动方程，将驱动方程代入触发器的特性方程得到状态方程，输出方程为电路的整体输出。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以上由三个</a:t>
            </a:r>
            <a:r>
              <a:rPr lang="en-US" altLang="zh-CN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D</a:t>
            </a:r>
            <a:r>
              <a:rPr lang="zh-CN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触发器组成，相应的特性方程为</a:t>
            </a:r>
            <a:r>
              <a:rPr lang="en-US" altLang="zh-CN" sz="1800" i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Q</a:t>
            </a:r>
            <a:r>
              <a:rPr lang="en-US" altLang="zh-CN" sz="1800" baseline="30000">
                <a:solidFill>
                  <a:schemeClr val="tx1"/>
                </a:solidFill>
                <a:latin typeface="Times New Roman" panose="02020603050405020304" charset="0"/>
                <a:ea typeface="等线" panose="02010600030101010101" charset="-122"/>
                <a:cs typeface="Times New Roman" panose="02020603050405020304" charset="0"/>
              </a:rPr>
              <a:t>*</a:t>
            </a:r>
            <a:r>
              <a:rPr lang="en-US" altLang="zh-CN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=</a:t>
            </a:r>
            <a:r>
              <a:rPr lang="en-US" altLang="zh-CN" sz="1800" i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D</a:t>
            </a:r>
            <a:r>
              <a:rPr lang="zh-CN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" y="548640"/>
            <a:ext cx="8586470" cy="26606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7405" y="3573145"/>
            <a:ext cx="695071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解题思路：</a:t>
            </a:r>
            <a:r>
              <a:rPr lang="zh-CN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存储电路中每个触发器的输入端电路对应驱动方程，将驱动方程代入触发器的特性方程得到状态方程，输出方程为电路的整体输出。</a:t>
            </a: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以上由三个</a:t>
            </a:r>
            <a:r>
              <a:rPr lang="en-US" altLang="zh-CN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JK</a:t>
            </a:r>
            <a:r>
              <a:rPr lang="zh-CN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触发器组成，相应的特性方程为</a:t>
            </a:r>
            <a:r>
              <a:rPr lang="en-US" altLang="zh-CN" sz="1800" i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Q</a:t>
            </a:r>
            <a:r>
              <a:rPr lang="en-US" altLang="zh-CN" sz="1800" baseline="30000">
                <a:solidFill>
                  <a:schemeClr val="tx1"/>
                </a:solidFill>
                <a:latin typeface="Times New Roman" panose="02020603050405020304" charset="0"/>
                <a:ea typeface="等线" panose="02010600030101010101" charset="-122"/>
                <a:cs typeface="Times New Roman" panose="02020603050405020304" charset="0"/>
              </a:rPr>
              <a:t>*</a:t>
            </a:r>
            <a:r>
              <a:rPr lang="en-US" altLang="zh-CN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=</a:t>
            </a:r>
            <a:r>
              <a:rPr lang="en-US" altLang="zh-CN" sz="1800" i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JQ’</a:t>
            </a:r>
            <a:r>
              <a:rPr lang="en-US" altLang="zh-CN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+</a:t>
            </a:r>
            <a:r>
              <a:rPr lang="en-US" altLang="zh-CN" sz="1800" i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K’Q</a:t>
            </a:r>
            <a:r>
              <a:rPr lang="zh-CN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23850" y="4232275"/>
            <a:ext cx="370014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解题思路：十进制计数器</a:t>
            </a:r>
            <a:r>
              <a:rPr lang="en-US" altLang="zh-CN" sz="18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74160</a:t>
            </a:r>
            <a:r>
              <a:rPr lang="zh-CN" altLang="en-US" sz="18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与十六进制计数器</a:t>
            </a:r>
            <a:r>
              <a:rPr lang="en-US" altLang="zh-CN" sz="18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74161</a:t>
            </a:r>
            <a:r>
              <a:rPr lang="zh-CN" altLang="en-US" sz="18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功能表相同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23850" y="5154295"/>
            <a:ext cx="373253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>
                <a:latin typeface="等线" panose="02010600030101010101" charset="-122"/>
                <a:ea typeface="等线" panose="02010600030101010101" charset="-122"/>
              </a:rPr>
              <a:t> 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注意：数据输入</a:t>
            </a:r>
            <a:r>
              <a:rPr lang="en-US" altLang="zh-CN" sz="1800">
                <a:latin typeface="等线" panose="02010600030101010101" charset="-122"/>
                <a:ea typeface="等线" panose="02010600030101010101" charset="-122"/>
              </a:rPr>
              <a:t>/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出端</a:t>
            </a:r>
            <a:r>
              <a:rPr lang="en-US" altLang="zh-CN" sz="1800" i="1">
                <a:latin typeface="等线" panose="02010600030101010101" charset="-122"/>
                <a:ea typeface="等线" panose="02010600030101010101" charset="-122"/>
              </a:rPr>
              <a:t>D</a:t>
            </a:r>
            <a:r>
              <a:rPr lang="en-US" altLang="zh-CN" sz="1800" baseline="-25000">
                <a:latin typeface="等线" panose="02010600030101010101" charset="-122"/>
                <a:ea typeface="等线" panose="02010600030101010101" charset="-122"/>
              </a:rPr>
              <a:t>3</a:t>
            </a:r>
            <a:r>
              <a:rPr lang="en-US" altLang="zh-CN" sz="1800">
                <a:latin typeface="等线" panose="02010600030101010101" charset="-122"/>
                <a:ea typeface="等线" panose="02010600030101010101" charset="-122"/>
              </a:rPr>
              <a:t>/</a:t>
            </a:r>
            <a:r>
              <a:rPr lang="en-US" altLang="zh-CN" sz="1800" i="1">
                <a:latin typeface="等线" panose="02010600030101010101" charset="-122"/>
                <a:ea typeface="等线" panose="02010600030101010101" charset="-122"/>
              </a:rPr>
              <a:t>Q</a:t>
            </a:r>
            <a:r>
              <a:rPr lang="en-US" altLang="zh-CN" sz="1800" baseline="-25000">
                <a:latin typeface="等线" panose="02010600030101010101" charset="-122"/>
                <a:ea typeface="等线" panose="02010600030101010101" charset="-122"/>
              </a:rPr>
              <a:t>3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为高位，</a:t>
            </a:r>
            <a:r>
              <a:rPr lang="en-US" altLang="zh-CN" sz="1800" i="1">
                <a:latin typeface="等线" panose="02010600030101010101" charset="-122"/>
                <a:ea typeface="等线" panose="02010600030101010101" charset="-122"/>
              </a:rPr>
              <a:t>Q</a:t>
            </a:r>
            <a:r>
              <a:rPr lang="en-US" altLang="zh-CN" sz="1800" baseline="-25000">
                <a:latin typeface="等线" panose="02010600030101010101" charset="-122"/>
                <a:ea typeface="等线" panose="02010600030101010101" charset="-122"/>
              </a:rPr>
              <a:t>2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，</a:t>
            </a:r>
            <a:r>
              <a:rPr lang="en-US" altLang="zh-CN" sz="1800" i="1">
                <a:latin typeface="等线" panose="02010600030101010101" charset="-122"/>
                <a:ea typeface="等线" panose="02010600030101010101" charset="-122"/>
              </a:rPr>
              <a:t>Q</a:t>
            </a:r>
            <a:r>
              <a:rPr lang="en-US" altLang="zh-CN" sz="1800" baseline="-25000">
                <a:latin typeface="等线" panose="02010600030101010101" charset="-122"/>
                <a:ea typeface="等线" panose="02010600030101010101" charset="-122"/>
              </a:rPr>
              <a:t>1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是按反变量的形式接入与非门中（题中简化了），然后接入同步预置数端</a:t>
            </a:r>
            <a:r>
              <a:rPr lang="en-US" altLang="zh-CN" sz="1800" i="1">
                <a:latin typeface="等线" panose="02010600030101010101" charset="-122"/>
                <a:ea typeface="等线" panose="02010600030101010101" charset="-122"/>
              </a:rPr>
              <a:t>LD</a:t>
            </a:r>
            <a:r>
              <a:rPr lang="en-US" altLang="zh-CN" sz="1800">
                <a:latin typeface="等线" panose="02010600030101010101" charset="-122"/>
                <a:ea typeface="等线" panose="02010600030101010101" charset="-122"/>
              </a:rPr>
              <a:t>’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中。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b="86565"/>
          <a:stretch>
            <a:fillRect/>
          </a:stretch>
        </p:blipFill>
        <p:spPr>
          <a:xfrm>
            <a:off x="107315" y="404495"/>
            <a:ext cx="8763635" cy="5041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643755" y="4225290"/>
            <a:ext cx="370014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 i="0">
                <a:solidFill>
                  <a:schemeClr val="tx1"/>
                </a:solidFill>
                <a:latin typeface="Times New Roman" panose="02020603050405020304"/>
                <a:ea typeface="等线" panose="02010600030101010101" charset="-122"/>
              </a:rPr>
              <a:t>解题思路：题中为十进制计数器</a:t>
            </a:r>
            <a:r>
              <a:rPr lang="en-US" altLang="zh-CN" sz="180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74160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643755" y="5147310"/>
            <a:ext cx="373253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>
                <a:latin typeface="等线" panose="02010600030101010101" charset="-122"/>
                <a:ea typeface="等线" panose="02010600030101010101" charset="-122"/>
              </a:rPr>
              <a:t> 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注意：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  <a:sym typeface="+mn-ea"/>
              </a:rPr>
              <a:t>数据输入</a:t>
            </a:r>
            <a:r>
              <a:rPr lang="en-US" altLang="zh-CN" sz="1800">
                <a:latin typeface="等线" panose="02010600030101010101" charset="-122"/>
                <a:ea typeface="等线" panose="02010600030101010101" charset="-122"/>
                <a:sym typeface="+mn-ea"/>
              </a:rPr>
              <a:t>/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  <a:sym typeface="+mn-ea"/>
              </a:rPr>
              <a:t>出端</a:t>
            </a:r>
            <a:r>
              <a:rPr lang="en-US" altLang="zh-CN" sz="1800" i="1">
                <a:latin typeface="等线" panose="02010600030101010101" charset="-122"/>
                <a:ea typeface="等线" panose="02010600030101010101" charset="-122"/>
              </a:rPr>
              <a:t>D</a:t>
            </a:r>
            <a:r>
              <a:rPr lang="en-US" altLang="zh-CN" sz="1800" baseline="-25000">
                <a:latin typeface="等线" panose="02010600030101010101" charset="-122"/>
                <a:ea typeface="等线" panose="02010600030101010101" charset="-122"/>
              </a:rPr>
              <a:t>3</a:t>
            </a:r>
            <a:r>
              <a:rPr lang="en-US" altLang="zh-CN" sz="1800">
                <a:latin typeface="等线" panose="02010600030101010101" charset="-122"/>
                <a:ea typeface="等线" panose="02010600030101010101" charset="-122"/>
              </a:rPr>
              <a:t>/</a:t>
            </a:r>
            <a:r>
              <a:rPr lang="en-US" altLang="zh-CN" sz="1800" i="1">
                <a:latin typeface="等线" panose="02010600030101010101" charset="-122"/>
                <a:ea typeface="等线" panose="02010600030101010101" charset="-122"/>
              </a:rPr>
              <a:t>Q</a:t>
            </a:r>
            <a:r>
              <a:rPr lang="en-US" altLang="zh-CN" sz="1800" baseline="-25000">
                <a:latin typeface="等线" panose="02010600030101010101" charset="-122"/>
                <a:ea typeface="等线" panose="02010600030101010101" charset="-122"/>
              </a:rPr>
              <a:t>3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为高位，</a:t>
            </a:r>
            <a:r>
              <a:rPr lang="en-US" altLang="zh-CN" sz="1800" i="1">
                <a:latin typeface="等线" panose="02010600030101010101" charset="-122"/>
                <a:ea typeface="等线" panose="02010600030101010101" charset="-122"/>
              </a:rPr>
              <a:t>Q</a:t>
            </a:r>
            <a:r>
              <a:rPr lang="en-US" altLang="zh-CN" sz="1800" baseline="-25000">
                <a:latin typeface="等线" panose="02010600030101010101" charset="-122"/>
                <a:ea typeface="等线" panose="02010600030101010101" charset="-122"/>
              </a:rPr>
              <a:t>2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，</a:t>
            </a:r>
            <a:r>
              <a:rPr lang="en-US" altLang="zh-CN" sz="1800" i="1">
                <a:latin typeface="等线" panose="02010600030101010101" charset="-122"/>
                <a:ea typeface="等线" panose="02010600030101010101" charset="-122"/>
              </a:rPr>
              <a:t>Q</a:t>
            </a:r>
            <a:r>
              <a:rPr lang="en-US" altLang="zh-CN" sz="1800" baseline="-25000">
                <a:latin typeface="等线" panose="02010600030101010101" charset="-122"/>
                <a:ea typeface="等线" panose="02010600030101010101" charset="-122"/>
              </a:rPr>
              <a:t>0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</a:rPr>
              <a:t>是按反变量的形式接入与非门中（题中简化了），然后接入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  <a:sym typeface="+mn-ea"/>
              </a:rPr>
              <a:t>接入同步预置数端</a:t>
            </a:r>
            <a:r>
              <a:rPr lang="en-US" altLang="zh-CN" sz="1800" i="1">
                <a:latin typeface="等线" panose="02010600030101010101" charset="-122"/>
                <a:ea typeface="等线" panose="02010600030101010101" charset="-122"/>
                <a:sym typeface="+mn-ea"/>
              </a:rPr>
              <a:t>LD</a:t>
            </a:r>
            <a:r>
              <a:rPr lang="en-US" altLang="zh-CN" sz="1800">
                <a:latin typeface="等线" panose="02010600030101010101" charset="-122"/>
                <a:ea typeface="等线" panose="02010600030101010101" charset="-122"/>
                <a:sym typeface="+mn-ea"/>
              </a:rPr>
              <a:t>’</a:t>
            </a:r>
            <a:r>
              <a:rPr lang="zh-CN" altLang="en-US" sz="1800">
                <a:latin typeface="等线" panose="02010600030101010101" charset="-122"/>
                <a:ea typeface="等线" panose="02010600030101010101" charset="-122"/>
                <a:sym typeface="+mn-ea"/>
              </a:rPr>
              <a:t>中。</a:t>
            </a:r>
            <a:endParaRPr lang="zh-CN" altLang="en-US" sz="180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33080" r="48859"/>
          <a:stretch>
            <a:fillRect/>
          </a:stretch>
        </p:blipFill>
        <p:spPr>
          <a:xfrm>
            <a:off x="179070" y="1443990"/>
            <a:ext cx="4481830" cy="25114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28395" t="16879" r="27417"/>
          <a:stretch>
            <a:fillRect/>
          </a:stretch>
        </p:blipFill>
        <p:spPr>
          <a:xfrm>
            <a:off x="4660900" y="1465580"/>
            <a:ext cx="3528695" cy="2482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b="80825"/>
          <a:stretch>
            <a:fillRect/>
          </a:stretch>
        </p:blipFill>
        <p:spPr>
          <a:xfrm>
            <a:off x="107315" y="909955"/>
            <a:ext cx="7985760" cy="572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  <p:bldP spid="8" grpId="0"/>
      <p:bldP spid="8" grpId="1"/>
      <p:bldP spid="9" grpId="0"/>
      <p:bldP spid="9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9131935" cy="6184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39115" y="3241675"/>
            <a:ext cx="742759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 i="0">
                <a:solidFill>
                  <a:srgbClr val="0000FF"/>
                </a:solidFill>
                <a:latin typeface="Times New Roman" panose="02020603050405020304"/>
                <a:ea typeface="等线" panose="02010600030101010101" charset="-122"/>
              </a:rPr>
              <a:t>解题思路：输入控制变量</a:t>
            </a:r>
            <a:r>
              <a:rPr lang="en-US" altLang="zh-CN" sz="1800" i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</a:rPr>
              <a:t>M=0</a:t>
            </a:r>
            <a:r>
              <a:rPr lang="zh-CN" altLang="en-US" sz="1800" i="0">
                <a:solidFill>
                  <a:srgbClr val="0000FF"/>
                </a:solidFill>
                <a:latin typeface="Times New Roman" panose="02020603050405020304"/>
                <a:ea typeface="等线" panose="02010600030101010101" charset="-122"/>
              </a:rPr>
              <a:t>为五进制，</a:t>
            </a:r>
            <a:r>
              <a:rPr lang="en-US" altLang="zh-CN" sz="1800" i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</a:rPr>
              <a:t>M=1</a:t>
            </a:r>
            <a:r>
              <a:rPr lang="zh-CN" altLang="en-US" sz="1800" i="0">
                <a:solidFill>
                  <a:srgbClr val="0000FF"/>
                </a:solidFill>
                <a:latin typeface="Times New Roman" panose="02020603050405020304"/>
                <a:ea typeface="等线" panose="02010600030101010101" charset="-122"/>
              </a:rPr>
              <a:t>为十五进制，故可以使用十六进制计数器（</a:t>
            </a:r>
            <a:r>
              <a:rPr lang="en-US" altLang="zh-CN" sz="1800" i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</a:rPr>
              <a:t>74161</a:t>
            </a:r>
            <a:r>
              <a:rPr lang="zh-CN" altLang="en-US" sz="1800" i="0">
                <a:solidFill>
                  <a:srgbClr val="0000FF"/>
                </a:solidFill>
                <a:latin typeface="Times New Roman" panose="02020603050405020304"/>
                <a:ea typeface="等线" panose="02010600030101010101" charset="-122"/>
              </a:rPr>
              <a:t>）来完成。将</a:t>
            </a:r>
            <a:r>
              <a:rPr lang="en-US" altLang="zh-CN" sz="1800" i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zh-CN" altLang="en-US" sz="1800" i="0">
                <a:solidFill>
                  <a:srgbClr val="0000FF"/>
                </a:solidFill>
                <a:latin typeface="Times New Roman" panose="02020603050405020304"/>
                <a:ea typeface="等线" panose="02010600030101010101" charset="-122"/>
              </a:rPr>
              <a:t>与输出端</a:t>
            </a:r>
            <a:r>
              <a:rPr lang="en-US" altLang="zh-CN" sz="1800" i="1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Q</a:t>
            </a:r>
            <a:r>
              <a:rPr lang="en-US" altLang="zh-CN" sz="1800" baseline="-250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3</a:t>
            </a:r>
            <a:r>
              <a:rPr lang="en-US" altLang="zh-CN" sz="1800" i="1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Q</a:t>
            </a:r>
            <a:r>
              <a:rPr lang="en-US" altLang="zh-CN" sz="1800" baseline="-250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2</a:t>
            </a:r>
            <a:r>
              <a:rPr lang="en-US" altLang="zh-CN" sz="1800" i="1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Q</a:t>
            </a:r>
            <a:r>
              <a:rPr lang="en-US" altLang="zh-CN" sz="1800" baseline="-250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1</a:t>
            </a:r>
            <a:r>
              <a:rPr lang="en-US" altLang="zh-CN" sz="1800" i="1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Q</a:t>
            </a:r>
            <a:r>
              <a:rPr lang="en-US" altLang="zh-CN" sz="1800" baseline="-250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0</a:t>
            </a:r>
            <a:r>
              <a:rPr lang="zh-CN" altLang="en-US" sz="18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共同接入异步置</a:t>
            </a:r>
            <a:r>
              <a:rPr lang="en-US" altLang="zh-CN" sz="18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0 </a:t>
            </a:r>
            <a:r>
              <a:rPr lang="zh-CN" altLang="en-US" sz="18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端</a:t>
            </a:r>
            <a:r>
              <a:rPr lang="en-US" altLang="zh-CN" sz="1800" i="1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R</a:t>
            </a:r>
            <a:r>
              <a:rPr lang="en-US" altLang="zh-CN" sz="1800" baseline="-250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D</a:t>
            </a:r>
            <a:r>
              <a:rPr lang="en-US" altLang="zh-CN" sz="18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’</a:t>
            </a:r>
            <a:r>
              <a:rPr lang="zh-CN" altLang="en-US" sz="18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或同步预置数</a:t>
            </a:r>
            <a:r>
              <a:rPr lang="en-US" altLang="zh-CN" sz="1800" i="1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LD</a:t>
            </a:r>
            <a:r>
              <a:rPr lang="en-US" altLang="zh-CN" sz="18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’</a:t>
            </a:r>
            <a:r>
              <a:rPr lang="zh-CN" altLang="en-US" sz="18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中（两种方法）来实现其功能。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209" y="1196831"/>
            <a:ext cx="2978780" cy="2015301"/>
          </a:xfrm>
          <a:prstGeom prst="rect">
            <a:avLst/>
          </a:prstGeom>
        </p:spPr>
      </p:pic>
      <p:pic>
        <p:nvPicPr>
          <p:cNvPr id="29749" name="Picture 85" descr="7416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43940" y="1455420"/>
            <a:ext cx="2954655" cy="1728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1715" y="4193540"/>
            <a:ext cx="4065905" cy="250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209" y="3458066"/>
            <a:ext cx="2978780" cy="2015301"/>
          </a:xfrm>
          <a:prstGeom prst="rect">
            <a:avLst/>
          </a:prstGeom>
        </p:spPr>
      </p:pic>
      <p:pic>
        <p:nvPicPr>
          <p:cNvPr id="36917" name="Picture 84" descr="7416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9160" y="3644900"/>
            <a:ext cx="2993390" cy="1751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" y="548640"/>
            <a:ext cx="8979535" cy="30257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267585" y="5589270"/>
            <a:ext cx="4071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/>
              <a:t>低位端：</a:t>
            </a:r>
            <a:r>
              <a:rPr lang="en-US" altLang="zh-CN" sz="1800"/>
              <a:t>0000~1001</a:t>
            </a:r>
            <a:r>
              <a:rPr lang="zh-CN" altLang="en-US" sz="1800"/>
              <a:t>（</a:t>
            </a:r>
            <a:r>
              <a:rPr lang="en-US" altLang="zh-CN" sz="1800"/>
              <a:t>10</a:t>
            </a:r>
            <a:r>
              <a:rPr lang="zh-CN" altLang="en-US" sz="1800"/>
              <a:t>个）</a:t>
            </a:r>
            <a:endParaRPr lang="en-US" altLang="zh-CN" sz="1800"/>
          </a:p>
          <a:p>
            <a:r>
              <a:rPr lang="zh-CN" altLang="en-US" sz="1800">
                <a:sym typeface="+mn-ea"/>
              </a:rPr>
              <a:t>高位端：</a:t>
            </a:r>
            <a:r>
              <a:rPr lang="en-US" altLang="zh-CN" sz="1800">
                <a:sym typeface="+mn-ea"/>
              </a:rPr>
              <a:t>0111</a:t>
            </a:r>
            <a:r>
              <a:rPr lang="zh-CN" altLang="en-US" sz="1800">
                <a:sym typeface="+mn-ea"/>
              </a:rPr>
              <a:t>，</a:t>
            </a:r>
            <a:r>
              <a:rPr lang="en-US" altLang="zh-CN" sz="1800">
                <a:sym typeface="+mn-ea"/>
              </a:rPr>
              <a:t>1000</a:t>
            </a:r>
            <a:r>
              <a:rPr lang="zh-CN" altLang="en-US" sz="1800">
                <a:sym typeface="+mn-ea"/>
              </a:rPr>
              <a:t>，</a:t>
            </a:r>
            <a:r>
              <a:rPr lang="en-US" altLang="zh-CN" sz="1800">
                <a:highlight>
                  <a:srgbClr val="FFFF00"/>
                </a:highlight>
                <a:sym typeface="+mn-ea"/>
              </a:rPr>
              <a:t>1001</a:t>
            </a:r>
            <a:r>
              <a:rPr lang="zh-CN" altLang="en-US" sz="1800">
                <a:sym typeface="+mn-ea"/>
              </a:rPr>
              <a:t>（</a:t>
            </a:r>
            <a:r>
              <a:rPr lang="en-US" altLang="zh-CN" sz="1800">
                <a:sym typeface="+mn-ea"/>
              </a:rPr>
              <a:t>2</a:t>
            </a:r>
            <a:r>
              <a:rPr lang="zh-CN" altLang="en-US" sz="1800">
                <a:sym typeface="+mn-ea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" y="548640"/>
            <a:ext cx="8411845" cy="5759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209" y="1226041"/>
            <a:ext cx="2978780" cy="2015301"/>
          </a:xfrm>
          <a:prstGeom prst="rect">
            <a:avLst/>
          </a:prstGeom>
        </p:spPr>
      </p:pic>
      <p:pic>
        <p:nvPicPr>
          <p:cNvPr id="36917" name="Picture 84" descr="7416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99160" y="1412875"/>
            <a:ext cx="2993390" cy="1751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3284855"/>
            <a:ext cx="6746875" cy="2743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476885"/>
            <a:ext cx="7216140" cy="266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47011"/>
          <a:stretch>
            <a:fillRect/>
          </a:stretch>
        </p:blipFill>
        <p:spPr>
          <a:xfrm>
            <a:off x="2123440" y="908685"/>
            <a:ext cx="4168140" cy="15424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0" y="3356610"/>
            <a:ext cx="8039100" cy="518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7585" y="4149090"/>
            <a:ext cx="3589020" cy="2225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第三章：门电路</a:t>
            </a:r>
            <a:endParaRPr lang="zh-CN" altLang="en-US">
              <a:solidFill>
                <a:srgbClr val="000000"/>
              </a:solidFill>
              <a:sym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539115" y="1196975"/>
            <a:ext cx="7820660" cy="502920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9pPr>
          </a:lstStyle>
          <a:p>
            <a:pPr algn="just"/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本章系统地讲述了数字集成电路中的基本逻辑单元电路</a:t>
            </a: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--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门电路。重点讨论了目前广泛使用的</a:t>
            </a: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CMOS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门电路和</a:t>
            </a: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TTL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门电路的工作原理、逻辑功能和电气特性，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重点掌握：</a:t>
            </a: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1. </a:t>
            </a: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CMOS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门电路的非门、漏极开路的门电路（</a:t>
            </a:r>
            <a:r>
              <a:rPr kumimoji="0" lang="en-US" altLang="zh-CN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OD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门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）、</a:t>
            </a:r>
            <a:r>
              <a:rPr lang="zh-CN" altLang="en-US" sz="24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传输门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和</a:t>
            </a:r>
            <a:r>
              <a:rPr lang="zh-CN" altLang="en-US" sz="24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三态输出门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的</a:t>
            </a:r>
            <a:r>
              <a:rPr lang="zh-CN" altLang="en-US" sz="24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特性与功能</a:t>
            </a: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2. TTL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门电路的非门、集电极开路的门电路（</a:t>
            </a:r>
            <a:r>
              <a:rPr kumimoji="0" lang="en-US" altLang="zh-CN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OC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门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）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和</a:t>
            </a:r>
            <a:r>
              <a:rPr lang="zh-CN" altLang="en-US" sz="24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三态输出门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的</a:t>
            </a:r>
            <a:r>
              <a:rPr lang="zh-CN" altLang="en-US" sz="24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特性与功能</a:t>
            </a: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3. OD</a:t>
            </a:r>
            <a:r>
              <a:rPr kumimoji="0" lang="zh-CN" altLang="en-US" sz="2400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门和</a:t>
            </a:r>
            <a:r>
              <a:rPr kumimoji="0" lang="en-US" altLang="zh-CN" sz="2400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OC</a:t>
            </a:r>
            <a:r>
              <a:rPr kumimoji="0" lang="zh-CN" altLang="en-US" sz="2400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门接成线与结构时，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外接上拉电阻的计算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4. </a:t>
            </a:r>
            <a:r>
              <a:rPr kumimoji="0" lang="zh-CN" altLang="en-US" sz="2400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非门（反相器）的实现方法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136" descr="3-2-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215" y="2060258"/>
            <a:ext cx="4194175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本框 3"/>
          <p:cNvSpPr txBox="1"/>
          <p:nvPr/>
        </p:nvSpPr>
        <p:spPr>
          <a:xfrm>
            <a:off x="1403985" y="1412875"/>
            <a:ext cx="20529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二极管与门</a:t>
            </a:r>
          </a:p>
        </p:txBody>
      </p:sp>
      <p:pic>
        <p:nvPicPr>
          <p:cNvPr id="81996" name="Picture 76" descr="3-2-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5193" y="2330450"/>
            <a:ext cx="4103687" cy="198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/>
          <p:cNvSpPr txBox="1"/>
          <p:nvPr/>
        </p:nvSpPr>
        <p:spPr>
          <a:xfrm>
            <a:off x="5723890" y="1556385"/>
            <a:ext cx="20529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二极管或门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331595" y="5229225"/>
            <a:ext cx="34315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二极管无法实现非门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第三章：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基于二极管的门电路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1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1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3" dur="1000"/>
                                        <p:tgtEl>
                                          <p:spTgt spid="8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755650" y="1644650"/>
            <a:ext cx="1750060" cy="2695575"/>
            <a:chOff x="492" y="2678"/>
            <a:chExt cx="4330" cy="6130"/>
          </a:xfrm>
        </p:grpSpPr>
        <p:grpSp>
          <p:nvGrpSpPr>
            <p:cNvPr id="8" name="组合 7"/>
            <p:cNvGrpSpPr/>
            <p:nvPr/>
          </p:nvGrpSpPr>
          <p:grpSpPr>
            <a:xfrm>
              <a:off x="492" y="2678"/>
              <a:ext cx="4330" cy="6130"/>
              <a:chOff x="492" y="2678"/>
              <a:chExt cx="4330" cy="6130"/>
            </a:xfrm>
          </p:grpSpPr>
          <p:graphicFrame>
            <p:nvGraphicFramePr>
              <p:cNvPr id="34819" name="Object 4"/>
              <p:cNvGraphicFramePr>
                <a:graphicFrameLocks noChangeAspect="1"/>
              </p:cNvGraphicFramePr>
              <p:nvPr/>
            </p:nvGraphicFramePr>
            <p:xfrm>
              <a:off x="492" y="2678"/>
              <a:ext cx="4330" cy="61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照片" r:id="rId2" imgW="7820025" imgH="12125325" progId="">
                      <p:embed/>
                    </p:oleObj>
                  </mc:Choice>
                  <mc:Fallback>
                    <p:oleObj name="Photo Editor 照片" r:id="rId2" imgW="7820025" imgH="12125325" progId="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" y="2678"/>
                            <a:ext cx="4330" cy="61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" name="文本框 3"/>
              <p:cNvSpPr txBox="1"/>
              <p:nvPr/>
            </p:nvSpPr>
            <p:spPr>
              <a:xfrm>
                <a:off x="2777" y="6080"/>
                <a:ext cx="581" cy="5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1600" baseline="-2500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sym typeface="+mn-ea"/>
                  </a:rPr>
                  <a:t>D</a:t>
                </a: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777" y="7328"/>
                <a:ext cx="581" cy="5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1600" baseline="-2500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sym typeface="+mn-ea"/>
                  </a:rPr>
                  <a:t>S</a:t>
                </a: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2792" y="5174"/>
                <a:ext cx="581" cy="5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1600" baseline="-2500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sym typeface="+mn-ea"/>
                  </a:rPr>
                  <a:t>D</a:t>
                </a: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792" y="3823"/>
                <a:ext cx="581" cy="5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1600" baseline="-2500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sym typeface="+mn-ea"/>
                  </a:rPr>
                  <a:t>S</a:t>
                </a:r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1983" y="3926"/>
              <a:ext cx="581" cy="57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600" baseline="-250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sym typeface="+mn-ea"/>
                </a:rPr>
                <a:t>G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983" y="7288"/>
              <a:ext cx="581" cy="57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600" baseline="-250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sym typeface="+mn-ea"/>
                </a:rPr>
                <a:t>G</a:t>
              </a:r>
            </a:p>
          </p:txBody>
        </p:sp>
      </p:grpSp>
      <p:pic>
        <p:nvPicPr>
          <p:cNvPr id="45060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88125" y="1640205"/>
            <a:ext cx="2287588" cy="237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61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19475" y="1789430"/>
            <a:ext cx="2519363" cy="2195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文本框 14"/>
          <p:cNvSpPr txBox="1"/>
          <p:nvPr/>
        </p:nvSpPr>
        <p:spPr>
          <a:xfrm>
            <a:off x="6732270" y="1022350"/>
            <a:ext cx="19164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sym typeface="+mn-ea"/>
              </a:rPr>
              <a:t> 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黑体" panose="02010609060101010101" pitchFamily="49" charset="-122"/>
                <a:sym typeface="+mn-ea"/>
              </a:rPr>
              <a:t>或非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sym typeface="+mn-ea"/>
              </a:rPr>
              <a:t>门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sym typeface="+mn-ea"/>
              </a:rPr>
              <a:t> 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707765" y="1035050"/>
            <a:ext cx="18091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黑体" panose="02010609060101010101" pitchFamily="49" charset="-122"/>
                <a:sym typeface="+mn-ea"/>
              </a:rPr>
              <a:t>与非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sym typeface="+mn-ea"/>
              </a:rPr>
              <a:t>门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99160" y="1014730"/>
            <a:ext cx="13093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黑体" panose="02010609060101010101" pitchFamily="49" charset="-122"/>
                <a:sym typeface="+mn-ea"/>
              </a:rPr>
              <a:t>非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sym typeface="+mn-ea"/>
              </a:rPr>
              <a:t>门</a:t>
            </a:r>
          </a:p>
        </p:txBody>
      </p:sp>
      <p:graphicFrame>
        <p:nvGraphicFramePr>
          <p:cNvPr id="9230" name="Object 4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827405" y="4509135"/>
          <a:ext cx="1584960" cy="2012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6" imgW="4810125" imgH="6105525" progId="">
                  <p:embed/>
                </p:oleObj>
              </mc:Choice>
              <mc:Fallback>
                <p:oleObj name="Photo Editor Photo" r:id="rId6" imgW="4810125" imgH="6105525" progId="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405" y="4509135"/>
                        <a:ext cx="1584960" cy="2012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3" name="Picture 11" descr="2-2-3a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084955" y="4270375"/>
            <a:ext cx="1520825" cy="1945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12" descr="2-2-3b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804025" y="4220845"/>
            <a:ext cx="1500505" cy="207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第三章：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基于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CMOS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的门电路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KZ)V48S]{QE(R8QDWV2)(5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15" y="1052830"/>
            <a:ext cx="4044315" cy="2538095"/>
          </a:xfrm>
          <a:prstGeom prst="rect">
            <a:avLst/>
          </a:prstGeom>
        </p:spPr>
      </p:pic>
      <p:pic>
        <p:nvPicPr>
          <p:cNvPr id="3" name="图片 2" descr="{W48DH_@4{RKZV2DV@5NY]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930" y="980440"/>
            <a:ext cx="2919730" cy="25273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413885" y="3101340"/>
            <a:ext cx="33585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带缓冲极的与非门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rcRect b="12245"/>
          <a:stretch>
            <a:fillRect/>
          </a:stretch>
        </p:blipFill>
        <p:spPr>
          <a:xfrm>
            <a:off x="755015" y="3717290"/>
            <a:ext cx="7042785" cy="275526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439285" y="5876925"/>
            <a:ext cx="33585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带缓冲极的或非门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第三章：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基于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CMOS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的门电路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28040" y="1078230"/>
            <a:ext cx="36918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漏极开路的门电路（</a:t>
            </a:r>
            <a:r>
              <a:rPr lang="en-US" altLang="zh-CN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OD</a:t>
            </a:r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门）</a:t>
            </a:r>
          </a:p>
        </p:txBody>
      </p:sp>
      <p:pic>
        <p:nvPicPr>
          <p:cNvPr id="6" name="图片 5" descr="X{K1KGNI3~Q78@MGOYIFH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0" y="1446530"/>
            <a:ext cx="2438400" cy="866775"/>
          </a:xfrm>
          <a:prstGeom prst="rect">
            <a:avLst/>
          </a:prstGeom>
        </p:spPr>
      </p:pic>
      <p:pic>
        <p:nvPicPr>
          <p:cNvPr id="271364" name="Picture 4" descr="3-3-32a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 l="3340" r="652"/>
          <a:stretch>
            <a:fillRect/>
          </a:stretch>
        </p:blipFill>
        <p:spPr>
          <a:xfrm>
            <a:off x="323215" y="2348865"/>
            <a:ext cx="4319905" cy="4177030"/>
          </a:xfrm>
          <a:noFill/>
        </p:spPr>
      </p:pic>
      <p:pic>
        <p:nvPicPr>
          <p:cNvPr id="271367" name="Picture 7" descr="3-3-32b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/>
          <a:srcRect t="1695" b="27892"/>
          <a:stretch>
            <a:fillRect/>
          </a:stretch>
        </p:blipFill>
        <p:spPr>
          <a:xfrm>
            <a:off x="4787900" y="2313305"/>
            <a:ext cx="3992880" cy="3203575"/>
          </a:xfrm>
          <a:noFill/>
        </p:spPr>
      </p:pic>
      <p:sp>
        <p:nvSpPr>
          <p:cNvPr id="8" name="文本框 7"/>
          <p:cNvSpPr txBox="1"/>
          <p:nvPr/>
        </p:nvSpPr>
        <p:spPr>
          <a:xfrm>
            <a:off x="6084570" y="1809115"/>
            <a:ext cx="16217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与或非</a:t>
            </a:r>
            <a:r>
              <a:rPr lang="zh-CN" altLang="en-US" sz="2400" b="1">
                <a:solidFill>
                  <a:schemeClr val="tx1"/>
                </a:solidFill>
                <a:sym typeface="+mn-ea"/>
              </a:rPr>
              <a:t>门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076190" y="2529205"/>
            <a:ext cx="20358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800" b="1">
                <a:solidFill>
                  <a:srgbClr val="0033CC"/>
                </a:solidFill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Y =(AB)’(CD)’</a:t>
            </a:r>
          </a:p>
          <a:p>
            <a:r>
              <a:rPr lang="en-US" altLang="zh-CN" sz="1800" b="1">
                <a:solidFill>
                  <a:srgbClr val="0033CC"/>
                </a:solidFill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=(AB+CD)’</a:t>
            </a:r>
          </a:p>
        </p:txBody>
      </p:sp>
      <p:sp>
        <p:nvSpPr>
          <p:cNvPr id="10" name="矩形 9"/>
          <p:cNvSpPr/>
          <p:nvPr/>
        </p:nvSpPr>
        <p:spPr>
          <a:xfrm>
            <a:off x="394970" y="2636520"/>
            <a:ext cx="3239770" cy="1872615"/>
          </a:xfrm>
          <a:prstGeom prst="rect">
            <a:avLst/>
          </a:prstGeom>
          <a:solidFill>
            <a:srgbClr val="FFC000">
              <a:alpha val="10000"/>
            </a:srgbClr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楷体_GB2312" charset="0"/>
              <a:cs typeface="楷体_GB2312" charset="0"/>
            </a:endParaRPr>
          </a:p>
        </p:txBody>
      </p:sp>
      <p:sp>
        <p:nvSpPr>
          <p:cNvPr id="11" name="上箭头 10"/>
          <p:cNvSpPr/>
          <p:nvPr/>
        </p:nvSpPr>
        <p:spPr>
          <a:xfrm>
            <a:off x="2051685" y="2276475"/>
            <a:ext cx="360045" cy="360045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楷体_GB2312" charset="0"/>
              <a:cs typeface="楷体_GB2312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420678" y="5949315"/>
            <a:ext cx="227266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  </a:t>
            </a:r>
            <a:r>
              <a:rPr lang="zh-CN" altLang="en-US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实现线与逻辑</a:t>
            </a:r>
          </a:p>
        </p:txBody>
      </p:sp>
      <p:sp>
        <p:nvSpPr>
          <p:cNvPr id="13" name="上箭头 12"/>
          <p:cNvSpPr/>
          <p:nvPr/>
        </p:nvSpPr>
        <p:spPr>
          <a:xfrm rot="10800000">
            <a:off x="6516370" y="5516880"/>
            <a:ext cx="360045" cy="360045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楷体_GB2312" charset="0"/>
              <a:cs typeface="楷体_GB2312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第三章：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基于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CMOS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的门电路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b="3470"/>
          <a:stretch>
            <a:fillRect/>
          </a:stretch>
        </p:blipFill>
        <p:spPr>
          <a:xfrm>
            <a:off x="107315" y="980440"/>
            <a:ext cx="8879205" cy="2808605"/>
          </a:xfrm>
          <a:prstGeom prst="rect">
            <a:avLst/>
          </a:prstGeom>
        </p:spPr>
      </p:pic>
      <p:graphicFrame>
        <p:nvGraphicFramePr>
          <p:cNvPr id="50177" name="Object 2"/>
          <p:cNvGraphicFramePr>
            <a:graphicFrameLocks noGrp="1" noChangeAspect="1"/>
          </p:cNvGraphicFramePr>
          <p:nvPr>
            <p:ph type="title"/>
          </p:nvPr>
        </p:nvGraphicFramePr>
        <p:xfrm>
          <a:off x="3491865" y="1124585"/>
          <a:ext cx="2153920" cy="509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3164800" imgH="5486400" progId="Equation.3">
                  <p:embed/>
                </p:oleObj>
              </mc:Choice>
              <mc:Fallback>
                <p:oleObj name="公式" r:id="rId3" imgW="23164800" imgH="5486400" progId="Equation.3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65" y="1124585"/>
                        <a:ext cx="2153920" cy="5099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179705" y="3933190"/>
          <a:ext cx="4184015" cy="1597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527300" imgH="965200" progId="Equation.3">
                  <p:embed/>
                </p:oleObj>
              </mc:Choice>
              <mc:Fallback>
                <p:oleObj name="公式" r:id="rId5" imgW="2527300" imgH="965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05" y="3933190"/>
                        <a:ext cx="4184015" cy="1597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4643755" y="3933190"/>
          <a:ext cx="4437380" cy="164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679700" imgH="990600" progId="Equation.3">
                  <p:embed/>
                </p:oleObj>
              </mc:Choice>
              <mc:Fallback>
                <p:oleObj name="公式" r:id="rId7" imgW="2679700" imgH="990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755" y="3933190"/>
                        <a:ext cx="4437380" cy="164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95605" y="5613400"/>
            <a:ext cx="80530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0033CC"/>
                </a:solidFill>
              </a:rPr>
              <a:t> OD</a:t>
            </a:r>
            <a:r>
              <a:rPr lang="zh-CN" altLang="en-US" sz="2000" b="1">
                <a:solidFill>
                  <a:srgbClr val="0033CC"/>
                </a:solidFill>
              </a:rPr>
              <a:t>与非门线与逻辑：</a:t>
            </a:r>
          </a:p>
          <a:p>
            <a:r>
              <a:rPr lang="en-US" altLang="zh-CN" sz="2000" i="1">
                <a:solidFill>
                  <a:srgbClr val="0033CC"/>
                </a:solidFill>
              </a:rPr>
              <a:t>n</a:t>
            </a:r>
            <a:r>
              <a:rPr lang="zh-CN" altLang="en-US" sz="2000">
                <a:solidFill>
                  <a:srgbClr val="0033CC"/>
                </a:solidFill>
              </a:rPr>
              <a:t>是并联</a:t>
            </a:r>
            <a:r>
              <a:rPr lang="en-US" altLang="zh-CN" sz="2000">
                <a:solidFill>
                  <a:srgbClr val="0033CC"/>
                </a:solidFill>
              </a:rPr>
              <a:t>OD</a:t>
            </a:r>
            <a:r>
              <a:rPr lang="zh-CN" altLang="en-US" sz="2000">
                <a:solidFill>
                  <a:srgbClr val="0033CC"/>
                </a:solidFill>
              </a:rPr>
              <a:t>门的数目，</a:t>
            </a:r>
            <a:r>
              <a:rPr lang="en-US" altLang="zh-CN" sz="2000" i="1">
                <a:solidFill>
                  <a:srgbClr val="0033CC"/>
                </a:solidFill>
              </a:rPr>
              <a:t>m</a:t>
            </a:r>
            <a:r>
              <a:rPr lang="zh-CN" altLang="en-US" sz="2000">
                <a:solidFill>
                  <a:srgbClr val="0033CC"/>
                </a:solidFill>
              </a:rPr>
              <a:t>是负载门高电平输入端的数目，</a:t>
            </a:r>
            <a:r>
              <a:rPr lang="en-US" altLang="zh-CN" sz="2000" i="1">
                <a:solidFill>
                  <a:srgbClr val="0033CC"/>
                </a:solidFill>
                <a:sym typeface="+mn-ea"/>
              </a:rPr>
              <a:t>m’</a:t>
            </a:r>
            <a:r>
              <a:rPr lang="zh-CN" altLang="en-US" sz="2000">
                <a:solidFill>
                  <a:srgbClr val="0033CC"/>
                </a:solidFill>
                <a:sym typeface="+mn-ea"/>
              </a:rPr>
              <a:t>是负载门低电平输入端的数目。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第三章：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基于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CMOS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的门电路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3t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60" y="4079240"/>
            <a:ext cx="7559675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3" descr="3t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980440"/>
            <a:ext cx="5613400" cy="26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上箭头 5"/>
          <p:cNvSpPr/>
          <p:nvPr/>
        </p:nvSpPr>
        <p:spPr>
          <a:xfrm rot="10800000">
            <a:off x="4427855" y="3665220"/>
            <a:ext cx="360045" cy="360045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楷体_GB2312" charset="0"/>
              <a:cs typeface="楷体_GB2312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926523" y="4293235"/>
            <a:ext cx="13628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  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异或门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851593" y="980440"/>
            <a:ext cx="135445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  </a:t>
            </a:r>
            <a:r>
              <a:rPr lang="zh-CN" altLang="en-US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传输门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第三章：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基于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CMOS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的门电路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635058" y="5805170"/>
            <a:ext cx="227266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  </a:t>
            </a:r>
            <a:r>
              <a:rPr lang="zh-CN" altLang="en-US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实现总线结构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490913" y="980440"/>
            <a:ext cx="196659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lang="en-US" altLang="zh-CN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  </a:t>
            </a:r>
            <a:r>
              <a:rPr lang="zh-CN" altLang="en-US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三态输出门</a:t>
            </a:r>
          </a:p>
        </p:txBody>
      </p:sp>
      <p:pic>
        <p:nvPicPr>
          <p:cNvPr id="219144" name="Picture 8" descr="3-3-40a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22898" y="1494790"/>
            <a:ext cx="4608512" cy="3133725"/>
          </a:xfrm>
          <a:noFill/>
        </p:spPr>
      </p:pic>
      <p:pic>
        <p:nvPicPr>
          <p:cNvPr id="219146" name="Picture 10" descr="3-3-40b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5723890" y="1628458"/>
            <a:ext cx="2273300" cy="2316162"/>
          </a:xfrm>
          <a:noFill/>
        </p:spPr>
      </p:pic>
      <p:sp>
        <p:nvSpPr>
          <p:cNvPr id="4" name="上箭头 3"/>
          <p:cNvSpPr/>
          <p:nvPr/>
        </p:nvSpPr>
        <p:spPr>
          <a:xfrm rot="10800000">
            <a:off x="4716145" y="5156835"/>
            <a:ext cx="360045" cy="360045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楷体_GB2312" charset="0"/>
              <a:cs typeface="楷体_GB2312" charset="0"/>
            </a:endParaRPr>
          </a:p>
        </p:txBody>
      </p:sp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4500245" y="4077335"/>
          <a:ext cx="4591050" cy="845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01900" imgH="457200" progId="Equation.3">
                  <p:embed/>
                </p:oleObj>
              </mc:Choice>
              <mc:Fallback>
                <p:oleObj name="公式" r:id="rId4" imgW="25019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245" y="4077335"/>
                        <a:ext cx="4591050" cy="84518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第三章：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基于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CMOS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的门电路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6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1" name="Picture 9" descr="3-5-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315" y="1340485"/>
            <a:ext cx="2753360" cy="2505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文本框 16"/>
          <p:cNvSpPr txBox="1"/>
          <p:nvPr/>
        </p:nvSpPr>
        <p:spPr>
          <a:xfrm>
            <a:off x="899160" y="962660"/>
            <a:ext cx="13093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黑体" panose="02010609060101010101" pitchFamily="49" charset="-122"/>
                <a:sym typeface="+mn-ea"/>
              </a:rPr>
              <a:t>非</a:t>
            </a:r>
            <a:r>
              <a:rPr lang="zh-CN" altLang="en-US" sz="28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sym typeface="+mn-ea"/>
              </a:rPr>
              <a:t>门</a:t>
            </a:r>
          </a:p>
        </p:txBody>
      </p:sp>
      <p:graphicFrame>
        <p:nvGraphicFramePr>
          <p:cNvPr id="9230" name="Object 40"/>
          <p:cNvGraphicFramePr>
            <a:graphicFrameLocks noGrp="1" noChangeAspect="1"/>
          </p:cNvGraphicFramePr>
          <p:nvPr/>
        </p:nvGraphicFramePr>
        <p:xfrm>
          <a:off x="827405" y="4149090"/>
          <a:ext cx="1584960" cy="2012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4810125" imgH="6105525" progId="">
                  <p:embed/>
                </p:oleObj>
              </mc:Choice>
              <mc:Fallback>
                <p:oleObj name="Photo Editor Photo" r:id="rId3" imgW="4810125" imgH="6105525" progId="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405" y="4149090"/>
                        <a:ext cx="1584960" cy="2012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7046" name="Picture 8" descr="3-5-2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28080" y="1473200"/>
            <a:ext cx="2595245" cy="2192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017" name="Picture 10" descr="3-5-2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060065" y="1473200"/>
            <a:ext cx="2622550" cy="2204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3780155" y="939165"/>
            <a:ext cx="13093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黑体" panose="02010609060101010101" pitchFamily="49" charset="-122"/>
                <a:sym typeface="+mn-ea"/>
              </a:rPr>
              <a:t>与非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sym typeface="+mn-ea"/>
              </a:rPr>
              <a:t>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866255" y="980440"/>
            <a:ext cx="13093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黑体" panose="02010609060101010101" pitchFamily="49" charset="-122"/>
                <a:sym typeface="+mn-ea"/>
              </a:rPr>
              <a:t>或非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sym typeface="+mn-ea"/>
              </a:rPr>
              <a:t>门</a:t>
            </a:r>
          </a:p>
        </p:txBody>
      </p:sp>
      <p:pic>
        <p:nvPicPr>
          <p:cNvPr id="10243" name="Picture 11" descr="2-2-3a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780155" y="4149090"/>
            <a:ext cx="1520825" cy="1945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12" descr="2-2-3b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660515" y="4090670"/>
            <a:ext cx="1500505" cy="207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本框 3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第三章：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基于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TTL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的门电路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9" name="Picture 5" descr="3-5-3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8798" y="2564765"/>
            <a:ext cx="636746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827405" y="1052830"/>
            <a:ext cx="37452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集电极开路的门电路（</a:t>
            </a:r>
            <a:r>
              <a:rPr lang="en-US" altLang="zh-CN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OC</a:t>
            </a:r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门）</a:t>
            </a:r>
          </a:p>
        </p:txBody>
      </p:sp>
      <p:pic>
        <p:nvPicPr>
          <p:cNvPr id="6" name="图片 5" descr="X{K1KGNI3~Q78@MGOYIFH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450" y="1446530"/>
            <a:ext cx="2438400" cy="8667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38480" y="2636520"/>
            <a:ext cx="3088005" cy="1872615"/>
          </a:xfrm>
          <a:prstGeom prst="rect">
            <a:avLst/>
          </a:prstGeom>
          <a:solidFill>
            <a:srgbClr val="FFC000">
              <a:alpha val="10000"/>
            </a:srgbClr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楷体_GB2312" charset="0"/>
              <a:cs typeface="楷体_GB2312" charset="0"/>
            </a:endParaRPr>
          </a:p>
        </p:txBody>
      </p:sp>
      <p:sp>
        <p:nvSpPr>
          <p:cNvPr id="11" name="上箭头 10"/>
          <p:cNvSpPr/>
          <p:nvPr/>
        </p:nvSpPr>
        <p:spPr>
          <a:xfrm>
            <a:off x="1979295" y="2276475"/>
            <a:ext cx="360045" cy="360045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楷体_GB2312" charset="0"/>
              <a:cs typeface="楷体_GB2312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57750" y="2564765"/>
            <a:ext cx="16217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solidFill>
                  <a:srgbClr val="0033CC"/>
                </a:solidFill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与或非</a:t>
            </a:r>
            <a:r>
              <a:rPr lang="zh-CN" altLang="en-US" sz="2400" b="1">
                <a:solidFill>
                  <a:srgbClr val="0033CC"/>
                </a:solidFill>
                <a:sym typeface="+mn-ea"/>
              </a:rPr>
              <a:t>门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283710" y="3284855"/>
            <a:ext cx="20358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800" b="1">
                <a:solidFill>
                  <a:srgbClr val="0033CC"/>
                </a:solidFill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Y =(AB)’(CD)’</a:t>
            </a:r>
          </a:p>
          <a:p>
            <a:r>
              <a:rPr lang="en-US" altLang="zh-CN" sz="1800" b="1">
                <a:solidFill>
                  <a:srgbClr val="0033CC"/>
                </a:solidFill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=(AB+CD)’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499293" y="6093460"/>
            <a:ext cx="227266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  </a:t>
            </a:r>
            <a:r>
              <a:rPr lang="zh-CN" altLang="en-US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实现线与逻辑</a:t>
            </a:r>
          </a:p>
        </p:txBody>
      </p:sp>
      <p:sp>
        <p:nvSpPr>
          <p:cNvPr id="13" name="上箭头 12"/>
          <p:cNvSpPr/>
          <p:nvPr/>
        </p:nvSpPr>
        <p:spPr>
          <a:xfrm rot="10800000">
            <a:off x="5507990" y="5661025"/>
            <a:ext cx="360045" cy="360045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楷体_GB2312" charset="0"/>
              <a:cs typeface="楷体_GB231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第三章：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基于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TTL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的门电路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23215" y="1290320"/>
          <a:ext cx="3815715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27300" imgH="965200" progId="Equation.3">
                  <p:embed/>
                </p:oleObj>
              </mc:Choice>
              <mc:Fallback>
                <p:oleObj name="公式" r:id="rId10" imgW="2527300" imgH="965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15" y="1290320"/>
                        <a:ext cx="3815715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4716145" y="1252220"/>
          <a:ext cx="4046220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679700" imgH="990600" progId="Equation.3">
                  <p:embed/>
                </p:oleObj>
              </mc:Choice>
              <mc:Fallback>
                <p:oleObj name="公式" r:id="rId12" imgW="2679700" imgH="990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145" y="1252220"/>
                        <a:ext cx="4046220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467360" y="2780665"/>
            <a:ext cx="80530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0033CC"/>
                </a:solidFill>
              </a:rPr>
              <a:t> </a:t>
            </a:r>
            <a:r>
              <a:rPr lang="en-US" altLang="zh-CN" sz="2000" b="1">
                <a:solidFill>
                  <a:srgbClr val="FF0000"/>
                </a:solidFill>
              </a:rPr>
              <a:t>OD</a:t>
            </a:r>
            <a:r>
              <a:rPr lang="zh-CN" altLang="en-US" sz="2000" b="1">
                <a:solidFill>
                  <a:srgbClr val="FF0000"/>
                </a:solidFill>
              </a:rPr>
              <a:t>与非门</a:t>
            </a:r>
            <a:r>
              <a:rPr lang="zh-CN" altLang="en-US" sz="2000" b="1">
                <a:solidFill>
                  <a:srgbClr val="0033CC"/>
                </a:solidFill>
              </a:rPr>
              <a:t>线与逻辑：</a:t>
            </a:r>
          </a:p>
          <a:p>
            <a:r>
              <a:rPr lang="en-US" altLang="zh-CN" sz="2000" b="1" i="1">
                <a:solidFill>
                  <a:srgbClr val="00B050"/>
                </a:solidFill>
              </a:rPr>
              <a:t>n</a:t>
            </a:r>
            <a:r>
              <a:rPr lang="zh-CN" altLang="en-US" sz="2000" b="1">
                <a:solidFill>
                  <a:srgbClr val="00B050"/>
                </a:solidFill>
              </a:rPr>
              <a:t>是并联</a:t>
            </a:r>
            <a:r>
              <a:rPr lang="en-US" altLang="zh-CN" sz="2000" b="1">
                <a:solidFill>
                  <a:srgbClr val="00B050"/>
                </a:solidFill>
              </a:rPr>
              <a:t>OD</a:t>
            </a:r>
            <a:r>
              <a:rPr lang="zh-CN" altLang="en-US" sz="2000" b="1">
                <a:solidFill>
                  <a:srgbClr val="00B050"/>
                </a:solidFill>
              </a:rPr>
              <a:t>门的数目，</a:t>
            </a:r>
            <a:r>
              <a:rPr lang="en-US" altLang="zh-CN" sz="2000" b="1" i="1">
                <a:solidFill>
                  <a:srgbClr val="FFC000"/>
                </a:solidFill>
              </a:rPr>
              <a:t>m</a:t>
            </a:r>
            <a:r>
              <a:rPr lang="zh-CN" altLang="en-US" sz="2000" b="1">
                <a:solidFill>
                  <a:srgbClr val="FFC000"/>
                </a:solidFill>
              </a:rPr>
              <a:t>是负载门高电平输入端的数目，</a:t>
            </a:r>
            <a:r>
              <a:rPr lang="en-US" altLang="zh-CN" sz="2000" b="1" i="1">
                <a:solidFill>
                  <a:srgbClr val="FFC000"/>
                </a:solidFill>
                <a:sym typeface="+mn-ea"/>
              </a:rPr>
              <a:t>m’</a:t>
            </a:r>
            <a:r>
              <a:rPr lang="zh-CN" altLang="en-US" sz="2000" b="1">
                <a:solidFill>
                  <a:srgbClr val="FFC000"/>
                </a:solidFill>
                <a:sym typeface="+mn-ea"/>
              </a:rPr>
              <a:t>是负载门低电平输入端的数目。</a:t>
            </a: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619250" y="3789045"/>
            <a:ext cx="62477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集电极开路的门电路（</a:t>
            </a:r>
            <a:r>
              <a:rPr lang="en-US" altLang="zh-CN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OC</a:t>
            </a:r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门）外接</a:t>
            </a:r>
            <a:r>
              <a:rPr lang="en-US" altLang="zh-CN" sz="2000" i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R</a:t>
            </a:r>
            <a:r>
              <a:rPr lang="en-US" altLang="zh-CN" sz="2000" baseline="-25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L</a:t>
            </a:r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的计算方法</a:t>
            </a: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705610" y="894715"/>
            <a:ext cx="54603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漏极开路的门电路（</a:t>
            </a:r>
            <a:r>
              <a:rPr lang="en-US" altLang="zh-CN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OD</a:t>
            </a:r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门）外接</a:t>
            </a:r>
            <a:r>
              <a:rPr lang="en-US" altLang="zh-CN" sz="2000" i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R</a:t>
            </a:r>
            <a:r>
              <a:rPr lang="en-US" altLang="zh-CN" sz="2000" baseline="-25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L</a:t>
            </a:r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的计算方法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323215" y="4170680"/>
          <a:ext cx="3815715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527300" imgH="965200" progId="Equation.3">
                  <p:embed/>
                </p:oleObj>
              </mc:Choice>
              <mc:Fallback>
                <p:oleObj name="公式" r:id="rId14" imgW="2527300" imgH="965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15" y="4170680"/>
                        <a:ext cx="3815715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4725670" y="4132580"/>
          <a:ext cx="4027170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667000" imgH="990600" progId="Equation.3">
                  <p:embed/>
                </p:oleObj>
              </mc:Choice>
              <mc:Fallback>
                <p:oleObj name="公式" r:id="rId16" imgW="2667000" imgH="990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670" y="4132580"/>
                        <a:ext cx="4027170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467360" y="5661025"/>
            <a:ext cx="80530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</a:rPr>
              <a:t> OC</a:t>
            </a:r>
            <a:r>
              <a:rPr lang="zh-CN" altLang="en-US" sz="2000" b="1">
                <a:solidFill>
                  <a:srgbClr val="FF0000"/>
                </a:solidFill>
              </a:rPr>
              <a:t>与非门</a:t>
            </a:r>
            <a:r>
              <a:rPr lang="zh-CN" altLang="en-US" sz="2000" b="1">
                <a:solidFill>
                  <a:srgbClr val="0033CC"/>
                </a:solidFill>
              </a:rPr>
              <a:t>线与逻辑：</a:t>
            </a:r>
          </a:p>
          <a:p>
            <a:r>
              <a:rPr lang="en-US" altLang="zh-CN" sz="2000" b="1" i="1">
                <a:solidFill>
                  <a:srgbClr val="00B050"/>
                </a:solidFill>
              </a:rPr>
              <a:t>n</a:t>
            </a:r>
            <a:r>
              <a:rPr lang="zh-CN" altLang="en-US" sz="2000" b="1">
                <a:solidFill>
                  <a:srgbClr val="00B050"/>
                </a:solidFill>
              </a:rPr>
              <a:t>是并联</a:t>
            </a:r>
            <a:r>
              <a:rPr lang="en-US" altLang="zh-CN" sz="2000" b="1">
                <a:solidFill>
                  <a:srgbClr val="00B050"/>
                </a:solidFill>
              </a:rPr>
              <a:t>OC</a:t>
            </a:r>
            <a:r>
              <a:rPr lang="zh-CN" altLang="en-US" sz="2000" b="1">
                <a:solidFill>
                  <a:srgbClr val="00B050"/>
                </a:solidFill>
              </a:rPr>
              <a:t>门的数目，</a:t>
            </a:r>
            <a:r>
              <a:rPr lang="en-US" altLang="zh-CN" sz="2000" b="1" i="1">
                <a:solidFill>
                  <a:srgbClr val="FFC000"/>
                </a:solidFill>
              </a:rPr>
              <a:t>m</a:t>
            </a:r>
            <a:r>
              <a:rPr lang="zh-CN" altLang="en-US" sz="2000" b="1">
                <a:solidFill>
                  <a:srgbClr val="FFC000"/>
                </a:solidFill>
              </a:rPr>
              <a:t>是负载门高电平输入端的数目，</a:t>
            </a:r>
            <a:r>
              <a:rPr lang="en-US" altLang="zh-CN" sz="2000" b="1" i="1">
                <a:solidFill>
                  <a:srgbClr val="00B050"/>
                </a:solidFill>
                <a:sym typeface="+mn-ea"/>
              </a:rPr>
              <a:t>m’</a:t>
            </a:r>
            <a:r>
              <a:rPr lang="zh-CN" altLang="en-US" sz="2000" b="1">
                <a:solidFill>
                  <a:srgbClr val="00B050"/>
                </a:solidFill>
                <a:sym typeface="+mn-ea"/>
              </a:rPr>
              <a:t>是负载门的数目</a:t>
            </a:r>
            <a:r>
              <a:rPr lang="zh-CN" altLang="en-US" sz="2000" b="1">
                <a:solidFill>
                  <a:srgbClr val="0033CC"/>
                </a:solidFill>
                <a:sym typeface="+mn-ea"/>
              </a:rPr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第三章：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基于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CMOS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和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TTL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的门电路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828040" y="1196975"/>
            <a:ext cx="7863840" cy="2378710"/>
            <a:chOff x="145" y="1885"/>
            <a:chExt cx="14110" cy="426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5" y="1885"/>
              <a:ext cx="14110" cy="4269"/>
            </a:xfrm>
            <a:prstGeom prst="rect">
              <a:avLst/>
            </a:prstGeom>
          </p:spPr>
        </p:pic>
        <p:sp>
          <p:nvSpPr>
            <p:cNvPr id="3" name="圆角矩形 2"/>
            <p:cNvSpPr/>
            <p:nvPr/>
          </p:nvSpPr>
          <p:spPr>
            <a:xfrm>
              <a:off x="3798" y="3019"/>
              <a:ext cx="340" cy="454"/>
            </a:xfrm>
            <a:prstGeom prst="roundRect">
              <a:avLst/>
            </a:prstGeom>
            <a:solidFill>
              <a:srgbClr val="00B050">
                <a:alpha val="44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楷体_GB2312" charset="0"/>
                <a:cs typeface="楷体_GB2312" charset="0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5386" y="3019"/>
              <a:ext cx="340" cy="454"/>
            </a:xfrm>
            <a:prstGeom prst="roundRect">
              <a:avLst/>
            </a:prstGeom>
            <a:solidFill>
              <a:srgbClr val="FFC000">
                <a:alpha val="44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楷体_GB2312" charset="0"/>
                <a:cs typeface="楷体_GB2312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5386" y="5173"/>
              <a:ext cx="340" cy="454"/>
            </a:xfrm>
            <a:prstGeom prst="roundRect">
              <a:avLst/>
            </a:prstGeom>
            <a:solidFill>
              <a:srgbClr val="FFC000">
                <a:alpha val="44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楷体_GB2312" charset="0"/>
                <a:cs typeface="楷体_GB2312" charset="0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280" y="3717290"/>
            <a:ext cx="2822575" cy="271653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475740" y="3789045"/>
            <a:ext cx="62477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集电极开路的门电路（</a:t>
            </a:r>
            <a:r>
              <a:rPr lang="en-US" altLang="zh-CN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OC</a:t>
            </a:r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门）外接</a:t>
            </a:r>
            <a:r>
              <a:rPr lang="en-US" altLang="zh-CN" sz="2000" i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R</a:t>
            </a:r>
            <a:r>
              <a:rPr lang="en-US" altLang="zh-CN" sz="2000" baseline="-25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L</a:t>
            </a:r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的计算方法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683895" y="4149090"/>
            <a:ext cx="4781550" cy="2583180"/>
            <a:chOff x="1077" y="6534"/>
            <a:chExt cx="7530" cy="4068"/>
          </a:xfrm>
        </p:grpSpPr>
        <p:grpSp>
          <p:nvGrpSpPr>
            <p:cNvPr id="17" name="组合 16"/>
            <p:cNvGrpSpPr/>
            <p:nvPr/>
          </p:nvGrpSpPr>
          <p:grpSpPr>
            <a:xfrm>
              <a:off x="1077" y="6534"/>
              <a:ext cx="7530" cy="4069"/>
              <a:chOff x="1077" y="6534"/>
              <a:chExt cx="7530" cy="4069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1077" y="6534"/>
                <a:ext cx="7531" cy="3702"/>
                <a:chOff x="-851" y="6194"/>
                <a:chExt cx="9180" cy="4512"/>
              </a:xfrm>
            </p:grpSpPr>
            <p:pic>
              <p:nvPicPr>
                <p:cNvPr id="10" name="图片 9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-851" y="6194"/>
                  <a:ext cx="9180" cy="2364"/>
                </a:xfrm>
                <a:prstGeom prst="rect">
                  <a:avLst/>
                </a:prstGeom>
              </p:spPr>
            </p:pic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6" y="8537"/>
                  <a:ext cx="5772" cy="1476"/>
                </a:xfrm>
                <a:prstGeom prst="rect">
                  <a:avLst/>
                </a:prstGeom>
              </p:spPr>
            </p:pic>
            <p:pic>
              <p:nvPicPr>
                <p:cNvPr id="12" name="图片 11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18" y="10202"/>
                  <a:ext cx="2700" cy="504"/>
                </a:xfrm>
                <a:prstGeom prst="rect">
                  <a:avLst/>
                </a:prstGeom>
              </p:spPr>
            </p:pic>
          </p:grpSp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58" y="9709"/>
                <a:ext cx="2099" cy="894"/>
              </a:xfrm>
              <a:prstGeom prst="rect">
                <a:avLst/>
              </a:prstGeom>
            </p:spPr>
          </p:pic>
        </p:grpSp>
        <p:sp>
          <p:nvSpPr>
            <p:cNvPr id="19" name="圆角矩形 18"/>
            <p:cNvSpPr/>
            <p:nvPr/>
          </p:nvSpPr>
          <p:spPr>
            <a:xfrm>
              <a:off x="3799" y="8076"/>
              <a:ext cx="298" cy="398"/>
            </a:xfrm>
            <a:prstGeom prst="roundRect">
              <a:avLst/>
            </a:prstGeom>
            <a:solidFill>
              <a:srgbClr val="00B050">
                <a:alpha val="44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楷体_GB2312" charset="0"/>
                <a:cs typeface="楷体_GB2312" charset="0"/>
              </a:endParaRPr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4933" y="8056"/>
              <a:ext cx="298" cy="398"/>
            </a:xfrm>
            <a:prstGeom prst="roundRect">
              <a:avLst/>
            </a:prstGeom>
            <a:solidFill>
              <a:srgbClr val="FFC000">
                <a:alpha val="44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楷体_GB2312" charset="0"/>
                <a:cs typeface="楷体_GB2312" charset="0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4298" y="10163"/>
              <a:ext cx="298" cy="398"/>
            </a:xfrm>
            <a:prstGeom prst="roundRect">
              <a:avLst/>
            </a:prstGeom>
            <a:solidFill>
              <a:srgbClr val="00B050">
                <a:alpha val="44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楷体_GB2312" charset="0"/>
                <a:cs typeface="楷体_GB2312" charset="0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2429510" y="2132965"/>
            <a:ext cx="12801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门数目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3492500" y="2127250"/>
            <a:ext cx="18891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rgbClr val="FFC000"/>
                </a:solidFill>
                <a:sym typeface="+mn-ea"/>
              </a:rPr>
              <a:t>输入端数目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475740" y="6381115"/>
            <a:ext cx="9601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门数目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403985" y="5085080"/>
            <a:ext cx="12801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门数目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420110" y="5229225"/>
            <a:ext cx="18891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rgbClr val="FFC000"/>
                </a:solidFill>
                <a:sym typeface="+mn-ea"/>
              </a:rPr>
              <a:t>输入端数目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3429000" y="3284855"/>
            <a:ext cx="18891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rgbClr val="FFC000"/>
                </a:solidFill>
                <a:sym typeface="+mn-ea"/>
              </a:rPr>
              <a:t>输入端数目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第三章：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基于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CMOS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和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TTL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的门电路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05610" y="894715"/>
            <a:ext cx="54603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漏极开路的门电路（</a:t>
            </a:r>
            <a:r>
              <a:rPr lang="en-US" altLang="zh-CN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OD</a:t>
            </a:r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门）外接</a:t>
            </a:r>
            <a:r>
              <a:rPr lang="en-US" altLang="zh-CN" sz="2000" i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R</a:t>
            </a:r>
            <a:r>
              <a:rPr lang="en-US" altLang="zh-CN" sz="2000" baseline="-25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L</a:t>
            </a:r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的计算方法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467360" y="2478405"/>
            <a:ext cx="80530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>
                <a:solidFill>
                  <a:srgbClr val="0033CC"/>
                </a:solidFill>
              </a:rPr>
              <a:t> </a:t>
            </a:r>
            <a:r>
              <a:rPr lang="en-US" altLang="zh-CN" sz="1800" b="1">
                <a:solidFill>
                  <a:srgbClr val="FF0000"/>
                </a:solidFill>
              </a:rPr>
              <a:t>OD</a:t>
            </a:r>
            <a:r>
              <a:rPr lang="zh-CN" altLang="en-US" sz="1800" b="1">
                <a:solidFill>
                  <a:srgbClr val="FF0000"/>
                </a:solidFill>
              </a:rPr>
              <a:t>接或非门</a:t>
            </a:r>
            <a:r>
              <a:rPr lang="zh-CN" altLang="en-US" sz="1800" b="1">
                <a:solidFill>
                  <a:schemeClr val="tx1"/>
                </a:solidFill>
              </a:rPr>
              <a:t>线与逻辑：</a:t>
            </a:r>
            <a:endParaRPr lang="zh-CN" altLang="en-US" sz="1800" b="1">
              <a:solidFill>
                <a:srgbClr val="0033CC"/>
              </a:solidFill>
            </a:endParaRPr>
          </a:p>
          <a:p>
            <a:r>
              <a:rPr lang="en-US" altLang="zh-CN" sz="1800" b="1" i="1">
                <a:solidFill>
                  <a:srgbClr val="00B050"/>
                </a:solidFill>
              </a:rPr>
              <a:t>n</a:t>
            </a:r>
            <a:r>
              <a:rPr lang="zh-CN" altLang="en-US" sz="1800" b="1">
                <a:solidFill>
                  <a:srgbClr val="00B050"/>
                </a:solidFill>
              </a:rPr>
              <a:t>是并联</a:t>
            </a:r>
            <a:r>
              <a:rPr lang="en-US" altLang="zh-CN" sz="1800" b="1">
                <a:solidFill>
                  <a:srgbClr val="00B050"/>
                </a:solidFill>
              </a:rPr>
              <a:t>OD</a:t>
            </a:r>
            <a:r>
              <a:rPr lang="zh-CN" altLang="en-US" sz="1800" b="1">
                <a:solidFill>
                  <a:srgbClr val="00B050"/>
                </a:solidFill>
              </a:rPr>
              <a:t>门的数目，</a:t>
            </a:r>
            <a:r>
              <a:rPr lang="en-US" altLang="zh-CN" sz="1800" b="1" i="1">
                <a:solidFill>
                  <a:srgbClr val="FFC000"/>
                </a:solidFill>
              </a:rPr>
              <a:t>m</a:t>
            </a:r>
            <a:r>
              <a:rPr lang="zh-CN" altLang="en-US" sz="1800" b="1">
                <a:solidFill>
                  <a:srgbClr val="FFC000"/>
                </a:solidFill>
              </a:rPr>
              <a:t>是负载门高电平输入端的数目，</a:t>
            </a:r>
            <a:r>
              <a:rPr lang="en-US" altLang="zh-CN" sz="1800" b="1" i="1">
                <a:solidFill>
                  <a:srgbClr val="FFC000"/>
                </a:solidFill>
                <a:sym typeface="+mn-ea"/>
              </a:rPr>
              <a:t>m’</a:t>
            </a:r>
            <a:r>
              <a:rPr lang="zh-CN" altLang="en-US" sz="1800" b="1">
                <a:solidFill>
                  <a:srgbClr val="FFC000"/>
                </a:solidFill>
                <a:sym typeface="+mn-ea"/>
              </a:rPr>
              <a:t>是负载门低电平输入端的数目。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705610" y="1196975"/>
            <a:ext cx="54603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漏极开路的门电路（</a:t>
            </a:r>
            <a:r>
              <a:rPr lang="en-US" altLang="zh-CN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OD</a:t>
            </a:r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门）外接</a:t>
            </a:r>
            <a:r>
              <a:rPr lang="en-US" altLang="zh-CN" sz="2000" i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R</a:t>
            </a:r>
            <a:r>
              <a:rPr lang="en-US" altLang="zh-CN" sz="2000" baseline="-25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L</a:t>
            </a:r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的计算方法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67360" y="5023485"/>
            <a:ext cx="80530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>
                <a:solidFill>
                  <a:srgbClr val="FF0000"/>
                </a:solidFill>
              </a:rPr>
              <a:t> OC</a:t>
            </a:r>
            <a:r>
              <a:rPr lang="zh-CN" altLang="en-US" sz="1800" b="1">
                <a:solidFill>
                  <a:srgbClr val="FF0000"/>
                </a:solidFill>
              </a:rPr>
              <a:t>接或非门</a:t>
            </a:r>
            <a:r>
              <a:rPr lang="zh-CN" altLang="en-US" sz="1800" b="1">
                <a:solidFill>
                  <a:schemeClr val="tx1"/>
                </a:solidFill>
              </a:rPr>
              <a:t>线与逻辑：</a:t>
            </a:r>
            <a:endParaRPr lang="zh-CN" altLang="en-US" sz="1800" b="1">
              <a:solidFill>
                <a:srgbClr val="0033CC"/>
              </a:solidFill>
            </a:endParaRPr>
          </a:p>
          <a:p>
            <a:r>
              <a:rPr lang="en-US" altLang="zh-CN" sz="1800" b="1" i="1">
                <a:solidFill>
                  <a:srgbClr val="00B050"/>
                </a:solidFill>
              </a:rPr>
              <a:t>n</a:t>
            </a:r>
            <a:r>
              <a:rPr lang="zh-CN" altLang="en-US" sz="1800" b="1">
                <a:solidFill>
                  <a:srgbClr val="00B050"/>
                </a:solidFill>
              </a:rPr>
              <a:t>是并联</a:t>
            </a:r>
            <a:r>
              <a:rPr lang="en-US" altLang="zh-CN" sz="1800" b="1">
                <a:solidFill>
                  <a:srgbClr val="00B050"/>
                </a:solidFill>
              </a:rPr>
              <a:t>OC</a:t>
            </a:r>
            <a:r>
              <a:rPr lang="zh-CN" altLang="en-US" sz="1800" b="1">
                <a:solidFill>
                  <a:srgbClr val="00B050"/>
                </a:solidFill>
              </a:rPr>
              <a:t>门的数目，</a:t>
            </a:r>
            <a:r>
              <a:rPr lang="en-US" altLang="zh-CN" sz="1800" b="1" i="1">
                <a:solidFill>
                  <a:srgbClr val="FFC000"/>
                </a:solidFill>
              </a:rPr>
              <a:t>m</a:t>
            </a:r>
            <a:r>
              <a:rPr lang="zh-CN" altLang="en-US" sz="1800" b="1">
                <a:solidFill>
                  <a:srgbClr val="FFC000"/>
                </a:solidFill>
              </a:rPr>
              <a:t>是负载门高电平输入端的数目，</a:t>
            </a:r>
            <a:r>
              <a:rPr lang="en-US" altLang="zh-CN" sz="1800" b="1" i="1">
                <a:solidFill>
                  <a:srgbClr val="FFC000"/>
                </a:solidFill>
                <a:sym typeface="+mn-ea"/>
              </a:rPr>
              <a:t>m’</a:t>
            </a:r>
            <a:r>
              <a:rPr lang="zh-CN" altLang="en-US" sz="1800" b="1">
                <a:solidFill>
                  <a:srgbClr val="FFC000"/>
                </a:solidFill>
                <a:sym typeface="+mn-ea"/>
              </a:rPr>
              <a:t>是负载门低电平输入端的数目。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619250" y="3789045"/>
            <a:ext cx="62477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集电极开路的门电路（</a:t>
            </a:r>
            <a:r>
              <a:rPr lang="en-US" altLang="zh-CN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OC</a:t>
            </a:r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门）外接</a:t>
            </a:r>
            <a:r>
              <a:rPr lang="en-US" altLang="zh-CN" sz="2000" i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R</a:t>
            </a:r>
            <a:r>
              <a:rPr lang="en-US" altLang="zh-CN" sz="2000" baseline="-25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L</a:t>
            </a:r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的计算方法</a:t>
            </a: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467360" y="1556385"/>
            <a:ext cx="80530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>
                <a:solidFill>
                  <a:srgbClr val="0033CC"/>
                </a:solidFill>
              </a:rPr>
              <a:t> </a:t>
            </a:r>
            <a:r>
              <a:rPr lang="en-US" altLang="zh-CN" sz="1800" b="1">
                <a:solidFill>
                  <a:srgbClr val="FF0000"/>
                </a:solidFill>
              </a:rPr>
              <a:t>OD</a:t>
            </a:r>
            <a:r>
              <a:rPr lang="zh-CN" altLang="en-US" sz="1800" b="1">
                <a:solidFill>
                  <a:srgbClr val="FF0000"/>
                </a:solidFill>
                <a:sym typeface="+mn-ea"/>
              </a:rPr>
              <a:t>接</a:t>
            </a:r>
            <a:r>
              <a:rPr lang="zh-CN" altLang="en-US" sz="1800" b="1">
                <a:solidFill>
                  <a:srgbClr val="FF0000"/>
                </a:solidFill>
              </a:rPr>
              <a:t>与非门</a:t>
            </a:r>
            <a:r>
              <a:rPr lang="zh-CN" altLang="en-US" sz="1800" b="1">
                <a:solidFill>
                  <a:schemeClr val="tx1"/>
                </a:solidFill>
              </a:rPr>
              <a:t>线与逻辑：</a:t>
            </a:r>
            <a:endParaRPr lang="zh-CN" altLang="en-US" sz="1800" b="1">
              <a:solidFill>
                <a:srgbClr val="0033CC"/>
              </a:solidFill>
            </a:endParaRPr>
          </a:p>
          <a:p>
            <a:r>
              <a:rPr lang="en-US" altLang="zh-CN" sz="1800" b="1" i="1">
                <a:solidFill>
                  <a:srgbClr val="00B050"/>
                </a:solidFill>
              </a:rPr>
              <a:t>n</a:t>
            </a:r>
            <a:r>
              <a:rPr lang="zh-CN" altLang="en-US" sz="1800" b="1">
                <a:solidFill>
                  <a:srgbClr val="00B050"/>
                </a:solidFill>
              </a:rPr>
              <a:t>是并联</a:t>
            </a:r>
            <a:r>
              <a:rPr lang="en-US" altLang="zh-CN" sz="1800" b="1">
                <a:solidFill>
                  <a:srgbClr val="00B050"/>
                </a:solidFill>
              </a:rPr>
              <a:t>OD</a:t>
            </a:r>
            <a:r>
              <a:rPr lang="zh-CN" altLang="en-US" sz="1800" b="1">
                <a:solidFill>
                  <a:srgbClr val="00B050"/>
                </a:solidFill>
              </a:rPr>
              <a:t>门的数目，</a:t>
            </a:r>
            <a:r>
              <a:rPr lang="en-US" altLang="zh-CN" sz="1800" b="1" i="1">
                <a:solidFill>
                  <a:srgbClr val="FFC000"/>
                </a:solidFill>
              </a:rPr>
              <a:t>m</a:t>
            </a:r>
            <a:r>
              <a:rPr lang="zh-CN" altLang="en-US" sz="1800" b="1">
                <a:solidFill>
                  <a:srgbClr val="FFC000"/>
                </a:solidFill>
              </a:rPr>
              <a:t>是负载门高电平输入端的数目，</a:t>
            </a:r>
            <a:r>
              <a:rPr lang="en-US" altLang="zh-CN" sz="1800" b="1" i="1">
                <a:solidFill>
                  <a:srgbClr val="FFC000"/>
                </a:solidFill>
                <a:sym typeface="+mn-ea"/>
              </a:rPr>
              <a:t>m’</a:t>
            </a:r>
            <a:r>
              <a:rPr lang="zh-CN" altLang="en-US" sz="1800" b="1">
                <a:solidFill>
                  <a:srgbClr val="FFC000"/>
                </a:solidFill>
                <a:sym typeface="+mn-ea"/>
              </a:rPr>
              <a:t>是负载门低电平输入端的数目。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67360" y="4283075"/>
            <a:ext cx="8053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>
                <a:solidFill>
                  <a:srgbClr val="FF0000"/>
                </a:solidFill>
              </a:rPr>
              <a:t> OC</a:t>
            </a:r>
            <a:r>
              <a:rPr lang="zh-CN" altLang="en-US" sz="1800" b="1">
                <a:solidFill>
                  <a:srgbClr val="FF0000"/>
                </a:solidFill>
                <a:sym typeface="+mn-ea"/>
              </a:rPr>
              <a:t>接</a:t>
            </a:r>
            <a:r>
              <a:rPr lang="zh-CN" altLang="en-US" sz="1800" b="1">
                <a:solidFill>
                  <a:srgbClr val="FF0000"/>
                </a:solidFill>
              </a:rPr>
              <a:t>与非门</a:t>
            </a:r>
            <a:r>
              <a:rPr lang="zh-CN" altLang="en-US" sz="1800" b="1">
                <a:solidFill>
                  <a:schemeClr val="tx1"/>
                </a:solidFill>
              </a:rPr>
              <a:t>线与逻辑：</a:t>
            </a:r>
            <a:endParaRPr lang="zh-CN" altLang="en-US" sz="1800" b="1">
              <a:solidFill>
                <a:srgbClr val="0033CC"/>
              </a:solidFill>
            </a:endParaRPr>
          </a:p>
          <a:p>
            <a:r>
              <a:rPr lang="en-US" altLang="zh-CN" sz="1800" b="1" i="1">
                <a:solidFill>
                  <a:srgbClr val="00B050"/>
                </a:solidFill>
              </a:rPr>
              <a:t>n</a:t>
            </a:r>
            <a:r>
              <a:rPr lang="zh-CN" altLang="en-US" sz="1800" b="1">
                <a:solidFill>
                  <a:srgbClr val="00B050"/>
                </a:solidFill>
              </a:rPr>
              <a:t>是并联</a:t>
            </a:r>
            <a:r>
              <a:rPr lang="en-US" altLang="zh-CN" sz="1800" b="1">
                <a:solidFill>
                  <a:srgbClr val="00B050"/>
                </a:solidFill>
              </a:rPr>
              <a:t>OC</a:t>
            </a:r>
            <a:r>
              <a:rPr lang="zh-CN" altLang="en-US" sz="1800" b="1">
                <a:solidFill>
                  <a:srgbClr val="00B050"/>
                </a:solidFill>
              </a:rPr>
              <a:t>门的数目，</a:t>
            </a:r>
            <a:r>
              <a:rPr lang="en-US" altLang="zh-CN" sz="1800" b="1" i="1">
                <a:solidFill>
                  <a:srgbClr val="FFC000"/>
                </a:solidFill>
              </a:rPr>
              <a:t>m</a:t>
            </a:r>
            <a:r>
              <a:rPr lang="zh-CN" altLang="en-US" sz="1800" b="1">
                <a:solidFill>
                  <a:srgbClr val="FFC000"/>
                </a:solidFill>
              </a:rPr>
              <a:t>是负载门高电平输入端的数目，</a:t>
            </a:r>
            <a:r>
              <a:rPr lang="en-US" altLang="zh-CN" sz="1800" b="1" i="1">
                <a:solidFill>
                  <a:srgbClr val="00B050"/>
                </a:solidFill>
                <a:sym typeface="+mn-ea"/>
              </a:rPr>
              <a:t>m’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是负载门的数目</a:t>
            </a:r>
            <a:r>
              <a:rPr lang="zh-CN" altLang="en-US" sz="1800" b="1">
                <a:solidFill>
                  <a:srgbClr val="0033CC"/>
                </a:solidFill>
                <a:sym typeface="+mn-ea"/>
              </a:rPr>
              <a:t>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第三章：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基于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CMOS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和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TTL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的门电路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2483485" y="5412740"/>
          <a:ext cx="4591050" cy="845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01900" imgH="457200" progId="Equation.3">
                  <p:embed/>
                </p:oleObj>
              </mc:Choice>
              <mc:Fallback>
                <p:oleObj name="公式" r:id="rId2" imgW="25019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485" y="5412740"/>
                        <a:ext cx="4591050" cy="84518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275648" y="6257925"/>
            <a:ext cx="227266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  </a:t>
            </a:r>
            <a:r>
              <a:rPr lang="zh-CN" altLang="en-US" sz="24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实现总线结构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635693" y="926465"/>
            <a:ext cx="22675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lang="en-US" altLang="zh-CN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  </a:t>
            </a:r>
            <a:r>
              <a:rPr lang="zh-CN" altLang="en-US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三态输出门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39475" y="1844675"/>
            <a:ext cx="3992435" cy="3649880"/>
            <a:chOff x="-8334" y="3812"/>
            <a:chExt cx="7257" cy="6635"/>
          </a:xfrm>
        </p:grpSpPr>
        <p:pic>
          <p:nvPicPr>
            <p:cNvPr id="219144" name="Picture 8" descr="3-3-40a"/>
            <p:cNvPicPr>
              <a:picLocks noGrp="1"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-8334" y="3812"/>
              <a:ext cx="7257" cy="493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219146" name="Picture 10" descr="3-3-40b"/>
            <p:cNvPicPr>
              <a:picLocks noGrp="1" noChangeAspect="1" noChangeArrowheads="1"/>
            </p:cNvPicPr>
            <p:nvPr/>
          </p:nvPicPr>
          <p:blipFill>
            <a:blip r:embed="rId5"/>
            <a:srcRect t="-4622" b="40458"/>
            <a:stretch>
              <a:fillRect/>
            </a:stretch>
          </p:blipFill>
          <p:spPr>
            <a:xfrm>
              <a:off x="-6110" y="8261"/>
              <a:ext cx="3343" cy="2186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3" name="组合 2"/>
          <p:cNvGrpSpPr/>
          <p:nvPr/>
        </p:nvGrpSpPr>
        <p:grpSpPr>
          <a:xfrm>
            <a:off x="4932045" y="1900555"/>
            <a:ext cx="3345815" cy="3522345"/>
            <a:chOff x="-397" y="3245"/>
            <a:chExt cx="7030" cy="7400"/>
          </a:xfrm>
        </p:grpSpPr>
        <p:pic>
          <p:nvPicPr>
            <p:cNvPr id="95236" name="Picture 6" descr="3-5-38"/>
            <p:cNvPicPr>
              <a:picLocks noChangeAspect="1" noChangeArrowheads="1"/>
            </p:cNvPicPr>
            <p:nvPr/>
          </p:nvPicPr>
          <p:blipFill>
            <a:blip r:embed="rId6"/>
            <a:srcRect l="69654" t="25792" b="29035"/>
            <a:stretch>
              <a:fillRect/>
            </a:stretch>
          </p:blipFill>
          <p:spPr bwMode="auto">
            <a:xfrm>
              <a:off x="1757" y="8263"/>
              <a:ext cx="3063" cy="2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" name="Picture 6" descr="3-5-38"/>
            <p:cNvPicPr>
              <a:picLocks noChangeAspect="1" noChangeArrowheads="1"/>
            </p:cNvPicPr>
            <p:nvPr/>
          </p:nvPicPr>
          <p:blipFill>
            <a:blip r:embed="rId6"/>
            <a:srcRect r="30336"/>
            <a:stretch>
              <a:fillRect/>
            </a:stretch>
          </p:blipFill>
          <p:spPr bwMode="auto">
            <a:xfrm>
              <a:off x="-397" y="3245"/>
              <a:ext cx="7030" cy="5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文本框 8"/>
          <p:cNvSpPr txBox="1"/>
          <p:nvPr/>
        </p:nvSpPr>
        <p:spPr>
          <a:xfrm>
            <a:off x="1240155" y="1384300"/>
            <a:ext cx="25920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solidFill>
                  <a:srgbClr val="FFC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基于</a:t>
            </a:r>
            <a:r>
              <a:rPr lang="en-US" altLang="zh-CN" sz="2400" b="1">
                <a:solidFill>
                  <a:srgbClr val="FFC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CMOS</a:t>
            </a:r>
            <a:r>
              <a:rPr lang="zh-CN" altLang="en-US" sz="2400" b="1">
                <a:solidFill>
                  <a:srgbClr val="FFC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实现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436235" y="1412875"/>
            <a:ext cx="25920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solidFill>
                  <a:srgbClr val="FFC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基于</a:t>
            </a:r>
            <a:r>
              <a:rPr lang="en-US" altLang="zh-CN" sz="2400" b="1">
                <a:solidFill>
                  <a:srgbClr val="FFC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TTL</a:t>
            </a:r>
            <a:r>
              <a:rPr lang="zh-CN" altLang="en-US" sz="2400" b="1">
                <a:solidFill>
                  <a:srgbClr val="FFC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实现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第三章：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基于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CMOS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和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TTL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的门电路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6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621030"/>
            <a:ext cx="8067675" cy="5238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32000" y="4712652"/>
            <a:ext cx="5080000" cy="96837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CN" sz="4100"/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等线" panose="02010600030101010101" charset="-122"/>
                <a:ea typeface="等线" panose="02010600030101010101" charset="-122"/>
              </a:rPr>
              <a:t> 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691640" y="1197610"/>
            <a:ext cx="4162425" cy="829310"/>
            <a:chOff x="2097" y="1885"/>
            <a:chExt cx="6555" cy="1306"/>
          </a:xfrm>
        </p:grpSpPr>
        <p:sp>
          <p:nvSpPr>
            <p:cNvPr id="3" name="文本框 2"/>
            <p:cNvSpPr txBox="1"/>
            <p:nvPr/>
          </p:nvSpPr>
          <p:spPr>
            <a:xfrm>
              <a:off x="2097" y="1885"/>
              <a:ext cx="4190" cy="13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rPr>
                <a:t>与非门</a:t>
              </a:r>
              <a:r>
                <a:rPr lang="en-US" altLang="zh-CN" sz="1600"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rPr>
                <a:t>Y=(A</a:t>
              </a:r>
              <a:r>
                <a:rPr lang="en-US" altLang="zh-CN" sz="1600">
                  <a:solidFill>
                    <a:schemeClr val="tx1"/>
                  </a:solidFill>
                  <a:latin typeface="Times New Roman" panose="02020603050405020304"/>
                  <a:ea typeface="等线" panose="02010600030101010101" charset="-122"/>
                </a:rPr>
                <a:t>·</a:t>
              </a:r>
              <a:r>
                <a:rPr lang="en-US" altLang="zh-CN" sz="1600"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rPr>
                <a:t>B)’</a:t>
              </a:r>
              <a:r>
                <a:rPr lang="zh-CN" altLang="en-US" sz="1600"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rPr>
                <a:t>，</a:t>
              </a:r>
            </a:p>
            <a:p>
              <a:pPr marL="0" indent="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rPr>
                <a:t>或非门</a:t>
              </a:r>
              <a:r>
                <a:rPr lang="en-US" altLang="zh-CN" sz="1600"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rPr>
                <a:t>Y=(A</a:t>
              </a:r>
              <a:r>
                <a:rPr lang="en-US" altLang="zh-CN" sz="1600">
                  <a:solidFill>
                    <a:schemeClr val="tx1"/>
                  </a:solidFill>
                  <a:latin typeface="Times New Roman" panose="02020603050405020304"/>
                  <a:ea typeface="Times New Roman" panose="02020603050405020304"/>
                </a:rPr>
                <a:t>+</a:t>
              </a:r>
              <a:r>
                <a:rPr lang="en-US" altLang="zh-CN" sz="1600"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rPr>
                <a:t>B)’</a:t>
              </a:r>
            </a:p>
            <a:p>
              <a:pPr marL="0" indent="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rPr>
                <a:t>异或门</a:t>
              </a:r>
              <a:r>
                <a:rPr lang="en-US" altLang="zh-CN" sz="1600"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rPr>
                <a:t>Y=A</a:t>
              </a:r>
              <a:r>
                <a:rPr lang="en-US" altLang="zh-CN" sz="16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r>
                <a:rPr lang="en-US" altLang="zh-CN" sz="1600"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rPr>
                <a:t>B=AB’+A’B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520" y="2273"/>
              <a:ext cx="2133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600">
                  <a:solidFill>
                    <a:srgbClr val="0000FF"/>
                  </a:solidFill>
                  <a:latin typeface="等线" panose="02010600030101010101" charset="-122"/>
                  <a:ea typeface="等线" panose="02010600030101010101" charset="-122"/>
                  <a:sym typeface="+mn-ea"/>
                </a:rPr>
                <a:t>  </a:t>
              </a:r>
              <a:r>
                <a:rPr lang="zh-CN" altLang="en-US" sz="1600">
                  <a:solidFill>
                    <a:srgbClr val="0000FF"/>
                  </a:solidFill>
                  <a:latin typeface="等线" panose="02010600030101010101" charset="-122"/>
                  <a:ea typeface="等线" panose="02010600030101010101" charset="-122"/>
                  <a:sym typeface="+mn-ea"/>
                </a:rPr>
                <a:t>非门</a:t>
              </a:r>
              <a:r>
                <a:rPr lang="en-US" altLang="zh-CN" sz="1600">
                  <a:solidFill>
                    <a:srgbClr val="0000FF"/>
                  </a:solidFill>
                  <a:latin typeface="等线" panose="02010600030101010101" charset="-122"/>
                  <a:ea typeface="等线" panose="02010600030101010101" charset="-122"/>
                  <a:sym typeface="+mn-ea"/>
                </a:rPr>
                <a:t>Y=A’</a:t>
              </a:r>
            </a:p>
          </p:txBody>
        </p:sp>
      </p:grpSp>
      <p:pic>
        <p:nvPicPr>
          <p:cNvPr id="17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95" y="3068955"/>
            <a:ext cx="6353810" cy="3169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05" y="2493010"/>
            <a:ext cx="7972425" cy="266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785" y="1052830"/>
            <a:ext cx="5271770" cy="410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05" y="621030"/>
            <a:ext cx="832485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图片 16"/>
          <p:cNvPicPr>
            <a:picLocks noChangeAspect="1"/>
          </p:cNvPicPr>
          <p:nvPr/>
        </p:nvPicPr>
        <p:blipFill>
          <a:blip r:embed="rId5"/>
          <a:srcRect b="7692"/>
          <a:stretch>
            <a:fillRect/>
          </a:stretch>
        </p:blipFill>
        <p:spPr>
          <a:xfrm>
            <a:off x="755650" y="404495"/>
            <a:ext cx="7309485" cy="36728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539750" y="5733415"/>
            <a:ext cx="80530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>
                <a:solidFill>
                  <a:srgbClr val="0033CC"/>
                </a:solidFill>
              </a:rPr>
              <a:t> </a:t>
            </a:r>
            <a:r>
              <a:rPr lang="en-US" altLang="zh-CN" sz="1800" b="1">
                <a:solidFill>
                  <a:srgbClr val="FF0000"/>
                </a:solidFill>
              </a:rPr>
              <a:t>OD</a:t>
            </a:r>
            <a:r>
              <a:rPr lang="zh-CN" altLang="en-US" sz="1800" b="1">
                <a:solidFill>
                  <a:srgbClr val="FF0000"/>
                </a:solidFill>
                <a:sym typeface="+mn-ea"/>
              </a:rPr>
              <a:t>接</a:t>
            </a:r>
            <a:r>
              <a:rPr lang="zh-CN" altLang="en-US" sz="1800" b="1">
                <a:solidFill>
                  <a:srgbClr val="FF0000"/>
                </a:solidFill>
              </a:rPr>
              <a:t>与非门</a:t>
            </a:r>
            <a:r>
              <a:rPr lang="zh-CN" altLang="en-US" sz="1800" b="1">
                <a:solidFill>
                  <a:schemeClr val="tx1"/>
                </a:solidFill>
              </a:rPr>
              <a:t>线与逻辑：</a:t>
            </a:r>
            <a:endParaRPr lang="zh-CN" altLang="en-US" sz="1800" b="1">
              <a:solidFill>
                <a:srgbClr val="0033CC"/>
              </a:solidFill>
            </a:endParaRPr>
          </a:p>
          <a:p>
            <a:r>
              <a:rPr lang="en-US" altLang="zh-CN" sz="1800" b="1" i="1">
                <a:solidFill>
                  <a:srgbClr val="00B050"/>
                </a:solidFill>
              </a:rPr>
              <a:t>n</a:t>
            </a:r>
            <a:r>
              <a:rPr lang="zh-CN" altLang="en-US" sz="1800" b="1">
                <a:solidFill>
                  <a:srgbClr val="00B050"/>
                </a:solidFill>
              </a:rPr>
              <a:t>是并联</a:t>
            </a:r>
            <a:r>
              <a:rPr lang="en-US" altLang="zh-CN" sz="1800" b="1">
                <a:solidFill>
                  <a:srgbClr val="00B050"/>
                </a:solidFill>
              </a:rPr>
              <a:t>OD</a:t>
            </a:r>
            <a:r>
              <a:rPr lang="zh-CN" altLang="en-US" sz="1800" b="1">
                <a:solidFill>
                  <a:srgbClr val="00B050"/>
                </a:solidFill>
              </a:rPr>
              <a:t>门的数目，</a:t>
            </a:r>
            <a:r>
              <a:rPr lang="en-US" altLang="zh-CN" sz="1800" b="1" i="1">
                <a:solidFill>
                  <a:srgbClr val="FFC000"/>
                </a:solidFill>
              </a:rPr>
              <a:t>m</a:t>
            </a:r>
            <a:r>
              <a:rPr lang="zh-CN" altLang="en-US" sz="1800" b="1">
                <a:solidFill>
                  <a:srgbClr val="FFC000"/>
                </a:solidFill>
              </a:rPr>
              <a:t>是负载门高电平输入端的数目，</a:t>
            </a:r>
            <a:r>
              <a:rPr lang="en-US" altLang="zh-CN" sz="1800" b="1" i="1">
                <a:solidFill>
                  <a:srgbClr val="FFC000"/>
                </a:solidFill>
                <a:sym typeface="+mn-ea"/>
              </a:rPr>
              <a:t>m’</a:t>
            </a:r>
            <a:r>
              <a:rPr lang="zh-CN" altLang="en-US" sz="1800" b="1">
                <a:solidFill>
                  <a:srgbClr val="FFC000"/>
                </a:solidFill>
                <a:sym typeface="+mn-ea"/>
              </a:rPr>
              <a:t>是负载门低电平输入端的数目。</a:t>
            </a: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526415" y="4217670"/>
          <a:ext cx="3599815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27300" imgH="965200" progId="Equation.3">
                  <p:embed/>
                </p:oleObj>
              </mc:Choice>
              <mc:Fallback>
                <p:oleObj name="公式" r:id="rId6" imgW="2527300" imgH="965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415" y="4217670"/>
                        <a:ext cx="3599815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4932045" y="4184650"/>
          <a:ext cx="3817620" cy="1410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79700" imgH="990600" progId="Equation.3">
                  <p:embed/>
                </p:oleObj>
              </mc:Choice>
              <mc:Fallback>
                <p:oleObj name="公式" r:id="rId8" imgW="2679700" imgH="990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5" y="4184650"/>
                        <a:ext cx="3817620" cy="14109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" y="404495"/>
            <a:ext cx="6504940" cy="266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组合 2"/>
          <p:cNvGrpSpPr/>
          <p:nvPr/>
        </p:nvGrpSpPr>
        <p:grpSpPr>
          <a:xfrm>
            <a:off x="1089025" y="2845435"/>
            <a:ext cx="6567170" cy="2602865"/>
            <a:chOff x="3231" y="4975"/>
            <a:chExt cx="8372" cy="3318"/>
          </a:xfrm>
        </p:grpSpPr>
        <p:pic>
          <p:nvPicPr>
            <p:cNvPr id="189" name="图片 22"/>
            <p:cNvPicPr>
              <a:picLocks noChangeAspect="1"/>
            </p:cNvPicPr>
            <p:nvPr/>
          </p:nvPicPr>
          <p:blipFill>
            <a:blip r:embed="rId3"/>
            <a:srcRect b="15947"/>
            <a:stretch>
              <a:fillRect/>
            </a:stretch>
          </p:blipFill>
          <p:spPr>
            <a:xfrm>
              <a:off x="3307" y="5627"/>
              <a:ext cx="8297" cy="26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" name="图片 1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3231" y="4975"/>
              <a:ext cx="8373" cy="651"/>
            </a:xfrm>
            <a:prstGeom prst="rect">
              <a:avLst/>
            </a:prstGeom>
          </p:spPr>
        </p:pic>
      </p:grpSp>
      <p:sp>
        <p:nvSpPr>
          <p:cNvPr id="14" name="文本框 13"/>
          <p:cNvSpPr txBox="1"/>
          <p:nvPr/>
        </p:nvSpPr>
        <p:spPr>
          <a:xfrm>
            <a:off x="611505" y="5753735"/>
            <a:ext cx="80530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>
                <a:solidFill>
                  <a:srgbClr val="FF0000"/>
                </a:solidFill>
              </a:rPr>
              <a:t> OC</a:t>
            </a:r>
            <a:r>
              <a:rPr lang="zh-CN" altLang="en-US" sz="1800" b="1">
                <a:solidFill>
                  <a:srgbClr val="FF0000"/>
                </a:solidFill>
              </a:rPr>
              <a:t>接或非门</a:t>
            </a:r>
            <a:r>
              <a:rPr lang="zh-CN" altLang="en-US" sz="1800" b="1">
                <a:solidFill>
                  <a:schemeClr val="tx1"/>
                </a:solidFill>
              </a:rPr>
              <a:t>线与逻辑：</a:t>
            </a:r>
            <a:endParaRPr lang="zh-CN" altLang="en-US" sz="1800" b="1">
              <a:solidFill>
                <a:srgbClr val="0033CC"/>
              </a:solidFill>
            </a:endParaRPr>
          </a:p>
          <a:p>
            <a:r>
              <a:rPr lang="en-US" altLang="zh-CN" sz="1800" b="1" i="1">
                <a:solidFill>
                  <a:srgbClr val="00B050"/>
                </a:solidFill>
              </a:rPr>
              <a:t>n</a:t>
            </a:r>
            <a:r>
              <a:rPr lang="zh-CN" altLang="en-US" sz="1800" b="1">
                <a:solidFill>
                  <a:srgbClr val="00B050"/>
                </a:solidFill>
              </a:rPr>
              <a:t>是并联</a:t>
            </a:r>
            <a:r>
              <a:rPr lang="en-US" altLang="zh-CN" sz="1800" b="1">
                <a:solidFill>
                  <a:srgbClr val="00B050"/>
                </a:solidFill>
              </a:rPr>
              <a:t>OC</a:t>
            </a:r>
            <a:r>
              <a:rPr lang="zh-CN" altLang="en-US" sz="1800" b="1">
                <a:solidFill>
                  <a:srgbClr val="00B050"/>
                </a:solidFill>
              </a:rPr>
              <a:t>门的数目，</a:t>
            </a:r>
            <a:r>
              <a:rPr lang="en-US" altLang="zh-CN" sz="1800" b="1" i="1">
                <a:solidFill>
                  <a:srgbClr val="FFC000"/>
                </a:solidFill>
              </a:rPr>
              <a:t>m</a:t>
            </a:r>
            <a:r>
              <a:rPr lang="zh-CN" altLang="en-US" sz="1800" b="1">
                <a:solidFill>
                  <a:srgbClr val="FFC000"/>
                </a:solidFill>
              </a:rPr>
              <a:t>是负载门高电平输入端的数目，</a:t>
            </a:r>
            <a:r>
              <a:rPr lang="en-US" altLang="zh-CN" sz="1800" b="1" i="1">
                <a:solidFill>
                  <a:srgbClr val="FFC000"/>
                </a:solidFill>
                <a:sym typeface="+mn-ea"/>
              </a:rPr>
              <a:t>m’</a:t>
            </a:r>
            <a:r>
              <a:rPr lang="zh-CN" altLang="en-US" sz="1800" b="1">
                <a:solidFill>
                  <a:srgbClr val="FFC000"/>
                </a:solidFill>
                <a:sym typeface="+mn-ea"/>
              </a:rPr>
              <a:t>是负载门低电平输入端的数目。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11505" y="5085080"/>
            <a:ext cx="8053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>
                <a:solidFill>
                  <a:srgbClr val="FF0000"/>
                </a:solidFill>
              </a:rPr>
              <a:t> OC</a:t>
            </a:r>
            <a:r>
              <a:rPr lang="zh-CN" altLang="en-US" sz="1800" b="1">
                <a:solidFill>
                  <a:srgbClr val="FF0000"/>
                </a:solidFill>
                <a:sym typeface="+mn-ea"/>
              </a:rPr>
              <a:t>接</a:t>
            </a:r>
            <a:r>
              <a:rPr lang="zh-CN" altLang="en-US" sz="1800" b="1">
                <a:solidFill>
                  <a:srgbClr val="FF0000"/>
                </a:solidFill>
              </a:rPr>
              <a:t>与非门</a:t>
            </a:r>
            <a:r>
              <a:rPr lang="zh-CN" altLang="en-US" sz="1800" b="1">
                <a:solidFill>
                  <a:schemeClr val="tx1"/>
                </a:solidFill>
              </a:rPr>
              <a:t>线与逻辑：</a:t>
            </a:r>
            <a:endParaRPr lang="zh-CN" altLang="en-US" sz="1800" b="1">
              <a:solidFill>
                <a:srgbClr val="0033CC"/>
              </a:solidFill>
            </a:endParaRPr>
          </a:p>
          <a:p>
            <a:r>
              <a:rPr lang="en-US" altLang="zh-CN" sz="1800" b="1" i="1">
                <a:solidFill>
                  <a:srgbClr val="00B050"/>
                </a:solidFill>
              </a:rPr>
              <a:t>n</a:t>
            </a:r>
            <a:r>
              <a:rPr lang="zh-CN" altLang="en-US" sz="1800" b="1">
                <a:solidFill>
                  <a:srgbClr val="00B050"/>
                </a:solidFill>
              </a:rPr>
              <a:t>是并联</a:t>
            </a:r>
            <a:r>
              <a:rPr lang="en-US" altLang="zh-CN" sz="1800" b="1">
                <a:solidFill>
                  <a:srgbClr val="00B050"/>
                </a:solidFill>
              </a:rPr>
              <a:t>OC</a:t>
            </a:r>
            <a:r>
              <a:rPr lang="zh-CN" altLang="en-US" sz="1800" b="1">
                <a:solidFill>
                  <a:srgbClr val="00B050"/>
                </a:solidFill>
              </a:rPr>
              <a:t>门的数目，</a:t>
            </a:r>
            <a:r>
              <a:rPr lang="en-US" altLang="zh-CN" sz="1800" b="1" i="1">
                <a:solidFill>
                  <a:srgbClr val="FFC000"/>
                </a:solidFill>
              </a:rPr>
              <a:t>m</a:t>
            </a:r>
            <a:r>
              <a:rPr lang="zh-CN" altLang="en-US" sz="1800" b="1">
                <a:solidFill>
                  <a:srgbClr val="FFC000"/>
                </a:solidFill>
              </a:rPr>
              <a:t>是负载门高电平输入端的数目，</a:t>
            </a:r>
            <a:r>
              <a:rPr lang="en-US" altLang="zh-CN" sz="1800" b="1" i="1">
                <a:solidFill>
                  <a:srgbClr val="00B050"/>
                </a:solidFill>
                <a:sym typeface="+mn-ea"/>
              </a:rPr>
              <a:t>m’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是负载门的数目</a:t>
            </a:r>
            <a:r>
              <a:rPr lang="zh-CN" altLang="en-US" sz="1800" b="1">
                <a:solidFill>
                  <a:srgbClr val="0033CC"/>
                </a:solidFill>
                <a:sym typeface="+mn-ea"/>
              </a:rPr>
              <a:t>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548640"/>
            <a:ext cx="8028940" cy="21062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331595" y="2924810"/>
            <a:ext cx="5738495" cy="212407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在数字电路中，输出端能否并联使用取决于其内部输出结构及工作状态：</a:t>
            </a:r>
            <a:endParaRPr lang="zh-CN" altLang="en-US" sz="1800">
              <a:solidFill>
                <a:srgbClr val="0000FF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普通具有推拉式输出级的</a:t>
            </a:r>
            <a:r>
              <a:rPr lang="en-US" altLang="zh-CN" sz="18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TTL</a:t>
            </a:r>
            <a:r>
              <a:rPr lang="zh-CN" altLang="en-US" sz="18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电路和互补输出结构的</a:t>
            </a:r>
            <a:r>
              <a:rPr lang="en-US" altLang="zh-CN" sz="18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CMOS</a:t>
            </a:r>
            <a:r>
              <a:rPr lang="zh-CN" altLang="en-US" sz="18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门，其输出端不能直接并联，因为当两个门输出状态不一致时（一个输出高电平，另一个输出低电平），会形成低阻抗通路，产生大电流，导致器件损坏。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31595" y="7608728"/>
            <a:ext cx="5080000" cy="96837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CN" sz="4100"/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476885"/>
            <a:ext cx="810450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第七章：</a:t>
            </a:r>
            <a:r>
              <a:rPr lang="zh-CN" altLang="en-US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脉冲波形的产生和整形电路</a:t>
            </a:r>
            <a:endParaRPr lang="zh-CN" altLang="en-US">
              <a:solidFill>
                <a:srgbClr val="000000"/>
              </a:solidFill>
              <a:sym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539115" y="1196975"/>
            <a:ext cx="7820660" cy="539623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9pPr>
          </a:lstStyle>
          <a:p>
            <a:pPr algn="just"/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本章介绍了矩形脉冲波形的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整形电路（施密特触发电路和单稳态电路）和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产生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电路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（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各种多谐振荡电路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），以及</a:t>
            </a: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555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定时器和它的应用，重点掌握：</a:t>
            </a: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1. </a:t>
            </a:r>
            <a:r>
              <a:rPr kumimoji="0" lang="zh-CN" altLang="en-US" sz="2400" kern="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施密特触发电路、单稳态电路和多谐振荡电路的特点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和应用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kumimoji="0" lang="en-US" altLang="zh-CN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2. 555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定时器的工作原理和应用</a:t>
            </a:r>
            <a:endParaRPr kumimoji="0" lang="zh-CN" altLang="en-US" sz="2400" kern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4675" y="3428365"/>
            <a:ext cx="7990205" cy="1814195"/>
            <a:chOff x="380" y="2905"/>
            <a:chExt cx="12583" cy="2857"/>
          </a:xfrm>
        </p:grpSpPr>
        <p:sp>
          <p:nvSpPr>
            <p:cNvPr id="4" name="文本框 3"/>
            <p:cNvSpPr txBox="1"/>
            <p:nvPr/>
          </p:nvSpPr>
          <p:spPr>
            <a:xfrm>
              <a:off x="380" y="3525"/>
              <a:ext cx="4552" cy="223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kern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sym typeface="+mn-ea"/>
                </a:rPr>
                <a:t>脉冲波形整形电路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zh-CN" altLang="en-US" sz="2800" b="1" kern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sym typeface="+mn-ea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kern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sym typeface="+mn-ea"/>
                </a:rPr>
                <a:t>脉冲波形发生电路</a:t>
              </a:r>
            </a:p>
          </p:txBody>
        </p:sp>
        <p:sp>
          <p:nvSpPr>
            <p:cNvPr id="5" name="左大括号 4"/>
            <p:cNvSpPr/>
            <p:nvPr/>
          </p:nvSpPr>
          <p:spPr>
            <a:xfrm>
              <a:off x="4478" y="2995"/>
              <a:ext cx="617" cy="1837"/>
            </a:xfrm>
            <a:prstGeom prst="leftBrace">
              <a:avLst>
                <a:gd name="adj1" fmla="val 23338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948" y="2905"/>
              <a:ext cx="8015" cy="195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200" b="1" kern="0" noProof="0" dirty="0">
                  <a:ln>
                    <a:noFill/>
                  </a:ln>
                  <a:solidFill>
                    <a:srgbClr val="00B0F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sym typeface="+mn-ea"/>
                </a:rPr>
                <a:t>施密特触发电路：没有暂态，两个稳态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zh-CN" altLang="en-US" sz="2200" b="1" kern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sym typeface="+mn-ea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200" b="1" kern="0" noProof="0" dirty="0">
                  <a:ln>
                    <a:noFill/>
                  </a:ln>
                  <a:solidFill>
                    <a:srgbClr val="00B0F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sym typeface="+mn-ea"/>
                </a:rPr>
                <a:t>单稳态电路：一个稳态，一个暂态</a:t>
              </a:r>
            </a:p>
          </p:txBody>
        </p:sp>
        <p:sp>
          <p:nvSpPr>
            <p:cNvPr id="7" name="左大括号 6"/>
            <p:cNvSpPr/>
            <p:nvPr/>
          </p:nvSpPr>
          <p:spPr>
            <a:xfrm>
              <a:off x="4553" y="5107"/>
              <a:ext cx="475" cy="615"/>
            </a:xfrm>
            <a:prstGeom prst="leftBrace">
              <a:avLst>
                <a:gd name="adj1" fmla="val 2421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4932" y="5085"/>
              <a:ext cx="7737" cy="6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200" b="1" kern="0" noProof="0" dirty="0">
                  <a:ln>
                    <a:noFill/>
                  </a:ln>
                  <a:solidFill>
                    <a:srgbClr val="00B0F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sym typeface="+mn-ea"/>
                </a:rPr>
                <a:t>多谐振荡电路：没有稳态，两个暂态</a:t>
              </a:r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856" name="Picture 16" descr="9t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890" y="3140710"/>
            <a:ext cx="2459355" cy="2087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4466" name="Rectangle 2"/>
          <p:cNvSpPr>
            <a:spLocks noGrp="1" noChangeArrowheads="1"/>
          </p:cNvSpPr>
          <p:nvPr>
            <p:ph idx="1"/>
          </p:nvPr>
        </p:nvSpPr>
        <p:spPr>
          <a:xfrm>
            <a:off x="395605" y="980440"/>
            <a:ext cx="8105775" cy="231648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两个重要特点：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输入信号上升和下降过程中，引起输出状态转换的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电平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不同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的，即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T+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不等于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T-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2400" b="1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 startAt="2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由于输出状态转换时有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正反馈过程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发生，所以输出电压波形的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边沿很陡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，可以得到比较理想的矩形输出脉冲。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4338" name="Object 12"/>
          <p:cNvGraphicFramePr>
            <a:graphicFrameLocks noChangeAspect="1"/>
          </p:cNvGraphicFramePr>
          <p:nvPr/>
        </p:nvGraphicFramePr>
        <p:xfrm>
          <a:off x="2049780" y="5083493"/>
          <a:ext cx="21986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43000" imgH="444500" progId="Equation.3">
                  <p:embed/>
                </p:oleObj>
              </mc:Choice>
              <mc:Fallback>
                <p:oleObj r:id="rId3" imgW="1143000" imgH="4445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49780" y="5083493"/>
                        <a:ext cx="2198688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13"/>
          <p:cNvGraphicFramePr>
            <a:graphicFrameLocks noChangeAspect="1"/>
          </p:cNvGraphicFramePr>
          <p:nvPr/>
        </p:nvGraphicFramePr>
        <p:xfrm>
          <a:off x="4427538" y="5084445"/>
          <a:ext cx="22002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43000" imgH="444500" progId="Equation.3">
                  <p:embed/>
                </p:oleObj>
              </mc:Choice>
              <mc:Fallback>
                <p:oleObj r:id="rId5" imgW="1143000" imgH="4445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7538" y="5084445"/>
                        <a:ext cx="2200275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27355" y="6021070"/>
            <a:ext cx="63182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 noProof="0" dirty="0">
                <a:ln>
                  <a:noFill/>
                </a:ln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应用：</a:t>
            </a:r>
            <a:r>
              <a:rPr lang="zh-CN" altLang="en-US" sz="24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进行</a:t>
            </a:r>
            <a:r>
              <a:rPr lang="zh-CN" altLang="en-US" sz="2400" b="1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sym typeface="+mn-ea"/>
              </a:rPr>
              <a:t>波形变换、</a:t>
            </a:r>
            <a:r>
              <a:rPr lang="zh-CN" altLang="en-US" sz="24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脉冲整形、</a:t>
            </a:r>
            <a:r>
              <a:rPr lang="zh-CN" altLang="en-US" sz="2400" b="1" kern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脉冲鉴幅</a:t>
            </a:r>
            <a:endParaRPr lang="en-US" altLang="zh-CN" sz="2400" b="1" kern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sym typeface="+mn-ea"/>
            </a:endParaRPr>
          </a:p>
        </p:txBody>
      </p:sp>
      <p:pic>
        <p:nvPicPr>
          <p:cNvPr id="12" name="Picture 15" descr="9t21"/>
          <p:cNvPicPr>
            <a:picLocks noChangeAspect="1"/>
          </p:cNvPicPr>
          <p:nvPr/>
        </p:nvPicPr>
        <p:blipFill>
          <a:blip r:embed="rId7"/>
          <a:srcRect l="16" t="-299" r="41039" b="14932"/>
          <a:stretch>
            <a:fillRect/>
          </a:stretch>
        </p:blipFill>
        <p:spPr>
          <a:xfrm>
            <a:off x="755650" y="3140710"/>
            <a:ext cx="4643755" cy="18776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Picture 15" descr="9t21"/>
          <p:cNvPicPr>
            <a:picLocks noChangeAspect="1"/>
          </p:cNvPicPr>
          <p:nvPr/>
        </p:nvPicPr>
        <p:blipFill>
          <a:blip r:embed="rId7"/>
          <a:srcRect l="73872" t="12598" b="14932"/>
          <a:stretch>
            <a:fillRect/>
          </a:stretch>
        </p:blipFill>
        <p:spPr>
          <a:xfrm>
            <a:off x="755650" y="4580890"/>
            <a:ext cx="1254125" cy="971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第七章：</a:t>
            </a:r>
            <a:r>
              <a:rPr lang="zh-CN" altLang="en-US">
                <a:solidFill>
                  <a:srgbClr val="0066FF"/>
                </a:solidFill>
                <a:sym typeface="+mn-ea"/>
              </a:rPr>
              <a:t>施密特触发电路（两个稳态）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395605" y="908685"/>
            <a:ext cx="8105775" cy="218503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三个显著特点：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noProof="0" dirty="0">
                <a:ln>
                  <a:noFill/>
                </a:ln>
                <a:uLnTx/>
                <a:uFillTx/>
                <a:sym typeface="+mn-ea"/>
              </a:rPr>
              <a:t>有一个</a:t>
            </a:r>
            <a:r>
              <a:rPr lang="zh-CN" altLang="en-US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sym typeface="+mn-ea"/>
              </a:rPr>
              <a:t>稳态</a:t>
            </a:r>
            <a:r>
              <a:rPr lang="zh-CN" altLang="en-US" noProof="0" dirty="0">
                <a:ln>
                  <a:noFill/>
                </a:ln>
                <a:uLnTx/>
                <a:uFillTx/>
                <a:sym typeface="+mn-ea"/>
              </a:rPr>
              <a:t>和一个</a:t>
            </a:r>
            <a:r>
              <a:rPr lang="zh-CN" altLang="en-US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sym typeface="+mn-ea"/>
              </a:rPr>
              <a:t>暂稳态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 startAt="2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在外界触发脉冲作用下，能从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稳态翻转到暂稳态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，态维持一段时间以后自动返回稳态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 startAt="2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暂稳态维持时间的长短取决于电路本身</a:t>
            </a:r>
            <a:r>
              <a:rPr lang="zh-CN" altLang="en-US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楷体_GB2312" pitchFamily="49" charset="-122"/>
                <a:sym typeface="+mn-ea"/>
              </a:rPr>
              <a:t>内部参数</a:t>
            </a:r>
            <a:r>
              <a:rPr lang="zh-CN" altLang="en-US" noProof="0" dirty="0">
                <a:ln>
                  <a:noFill/>
                </a:ln>
                <a:uLnTx/>
                <a:uFillTx/>
                <a:latin typeface="楷体_GB2312" pitchFamily="49" charset="-122"/>
                <a:sym typeface="+mn-ea"/>
              </a:rPr>
              <a:t>。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 startAt="2"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83260" y="3637280"/>
            <a:ext cx="35547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rPr>
              <a:t>微分型单稳态电路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4787900" y="3637280"/>
            <a:ext cx="35547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rPr>
              <a:t>积分型单稳态电路</a:t>
            </a:r>
          </a:p>
        </p:txBody>
      </p:sp>
      <p:pic>
        <p:nvPicPr>
          <p:cNvPr id="23554" name="Picture 20" descr="9t3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78753" y="4005580"/>
            <a:ext cx="4262437" cy="1897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8932" name="Picture 4" descr="10-3-5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0"/>
          <a:srcRect/>
          <a:stretch>
            <a:fillRect/>
          </a:stretch>
        </p:blipFill>
        <p:spPr bwMode="auto">
          <a:xfrm>
            <a:off x="4499610" y="4097655"/>
            <a:ext cx="4111625" cy="1809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971550" y="5906770"/>
            <a:ext cx="241998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charset="0"/>
                <a:ea typeface="等线" panose="02010600030101010101" charset="-122"/>
                <a:sym typeface="+mn-ea"/>
              </a:rPr>
              <a:t>窄脉冲触发（正）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charset="0"/>
                <a:ea typeface="等线" panose="02010600030101010101" charset="-122"/>
                <a:sym typeface="+mn-ea"/>
              </a:rPr>
              <a:t>宽脉冲输出（正）</a:t>
            </a: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5273675" y="5906770"/>
            <a:ext cx="241998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>
                <a:ln>
                  <a:noFill/>
                </a:ln>
                <a:uLnTx/>
                <a:uFillTx/>
                <a:latin typeface="Times New Roman" panose="02020603050405020304" charset="0"/>
                <a:ea typeface="等线" panose="02010600030101010101" charset="-122"/>
                <a:sym typeface="+mn-ea"/>
              </a:rPr>
              <a:t>宽</a:t>
            </a:r>
            <a:r>
              <a:rPr lang="zh-CN" altLang="en-US" sz="200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charset="0"/>
                <a:ea typeface="等线" panose="02010600030101010101" charset="-122"/>
                <a:sym typeface="+mn-ea"/>
              </a:rPr>
              <a:t>脉冲触发（正）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>
                <a:ln>
                  <a:noFill/>
                </a:ln>
                <a:uLnTx/>
                <a:uFillTx/>
                <a:latin typeface="Times New Roman" panose="02020603050405020304" charset="0"/>
                <a:ea typeface="等线" panose="02010600030101010101" charset="-122"/>
                <a:sym typeface="+mn-ea"/>
              </a:rPr>
              <a:t>窄</a:t>
            </a:r>
            <a:r>
              <a:rPr lang="zh-CN" altLang="en-US" sz="200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charset="0"/>
                <a:ea typeface="等线" panose="02010600030101010101" charset="-122"/>
                <a:sym typeface="+mn-ea"/>
              </a:rPr>
              <a:t>脉冲输出（负）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28040" y="3088005"/>
            <a:ext cx="59251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应用：</a:t>
            </a:r>
            <a:r>
              <a:rPr lang="zh-CN" altLang="en-US" sz="240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进行脉冲整形、延时、</a:t>
            </a:r>
            <a:r>
              <a:rPr lang="zh-CN" altLang="en-US" sz="2400" noProof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定时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第七章：</a:t>
            </a:r>
            <a:r>
              <a:rPr lang="zh-CN" altLang="en-US">
                <a:solidFill>
                  <a:srgbClr val="0066FF"/>
                </a:solidFill>
                <a:sym typeface="+mn-ea"/>
              </a:rPr>
              <a:t>单稳态电路（一个稳态，一个暂态）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395605" y="908685"/>
            <a:ext cx="8105775" cy="147447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两个显著特点：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noProof="0" dirty="0">
                <a:ln>
                  <a:noFill/>
                </a:ln>
                <a:solidFill>
                  <a:srgbClr val="92D050"/>
                </a:solidFill>
                <a:uLnTx/>
                <a:uFillTx/>
                <a:sym typeface="+mn-ea"/>
              </a:rPr>
              <a:t>自激振荡</a:t>
            </a:r>
            <a:r>
              <a:rPr lang="zh-CN" altLang="en-US" noProof="0" dirty="0">
                <a:ln>
                  <a:noFill/>
                </a:ln>
                <a:uLnTx/>
                <a:uFillTx/>
                <a:sym typeface="+mn-ea"/>
              </a:rPr>
              <a:t>，不需要外加触发信号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 startAt="2"/>
              <a:defRPr/>
            </a:pPr>
            <a:r>
              <a:rPr lang="zh-CN" altLang="en-US" noProof="0" dirty="0">
                <a:ln>
                  <a:noFill/>
                </a:ln>
                <a:solidFill>
                  <a:srgbClr val="92D050"/>
                </a:solidFill>
                <a:uLnTx/>
                <a:uFillTx/>
                <a:sym typeface="+mn-ea"/>
              </a:rPr>
              <a:t>两个</a:t>
            </a:r>
            <a:r>
              <a:rPr lang="zh-CN" altLang="en-US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sym typeface="+mn-ea"/>
              </a:rPr>
              <a:t>暂稳态</a:t>
            </a:r>
            <a:r>
              <a:rPr lang="zh-CN" altLang="en-US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sym typeface="+mn-ea"/>
              </a:rPr>
              <a:t>间的切换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通过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的充放电过程来实现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251460" y="2383155"/>
            <a:ext cx="30645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rPr>
              <a:t>对称式多谐振荡电路</a:t>
            </a:r>
          </a:p>
        </p:txBody>
      </p:sp>
      <p:pic>
        <p:nvPicPr>
          <p:cNvPr id="27651" name="Picture 9" descr="10-4-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95605" y="2780665"/>
            <a:ext cx="3187700" cy="1790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787900" y="2383155"/>
            <a:ext cx="33000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rPr>
              <a:t>非对称式多谐振荡电路</a:t>
            </a:r>
          </a:p>
        </p:txBody>
      </p:sp>
      <p:pic>
        <p:nvPicPr>
          <p:cNvPr id="30726" name="Picture 16" descr="10-4-6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571683" y="2781618"/>
            <a:ext cx="3529012" cy="169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755650" y="4725035"/>
            <a:ext cx="30645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rPr>
              <a:t>环形振荡电路</a:t>
            </a: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4770755" y="4700905"/>
            <a:ext cx="346138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lvl="0" indent="-457200" algn="l" defTabSz="914400" rtl="0" ea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等线" panose="02010600030101010101" charset="-122"/>
                <a:ea typeface="等线" panose="02010600030101010101" charset="-122"/>
                <a:sym typeface="+mn-ea"/>
              </a:rPr>
              <a:t>用施密特触发器构成的多谐振荡电路</a:t>
            </a:r>
          </a:p>
        </p:txBody>
      </p:sp>
      <p:pic>
        <p:nvPicPr>
          <p:cNvPr id="33794" name="Picture 13" descr="10-4-12b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07315" y="5123815"/>
            <a:ext cx="3832860" cy="1490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5" name="Picture 8" descr="10-4-15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12180" y="5085080"/>
            <a:ext cx="2019935" cy="1740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66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第七章：多谐振荡电路（两个暂态，没有稳态</a:t>
            </a:r>
            <a:r>
              <a:rPr lang="zh-CN" altLang="en-US">
                <a:solidFill>
                  <a:srgbClr val="0066FF"/>
                </a:solidFill>
                <a:sym typeface="+mn-ea"/>
              </a:rPr>
              <a:t>）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39750" y="1052830"/>
            <a:ext cx="755967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lvl="0" indent="-342900" algn="l" defTabSz="914400" rtl="0" ea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电路结构：由电压比较器（</a:t>
            </a:r>
            <a:r>
              <a:rPr lang="en-US" altLang="zh-CN" sz="22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</a:t>
            </a:r>
            <a:r>
              <a:rPr lang="en-US" altLang="zh-CN" sz="22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,C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2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）、锁存器、</a:t>
            </a:r>
            <a:r>
              <a:rPr lang="en-US" altLang="zh-CN" sz="22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OC</a:t>
            </a:r>
            <a:r>
              <a:rPr lang="zh-CN" altLang="en-US" sz="22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输出的三极管（</a:t>
            </a:r>
            <a:r>
              <a:rPr lang="en-US" altLang="zh-CN" sz="22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2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）组成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395605" y="2308860"/>
            <a:ext cx="3935730" cy="3027680"/>
            <a:chOff x="396" y="2792"/>
            <a:chExt cx="7514" cy="5780"/>
          </a:xfrm>
        </p:grpSpPr>
        <p:pic>
          <p:nvPicPr>
            <p:cNvPr id="77825" name="Picture 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96" y="2792"/>
              <a:ext cx="7515" cy="57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6" name="组合 5"/>
            <p:cNvGrpSpPr/>
            <p:nvPr/>
          </p:nvGrpSpPr>
          <p:grpSpPr>
            <a:xfrm>
              <a:off x="1529" y="2906"/>
              <a:ext cx="5218" cy="4874"/>
              <a:chOff x="1529" y="2906"/>
              <a:chExt cx="5218" cy="4874"/>
            </a:xfrm>
          </p:grpSpPr>
          <p:sp>
            <p:nvSpPr>
              <p:cNvPr id="527435" name="Rectangle 75"/>
              <p:cNvSpPr/>
              <p:nvPr/>
            </p:nvSpPr>
            <p:spPr>
              <a:xfrm>
                <a:off x="1985" y="2906"/>
                <a:ext cx="568" cy="4083"/>
              </a:xfrm>
              <a:prstGeom prst="rect">
                <a:avLst/>
              </a:prstGeom>
              <a:solidFill>
                <a:srgbClr val="99CCFF">
                  <a:alpha val="12941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方正舒体" panose="02010601030101010101" pitchFamily="2" charset="-122"/>
                </a:endParaRPr>
              </a:p>
            </p:txBody>
          </p:sp>
          <p:sp>
            <p:nvSpPr>
              <p:cNvPr id="527436" name="Rectangle 76"/>
              <p:cNvSpPr/>
              <p:nvPr/>
            </p:nvSpPr>
            <p:spPr>
              <a:xfrm>
                <a:off x="2553" y="3360"/>
                <a:ext cx="1475" cy="3175"/>
              </a:xfrm>
              <a:prstGeom prst="rect">
                <a:avLst/>
              </a:prstGeom>
              <a:solidFill>
                <a:srgbClr val="FFCC00">
                  <a:alpha val="20000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方正舒体" panose="02010601030101010101" pitchFamily="2" charset="-122"/>
                </a:endParaRPr>
              </a:p>
            </p:txBody>
          </p:sp>
          <p:sp>
            <p:nvSpPr>
              <p:cNvPr id="527437" name="Rectangle 77"/>
              <p:cNvSpPr/>
              <p:nvPr/>
            </p:nvSpPr>
            <p:spPr>
              <a:xfrm>
                <a:off x="4059" y="4380"/>
                <a:ext cx="1806" cy="2040"/>
              </a:xfrm>
              <a:prstGeom prst="rect">
                <a:avLst/>
              </a:prstGeom>
              <a:solidFill>
                <a:srgbClr val="FF99CC">
                  <a:alpha val="16078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方正舒体" panose="02010601030101010101" pitchFamily="2" charset="-122"/>
                </a:endParaRPr>
              </a:p>
            </p:txBody>
          </p:sp>
          <p:sp>
            <p:nvSpPr>
              <p:cNvPr id="527438" name="Rectangle 78"/>
              <p:cNvSpPr/>
              <p:nvPr/>
            </p:nvSpPr>
            <p:spPr>
              <a:xfrm>
                <a:off x="1529" y="6874"/>
                <a:ext cx="5218" cy="907"/>
              </a:xfrm>
              <a:prstGeom prst="rect">
                <a:avLst/>
              </a:prstGeom>
              <a:solidFill>
                <a:srgbClr val="99FF33">
                  <a:alpha val="30980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方正舒体" panose="02010601030101010101" pitchFamily="2" charset="-122"/>
                </a:endParaRPr>
              </a:p>
            </p:txBody>
          </p:sp>
        </p:grpSp>
      </p:grpSp>
      <p:sp>
        <p:nvSpPr>
          <p:cNvPr id="14" name="文本框 13"/>
          <p:cNvSpPr txBox="1"/>
          <p:nvPr/>
        </p:nvSpPr>
        <p:spPr>
          <a:xfrm>
            <a:off x="4499610" y="1772285"/>
            <a:ext cx="4572000" cy="8661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2400" b="1" kern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sz="2400" b="1" kern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接成施密特触发电路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将</a:t>
            </a:r>
            <a:r>
              <a:rPr lang="en-US" altLang="zh-CN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I1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I2</a:t>
            </a:r>
            <a:r>
              <a:rPr lang="zh-CN" altLang="en-US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接在一起作为输入端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499610" y="2879725"/>
            <a:ext cx="403352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2400" b="1" kern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接成单稳态电路</a:t>
            </a:r>
          </a:p>
          <a:p>
            <a:pPr marR="0" lvl="0" indent="-342900" algn="l" defTabSz="914400" rtl="0" ea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以</a:t>
            </a:r>
            <a:r>
              <a:rPr lang="en-US" altLang="zh-CN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I2</a:t>
            </a:r>
            <a:r>
              <a:rPr lang="zh-CN" altLang="en-US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作为触发信号</a:t>
            </a:r>
            <a:r>
              <a:rPr lang="en-US" altLang="zh-CN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</a:t>
            </a:r>
            <a:r>
              <a:rPr lang="zh-CN" altLang="en-US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输入端，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将</a:t>
            </a:r>
            <a:r>
              <a:rPr lang="en-US" altLang="zh-CN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OD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接至</a:t>
            </a:r>
            <a:r>
              <a:rPr lang="en-US" altLang="zh-CN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I1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，然后在</a:t>
            </a:r>
            <a:r>
              <a:rPr lang="en-US" altLang="zh-CN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I1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对地接入</a:t>
            </a:r>
            <a:r>
              <a:rPr lang="en-US" altLang="zh-CN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RC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电路。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499610" y="4529455"/>
            <a:ext cx="403352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2400" b="1" kern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接成多谐振荡电路</a:t>
            </a:r>
          </a:p>
          <a:p>
            <a:pPr marR="0" lvl="0" indent="-342900" algn="l" defTabSz="914400" rtl="0" ea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先将</a:t>
            </a:r>
            <a:r>
              <a:rPr lang="en-US" altLang="zh-CN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I1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I2</a:t>
            </a:r>
            <a:r>
              <a:rPr lang="zh-CN" altLang="en-US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接在一起作为输入端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接成施密特触发电路，然后</a:t>
            </a:r>
            <a:r>
              <a:rPr lang="en-US" altLang="zh-CN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OD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经</a:t>
            </a:r>
            <a:r>
              <a:rPr lang="en-US" altLang="zh-CN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RC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积分电路接回输入端。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R="0" lvl="0" indent="-342900" algn="l" defTabSz="914400" rtl="0" ea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第七章：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555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定时器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39750" y="1052830"/>
            <a:ext cx="755967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lvl="0" indent="-342900" algn="l" defTabSz="914400" rtl="0" ea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电路结构：由电压比较器（</a:t>
            </a:r>
            <a:r>
              <a:rPr lang="en-US" altLang="zh-CN" sz="22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</a:t>
            </a:r>
            <a:r>
              <a:rPr lang="en-US" altLang="zh-CN" sz="22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,C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2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）、锁存器、</a:t>
            </a:r>
            <a:r>
              <a:rPr lang="en-US" altLang="zh-CN" sz="22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OC</a:t>
            </a:r>
            <a:r>
              <a:rPr lang="zh-CN" altLang="en-US" sz="22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输出的三极管（</a:t>
            </a:r>
            <a:r>
              <a:rPr lang="en-US" altLang="zh-CN" sz="22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200" b="1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）组成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395605" y="2308860"/>
            <a:ext cx="3935730" cy="3027680"/>
            <a:chOff x="396" y="2792"/>
            <a:chExt cx="7514" cy="5780"/>
          </a:xfrm>
        </p:grpSpPr>
        <p:pic>
          <p:nvPicPr>
            <p:cNvPr id="77825" name="Picture 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96" y="2792"/>
              <a:ext cx="7515" cy="57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6" name="组合 5"/>
            <p:cNvGrpSpPr/>
            <p:nvPr/>
          </p:nvGrpSpPr>
          <p:grpSpPr>
            <a:xfrm>
              <a:off x="1529" y="2906"/>
              <a:ext cx="5218" cy="4874"/>
              <a:chOff x="1529" y="2906"/>
              <a:chExt cx="5218" cy="4874"/>
            </a:xfrm>
          </p:grpSpPr>
          <p:sp>
            <p:nvSpPr>
              <p:cNvPr id="527435" name="Rectangle 75"/>
              <p:cNvSpPr/>
              <p:nvPr/>
            </p:nvSpPr>
            <p:spPr>
              <a:xfrm>
                <a:off x="1985" y="2906"/>
                <a:ext cx="568" cy="4083"/>
              </a:xfrm>
              <a:prstGeom prst="rect">
                <a:avLst/>
              </a:prstGeom>
              <a:solidFill>
                <a:srgbClr val="99CCFF">
                  <a:alpha val="12941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方正舒体" panose="02010601030101010101" pitchFamily="2" charset="-122"/>
                </a:endParaRPr>
              </a:p>
            </p:txBody>
          </p:sp>
          <p:sp>
            <p:nvSpPr>
              <p:cNvPr id="527436" name="Rectangle 76"/>
              <p:cNvSpPr/>
              <p:nvPr/>
            </p:nvSpPr>
            <p:spPr>
              <a:xfrm>
                <a:off x="2553" y="3360"/>
                <a:ext cx="1475" cy="3175"/>
              </a:xfrm>
              <a:prstGeom prst="rect">
                <a:avLst/>
              </a:prstGeom>
              <a:solidFill>
                <a:srgbClr val="FFCC00">
                  <a:alpha val="20000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方正舒体" panose="02010601030101010101" pitchFamily="2" charset="-122"/>
                </a:endParaRPr>
              </a:p>
            </p:txBody>
          </p:sp>
          <p:sp>
            <p:nvSpPr>
              <p:cNvPr id="527437" name="Rectangle 77"/>
              <p:cNvSpPr/>
              <p:nvPr/>
            </p:nvSpPr>
            <p:spPr>
              <a:xfrm>
                <a:off x="4059" y="4380"/>
                <a:ext cx="1806" cy="2040"/>
              </a:xfrm>
              <a:prstGeom prst="rect">
                <a:avLst/>
              </a:prstGeom>
              <a:solidFill>
                <a:srgbClr val="FF99CC">
                  <a:alpha val="16078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方正舒体" panose="02010601030101010101" pitchFamily="2" charset="-122"/>
                </a:endParaRPr>
              </a:p>
            </p:txBody>
          </p:sp>
          <p:sp>
            <p:nvSpPr>
              <p:cNvPr id="527438" name="Rectangle 78"/>
              <p:cNvSpPr/>
              <p:nvPr/>
            </p:nvSpPr>
            <p:spPr>
              <a:xfrm>
                <a:off x="1529" y="6874"/>
                <a:ext cx="5218" cy="907"/>
              </a:xfrm>
              <a:prstGeom prst="rect">
                <a:avLst/>
              </a:prstGeom>
              <a:solidFill>
                <a:srgbClr val="99FF33">
                  <a:alpha val="30980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400" b="1">
                    <a:solidFill>
                      <a:srgbClr val="000000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方正舒体" panose="02010601030101010101" pitchFamily="2" charset="-122"/>
                </a:endParaRPr>
              </a:p>
            </p:txBody>
          </p:sp>
        </p:grpSp>
      </p:grpSp>
      <p:sp>
        <p:nvSpPr>
          <p:cNvPr id="14" name="文本框 13"/>
          <p:cNvSpPr txBox="1"/>
          <p:nvPr/>
        </p:nvSpPr>
        <p:spPr>
          <a:xfrm>
            <a:off x="4499610" y="1772285"/>
            <a:ext cx="4572000" cy="8661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2400" b="1" kern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sz="2400" b="1" kern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接成施密特触发电路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将</a:t>
            </a:r>
            <a:r>
              <a:rPr lang="en-US" altLang="zh-CN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I1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I2</a:t>
            </a:r>
            <a:r>
              <a:rPr lang="zh-CN" altLang="en-US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接在一起作为输入端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499610" y="2879725"/>
            <a:ext cx="403352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2400" b="1" kern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接成单稳态</a:t>
            </a:r>
            <a:r>
              <a:rPr lang="zh-CN" altLang="en-US" sz="2400" kern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电路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lvl="0" indent="-342900" algn="l" defTabSz="914400" rtl="0" ea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以</a:t>
            </a:r>
            <a:r>
              <a:rPr lang="en-US" altLang="zh-CN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I2</a:t>
            </a:r>
            <a:r>
              <a:rPr lang="zh-CN" altLang="en-US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作为触发信号</a:t>
            </a:r>
            <a:r>
              <a:rPr lang="en-US" altLang="zh-CN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</a:t>
            </a:r>
            <a:r>
              <a:rPr lang="zh-CN" altLang="en-US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输入端，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将</a:t>
            </a:r>
            <a:r>
              <a:rPr lang="en-US" altLang="zh-CN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OD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接至</a:t>
            </a:r>
            <a:r>
              <a:rPr lang="en-US" altLang="zh-CN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I1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，然后在</a:t>
            </a:r>
            <a:r>
              <a:rPr lang="en-US" altLang="zh-CN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I1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对地接入</a:t>
            </a:r>
            <a:r>
              <a:rPr lang="en-US" altLang="zh-CN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RC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电路。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499610" y="4529455"/>
            <a:ext cx="403352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2400" b="1" kern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接成多谐振荡电路</a:t>
            </a:r>
          </a:p>
          <a:p>
            <a:pPr marR="0" lvl="0" indent="-342900" algn="l" defTabSz="914400" rtl="0" ea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先将</a:t>
            </a:r>
            <a:r>
              <a:rPr lang="en-US" altLang="zh-CN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I1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I2</a:t>
            </a:r>
            <a:r>
              <a:rPr lang="zh-CN" altLang="en-US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接在一起作为输入端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接成施密特触发电路，然后</a:t>
            </a:r>
            <a:r>
              <a:rPr lang="en-US" altLang="zh-CN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2200" b="1" kern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OD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经</a:t>
            </a:r>
            <a:r>
              <a:rPr lang="en-US" altLang="zh-CN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RC</a:t>
            </a:r>
            <a:r>
              <a:rPr lang="zh-CN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积分电路接回输入端。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R="0" lvl="0" indent="-342900" algn="l" defTabSz="914400" rtl="0" ea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第七章：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555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定时器</a:t>
            </a:r>
          </a:p>
        </p:txBody>
      </p:sp>
      <p:pic>
        <p:nvPicPr>
          <p:cNvPr id="3" name="Picture 62">
            <a:extLst>
              <a:ext uri="{FF2B5EF4-FFF2-40B4-BE49-F238E27FC236}">
                <a16:creationId xmlns:a16="http://schemas.microsoft.com/office/drawing/2014/main" id="{1AFD46BA-E4A8-B44B-E4FA-609A88D35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2915" y="2205355"/>
            <a:ext cx="4036695" cy="3114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0">
            <a:extLst>
              <a:ext uri="{FF2B5EF4-FFF2-40B4-BE49-F238E27FC236}">
                <a16:creationId xmlns:a16="http://schemas.microsoft.com/office/drawing/2014/main" id="{DDA55851-49D8-C929-5680-299530E7B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2435" y="2258996"/>
            <a:ext cx="4033520" cy="3006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5">
            <a:extLst>
              <a:ext uri="{FF2B5EF4-FFF2-40B4-BE49-F238E27FC236}">
                <a16:creationId xmlns:a16="http://schemas.microsoft.com/office/drawing/2014/main" id="{E5CE5061-86A0-BF58-2739-B2581834E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95605" y="2323580"/>
            <a:ext cx="4130207" cy="287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第八章：</a:t>
            </a:r>
            <a:r>
              <a:rPr lang="zh-CN" altLang="en-US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数</a:t>
            </a:r>
            <a:r>
              <a:rPr lang="en-US" altLang="zh-CN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-</a:t>
            </a:r>
            <a:r>
              <a:rPr lang="zh-CN" altLang="en-US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模和模</a:t>
            </a:r>
            <a:r>
              <a:rPr lang="en-US" altLang="zh-CN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-</a:t>
            </a:r>
            <a:r>
              <a:rPr lang="zh-CN" altLang="en-US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数转换</a:t>
            </a: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539115" y="1196975"/>
            <a:ext cx="7820660" cy="539623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anose="02020603050405020304" charset="0"/>
                <a:ea typeface="楷体_GB2312" charset="0"/>
                <a:cs typeface="楷体_GB2312" charset="0"/>
              </a:defRPr>
            </a:lvl9pPr>
          </a:lstStyle>
          <a:p>
            <a:pPr algn="just"/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本章讲授了数</a:t>
            </a: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--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模转换（</a:t>
            </a: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D/A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，二</a:t>
            </a: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--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十进制）和模</a:t>
            </a: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--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数转换（</a:t>
            </a: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A/D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，十</a:t>
            </a: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--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二进制）的典型电路，转换精度与转换速度等问题，重点掌握：</a:t>
            </a: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1. D/A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转换器和</a:t>
            </a:r>
            <a:r>
              <a:rPr kumimoji="0" lang="en-US" altLang="zh-CN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A/D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转换器电路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algn="just"/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kumimoji="0" lang="zh-CN" altLang="en-US" sz="2400" kern="0" dirty="0"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kumimoji="0" lang="zh-CN" altLang="en-US" sz="2400" kern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kumimoji="0" lang="zh-CN" altLang="en-US" sz="2400" kern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kumimoji="0" lang="en-US" altLang="zh-CN" sz="2400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2. </a:t>
            </a:r>
            <a:r>
              <a:rPr kumimoji="0" lang="zh-CN" altLang="en-US" sz="2400" kern="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转换精度与转换速度</a:t>
            </a:r>
            <a:endParaRPr kumimoji="0" lang="zh-CN" altLang="en-US" sz="2400" kern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610870" y="2965450"/>
          <a:ext cx="7428230" cy="2279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10000" imgH="1168400" progId="Equation.3">
                  <p:embed/>
                </p:oleObj>
              </mc:Choice>
              <mc:Fallback>
                <p:oleObj r:id="rId2" imgW="3810000" imgH="11684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0870" y="2965450"/>
                        <a:ext cx="7428230" cy="2279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402080" y="1052830"/>
            <a:ext cx="6528435" cy="856615"/>
            <a:chOff x="1189" y="8488"/>
            <a:chExt cx="10281" cy="1349"/>
          </a:xfrm>
        </p:grpSpPr>
        <p:grpSp>
          <p:nvGrpSpPr>
            <p:cNvPr id="7" name="组合 6"/>
            <p:cNvGrpSpPr/>
            <p:nvPr/>
          </p:nvGrpSpPr>
          <p:grpSpPr>
            <a:xfrm>
              <a:off x="1189" y="8488"/>
              <a:ext cx="10281" cy="776"/>
              <a:chOff x="1189" y="8488"/>
              <a:chExt cx="10281" cy="776"/>
            </a:xfrm>
          </p:grpSpPr>
          <p:graphicFrame>
            <p:nvGraphicFramePr>
              <p:cNvPr id="9227" name="Object 11"/>
              <p:cNvGraphicFramePr>
                <a:graphicFrameLocks noChangeAspect="1"/>
              </p:cNvGraphicFramePr>
              <p:nvPr/>
            </p:nvGraphicFramePr>
            <p:xfrm>
              <a:off x="8108" y="8488"/>
              <a:ext cx="3363" cy="7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" imgW="799465" imgH="203200" progId="Equation.3">
                      <p:embed/>
                    </p:oleObj>
                  </mc:Choice>
                  <mc:Fallback>
                    <p:oleObj r:id="rId2" imgW="799465" imgH="203200" progId="Equation.3">
                      <p:embed/>
                      <p:pic>
                        <p:nvPicPr>
                          <p:cNvPr id="0" name="图片 3081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8108" y="8488"/>
                            <a:ext cx="3363" cy="765"/>
                          </a:xfrm>
                          <a:prstGeom prst="rect">
                            <a:avLst/>
                          </a:prstGeom>
                          <a:solidFill>
                            <a:srgbClr val="FFFF66">
                              <a:alpha val="30196"/>
                            </a:srgbClr>
                          </a:solidFill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26" name="Object 10"/>
              <p:cNvGraphicFramePr>
                <a:graphicFrameLocks noChangeAspect="1"/>
              </p:cNvGraphicFramePr>
              <p:nvPr/>
            </p:nvGraphicFramePr>
            <p:xfrm>
              <a:off x="4748" y="8504"/>
              <a:ext cx="2680" cy="7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" imgW="660400" imgH="203200" progId="Equation.3">
                      <p:embed/>
                    </p:oleObj>
                  </mc:Choice>
                  <mc:Fallback>
                    <p:oleObj r:id="rId4" imgW="660400" imgH="203200" progId="Equation.3">
                      <p:embed/>
                      <p:pic>
                        <p:nvPicPr>
                          <p:cNvPr id="0" name="图片 3080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4748" y="8504"/>
                            <a:ext cx="2680" cy="735"/>
                          </a:xfrm>
                          <a:prstGeom prst="rect">
                            <a:avLst/>
                          </a:prstGeom>
                          <a:solidFill>
                            <a:srgbClr val="FF99CC">
                              <a:alpha val="20000"/>
                            </a:srgbClr>
                          </a:solidFill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25" name="Object 9"/>
              <p:cNvGraphicFramePr>
                <a:graphicFrameLocks noChangeAspect="1"/>
              </p:cNvGraphicFramePr>
              <p:nvPr/>
            </p:nvGraphicFramePr>
            <p:xfrm>
              <a:off x="1189" y="8488"/>
              <a:ext cx="2711" cy="7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634365" imgH="203200" progId="Equation.3">
                      <p:embed/>
                    </p:oleObj>
                  </mc:Choice>
                  <mc:Fallback>
                    <p:oleObj r:id="rId6" imgW="634365" imgH="203200" progId="Equation.3">
                      <p:embed/>
                      <p:pic>
                        <p:nvPicPr>
                          <p:cNvPr id="0" name="图片 3077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1189" y="8488"/>
                            <a:ext cx="2711" cy="776"/>
                          </a:xfrm>
                          <a:prstGeom prst="rect">
                            <a:avLst/>
                          </a:prstGeom>
                          <a:solidFill>
                            <a:srgbClr val="99CCFF">
                              <a:alpha val="29019"/>
                            </a:srgbClr>
                          </a:solidFill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加号 7"/>
              <p:cNvSpPr/>
              <p:nvPr/>
            </p:nvSpPr>
            <p:spPr>
              <a:xfrm>
                <a:off x="4040" y="8576"/>
                <a:ext cx="567" cy="567"/>
              </a:xfrm>
              <a:prstGeom prst="mathPlus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加号 8"/>
              <p:cNvSpPr/>
              <p:nvPr/>
            </p:nvSpPr>
            <p:spPr>
              <a:xfrm>
                <a:off x="7428" y="8576"/>
                <a:ext cx="567" cy="567"/>
              </a:xfrm>
              <a:prstGeom prst="mathPlus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1190" y="9257"/>
              <a:ext cx="296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电流或分压的权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158" y="9254"/>
              <a:ext cx="22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>
                  <a:solidFill>
                    <a:srgbClr val="FF66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控制取</a:t>
              </a:r>
              <a:r>
                <a:rPr lang="en-US" altLang="zh-CN" sz="1800">
                  <a:solidFill>
                    <a:srgbClr val="FF66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0/1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254" y="9254"/>
              <a:ext cx="178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>
                  <a:solidFill>
                    <a:srgbClr val="FFC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求和</a:t>
              </a:r>
            </a:p>
          </p:txBody>
        </p:sp>
      </p:grpSp>
      <p:pic>
        <p:nvPicPr>
          <p:cNvPr id="9220" name="Picture 21" descr="11-2-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83260" y="2348865"/>
            <a:ext cx="3275330" cy="2353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文本框 13"/>
          <p:cNvSpPr txBox="1"/>
          <p:nvPr/>
        </p:nvSpPr>
        <p:spPr>
          <a:xfrm>
            <a:off x="1449070" y="1988820"/>
            <a:ext cx="665734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权电阻网络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D</a:t>
            </a:r>
            <a:r>
              <a:rPr 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AC                           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倒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形电阻网络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DAC</a:t>
            </a:r>
          </a:p>
        </p:txBody>
      </p:sp>
      <p:pic>
        <p:nvPicPr>
          <p:cNvPr id="12289" name="Picture 20" descr="11-2-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427220" y="2348865"/>
            <a:ext cx="3593465" cy="2302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0610" name="Rectangle 2"/>
          <p:cNvSpPr>
            <a:spLocks noGrp="1" noChangeArrowheads="1"/>
          </p:cNvSpPr>
          <p:nvPr/>
        </p:nvSpPr>
        <p:spPr>
          <a:xfrm>
            <a:off x="1548130" y="6147118"/>
            <a:ext cx="8229600" cy="8842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1990" y="4797425"/>
            <a:ext cx="609473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Tx/>
              <a:buNone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转换精度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buFontTx/>
            </a:pPr>
            <a:r>
              <a:rPr lang="zh-CN" altLang="en-US" sz="2000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分辨率（理论精度）</a:t>
            </a:r>
            <a:r>
              <a:rPr lang="zh-CN" altLang="en-US" sz="2000" noProof="0" dirty="0">
                <a:ln>
                  <a:noFill/>
                </a:ln>
                <a:solidFill>
                  <a:srgbClr val="FFC000"/>
                </a:solidFill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＝</a:t>
            </a:r>
            <a:r>
              <a:rPr lang="en-US" altLang="zh-CN" sz="2000" noProof="0" dirty="0">
                <a:ln>
                  <a:noFill/>
                </a:ln>
                <a:solidFill>
                  <a:srgbClr val="FFC000"/>
                </a:solidFill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1/(2</a:t>
            </a:r>
            <a:r>
              <a:rPr lang="en-US" altLang="zh-CN" sz="2000" baseline="30000" noProof="0" dirty="0">
                <a:ln>
                  <a:noFill/>
                </a:ln>
                <a:solidFill>
                  <a:srgbClr val="FFC000"/>
                </a:solidFill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</a:t>
            </a:r>
            <a:r>
              <a:rPr lang="zh-CN" altLang="en-US" sz="2000" noProof="0" dirty="0">
                <a:ln>
                  <a:noFill/>
                </a:ln>
                <a:solidFill>
                  <a:srgbClr val="FFC000"/>
                </a:solidFill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－</a:t>
            </a:r>
            <a:r>
              <a:rPr lang="en-US" altLang="zh-CN" sz="2000" noProof="0" dirty="0">
                <a:ln>
                  <a:noFill/>
                </a:ln>
                <a:solidFill>
                  <a:srgbClr val="FFC000"/>
                </a:solidFill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1)</a:t>
            </a:r>
            <a:endParaRPr lang="en-US" altLang="zh-CN" sz="2000" dirty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457200" indent="-457200"/>
            <a:r>
              <a:rPr lang="zh-CN" altLang="en-US" sz="2000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转换误差（实际精度）：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最低有效位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的倍数，如</a:t>
            </a:r>
          </a:p>
        </p:txBody>
      </p:sp>
      <p:graphicFrame>
        <p:nvGraphicFramePr>
          <p:cNvPr id="15367" name="Object 9"/>
          <p:cNvGraphicFramePr>
            <a:graphicFrameLocks noChangeAspect="1"/>
          </p:cNvGraphicFramePr>
          <p:nvPr/>
        </p:nvGraphicFramePr>
        <p:xfrm>
          <a:off x="6154103" y="5301298"/>
          <a:ext cx="649287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57200" imgH="406400" progId="Equation.3">
                  <p:embed/>
                </p:oleObj>
              </mc:Choice>
              <mc:Fallback>
                <p:oleObj r:id="rId10" imgW="457200" imgH="4064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>
                      <a:xfrm>
                        <a:off x="6154103" y="5301298"/>
                        <a:ext cx="649287" cy="5778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681990" y="5981700"/>
            <a:ext cx="457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转换速度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lang="zh-CN" altLang="en-US" sz="2000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通常用</a:t>
            </a:r>
            <a:r>
              <a:rPr lang="zh-CN" altLang="en-US" sz="2000" kern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建立时间</a:t>
            </a:r>
            <a:r>
              <a:rPr lang="zh-CN" altLang="en-US" sz="2000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来表示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第八章：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D/A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转换器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/>
          <p:cNvSpPr>
            <a:spLocks noGrp="1" noChangeArrowheads="1"/>
          </p:cNvSpPr>
          <p:nvPr/>
        </p:nvSpPr>
        <p:spPr>
          <a:xfrm>
            <a:off x="1548130" y="6147118"/>
            <a:ext cx="8229600" cy="8842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95605" y="4438015"/>
            <a:ext cx="609473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Tx/>
              <a:buNone/>
            </a:pP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转换精度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buFontTx/>
            </a:pPr>
            <a:r>
              <a:rPr lang="zh-CN" altLang="en-US" sz="2000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分辨率（理论精度）</a:t>
            </a:r>
            <a:r>
              <a:rPr lang="zh-CN" altLang="en-US" sz="2000" noProof="0" dirty="0">
                <a:ln>
                  <a:noFill/>
                </a:ln>
                <a:solidFill>
                  <a:srgbClr val="FFC000"/>
                </a:solidFill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＝</a:t>
            </a:r>
            <a:r>
              <a:rPr lang="en-US" altLang="zh-CN" sz="2000" noProof="0" dirty="0">
                <a:ln>
                  <a:noFill/>
                </a:ln>
                <a:solidFill>
                  <a:srgbClr val="FFC000"/>
                </a:solidFill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1/2</a:t>
            </a:r>
            <a:r>
              <a:rPr lang="en-US" altLang="zh-CN" sz="2000" baseline="30000" noProof="0" dirty="0">
                <a:ln>
                  <a:noFill/>
                </a:ln>
                <a:solidFill>
                  <a:srgbClr val="FFC000"/>
                </a:solidFill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</a:t>
            </a:r>
            <a:endParaRPr lang="en-US" altLang="zh-CN" sz="2000" dirty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457200" indent="-457200"/>
            <a:r>
              <a:rPr lang="zh-CN" altLang="en-US" sz="2000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转换误差（实际精度）：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最低有效位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的倍数，如</a:t>
            </a:r>
          </a:p>
        </p:txBody>
      </p:sp>
      <p:graphicFrame>
        <p:nvGraphicFramePr>
          <p:cNvPr id="15367" name="Object 9"/>
          <p:cNvGraphicFramePr>
            <a:graphicFrameLocks noChangeAspect="1"/>
          </p:cNvGraphicFramePr>
          <p:nvPr/>
        </p:nvGraphicFramePr>
        <p:xfrm>
          <a:off x="5867718" y="5013643"/>
          <a:ext cx="649287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57200" imgH="406400" progId="Equation.3">
                  <p:embed/>
                </p:oleObj>
              </mc:Choice>
              <mc:Fallback>
                <p:oleObj r:id="rId2" imgW="457200" imgH="4064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5867718" y="5013643"/>
                        <a:ext cx="649287" cy="5778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395605" y="5588000"/>
            <a:ext cx="4572000" cy="762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转换速度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lang="zh-CN" altLang="en-US" sz="2000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用</a:t>
            </a:r>
            <a:r>
              <a:rPr lang="zh-CN" altLang="en-US" sz="2000" kern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转换时间</a:t>
            </a:r>
            <a:r>
              <a:rPr lang="zh-CN" altLang="en-US" sz="2000" kern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来表示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95605" y="998220"/>
            <a:ext cx="72656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spcBef>
                <a:spcPct val="20000"/>
              </a:spcBef>
            </a:pP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A/D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转换过程：取样、保持、量化、编码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23850" y="1413510"/>
            <a:ext cx="7901940" cy="3045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sym typeface="+mn-ea"/>
              </a:rPr>
              <a:t>按工作原理可分为：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mic Sans MS" panose="030F0702030302020204" pitchFamily="66" charset="0"/>
              <a:ea typeface="楷体_GB2312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240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sym typeface="+mn-ea"/>
              </a:rPr>
              <a:t>直接型：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sym typeface="+mn-ea"/>
              </a:rPr>
              <a:t>将模拟电压量直接转换成输出的数字代码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      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并联比较型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A/D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转换器：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</a:t>
            </a:r>
            <a:r>
              <a:rPr lang="en-US" altLang="zh-CN" sz="2400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-1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个比较器，速度最快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      </a:t>
            </a:r>
            <a:r>
              <a:rPr lang="zh-CN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逐次逼近型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A/D</a:t>
            </a:r>
            <a:r>
              <a:rPr lang="zh-CN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转换器：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个比较器，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n+2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个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CLK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defRPr/>
            </a:pPr>
            <a:r>
              <a:rPr lang="zh-CN" altLang="en-US" sz="240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sym typeface="+mn-ea"/>
              </a:rPr>
              <a:t>间接型：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sym typeface="+mn-ea"/>
              </a:rPr>
              <a:t>将模拟电压量转换成一个中间量（如时间或频率），然后再将中间量转换成数字代码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    </a:t>
            </a:r>
            <a:r>
              <a:rPr lang="en-US" altLang="zh-CN" sz="2400" dirty="0">
                <a:solidFill>
                  <a:srgbClr val="00B0F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 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双积分型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A/D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转换器（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V-T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变换型）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484120" y="5565140"/>
            <a:ext cx="53968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	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并联比较型：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10~100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纳秒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（最快）</a:t>
            </a:r>
            <a:endParaRPr lang="en-US" altLang="zh-CN" sz="20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457200" indent="-457200"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	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逐次渐近型：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~1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微秒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/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次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（较快、最广泛）</a:t>
            </a:r>
            <a:endParaRPr lang="en-US" altLang="zh-CN" sz="20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457200" indent="-457200"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	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双积分型：几十毫秒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/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次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（最慢）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476885"/>
            <a:ext cx="73488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第八章：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A/D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+mn-ea"/>
              </a:rPr>
              <a:t>转换器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60*211"/>
  <p:tag name="TABLE_ENDDRAG_RECT" val="479*241*260*2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*147"/>
  <p:tag name="TABLE_ENDDRAG_RECT" val="167*324*44*14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05*202"/>
  <p:tag name="TABLE_ENDDRAG_RECT" val="305*291*305*20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25.45,&quot;top&quot;:48.85,&quot;width&quot;:545.7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25.45,&quot;top&quot;:48.85,&quot;width&quot;:545.7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25.45,&quot;top&quot;:48.85,&quot;width&quot;:545.7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25.45,&quot;top&quot;:48.85,&quot;width&quot;:545.7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25.45,&quot;top&quot;:48.85,&quot;width&quot;:545.7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2.8,&quot;top&quot;:95.6,&quot;width&quot;:721.3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2.8,&quot;top&quot;:95.6,&quot;width&quot;:721.3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2.8,&quot;top&quot;:95.6,&quot;width&quot;:721.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2.8,&quot;top&quot;:95.6,&quot;width&quot;:721.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2.8,&quot;top&quot;:95.6,&quot;width&quot;:721.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2.8,&quot;top&quot;:95.6,&quot;width&quot;:721.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2.8,&quot;top&quot;:95.6,&quot;width&quot;:721.3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2.8,&quot;top&quot;:95.6,&quot;width&quot;:721.3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2.8,&quot;top&quot;:95.6,&quot;width&quot;:721.3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2.8,&quot;top&quot;:95.6,&quot;width&quot;:721.3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2.8,&quot;top&quot;:95.6,&quot;width&quot;:721.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2.8,&quot;top&quot;:95.6,&quot;width&quot;:721.3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0,&quot;top&quot;:95.6,&quot;width&quot;:724.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0,&quot;top&quot;:95.6,&quot;width&quot;:724.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0,&quot;top&quot;:95.6,&quot;width&quot;:724.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0,&quot;top&quot;:95.6,&quot;width&quot;:724.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0,&quot;top&quot;:95.6,&quot;width&quot;:724.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0,&quot;top&quot;:95.6,&quot;width&quot;:724.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0,&quot;top&quot;:95.6,&quot;width&quot;:724.1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0,&quot;top&quot;:95.6,&quot;width&quot;:724.1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2.8,&quot;top&quot;:95.6,&quot;width&quot;:721.3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2.8,&quot;top&quot;:95.6,&quot;width&quot;:721.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0,&quot;top&quot;:95.6,&quot;width&quot;:724.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15,&quot;left&quot;:0,&quot;top&quot;:95.6,&quot;width&quot;:724.1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2*138"/>
  <p:tag name="TABLE_ENDDRAG_RECT" val="14*72*682*13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15,&quot;left&quot;:-7.5,&quot;top&quot;:224.65,&quot;width&quot;:723.5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2*138"/>
  <p:tag name="TABLE_ENDDRAG_RECT" val="14*72*682*13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9.7,&quot;left&quot;:25.45,&quot;top&quot;:70.45,&quot;width&quot;:664.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9.7,&quot;left&quot;:25.45,&quot;top&quot;:70.45,&quot;width&quot;:664.5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9.7,&quot;left&quot;:25.45,&quot;top&quot;:70.45,&quot;width&quot;:664.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9.7,&quot;left&quot;:25.45,&quot;top&quot;:70.45,&quot;width&quot;:664.5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9.7,&quot;left&quot;:25.45,&quot;top&quot;:70.45,&quot;width&quot;:664.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9.7,&quot;left&quot;:25.45,&quot;top&quot;:70.45,&quot;width&quot;:664.5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9.7,&quot;left&quot;:25.45,&quot;top&quot;:70.45,&quot;width&quot;:664.5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9.7,&quot;left&quot;:25.45,&quot;top&quot;:70.45,&quot;width&quot;:664.5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5,&quot;left&quot;:36.8,&quot;top&quot;:94.25,&quot;width&quot;:634.1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5,&quot;left&quot;:36.8,&quot;top&quot;:94.25,&quot;width&quot;:634.1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5,&quot;left&quot;:36.8,&quot;top&quot;:94.25,&quot;width&quot;:634.1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5,&quot;left&quot;:36.8,&quot;top&quot;:94.25,&quot;width&quot;:634.1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5.5,&quot;left&quot;:36.8,&quot;top&quot;:94.25,&quot;width&quot;:634.1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9.7,&quot;left&quot;:25.45,&quot;top&quot;:70.45,&quot;width&quot;:664.5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9.7,&quot;left&quot;:25.45,&quot;top&quot;:70.45,&quot;width&quot;:664.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4,&quot;left&quot;:14.075039370078775,&quot;top&quot;:71.55,&quot;width&quot;:669.6749606299212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4.05,&quot;left&quot;:14.075039370078741,&quot;top&quot;:71.55,&quot;width&quot;:669.6749606299212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4.05,&quot;left&quot;:14.075039370078741,&quot;top&quot;:71.55,&quot;width&quot;:669.6749606299212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4.05,&quot;left&quot;:14.075039370078741,&quot;top&quot;:71.55,&quot;width&quot;:669.6749606299212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4.05,&quot;left&quot;:14.075039370078741,&quot;top&quot;:71.55,&quot;width&quot;:669.6749606299212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4.05,&quot;left&quot;:14.075039370078741,&quot;top&quot;:71.55,&quot;width&quot;:669.6749606299212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4.05,&quot;left&quot;:14.075039370078741,&quot;top&quot;:71.55,&quot;width&quot;:669.6749606299212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4,&quot;left&quot;:14.075039370078775,&quot;top&quot;:71.55,&quot;width&quot;:669.6749606299212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4,&quot;left&quot;:14.075039370078741,&quot;top&quot;:71.55,&quot;width&quot;:669.6749606299212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4,&quot;left&quot;:14.075039370078741,&quot;top&quot;:71.55,&quot;width&quot;:669.6749606299212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4,&quot;left&quot;:14.075039370078741,&quot;top&quot;:71.55,&quot;width&quot;:669.6749606299212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5.4,&quot;left&quot;:14.075039370078741,&quot;top&quot;:71.55,&quot;width&quot;:669.6749606299212}"/>
</p:tagLst>
</file>

<file path=ppt/theme/theme1.xml><?xml version="1.0" encoding="utf-8"?>
<a:theme xmlns:a="http://schemas.openxmlformats.org/drawingml/2006/main" name="1_汇报">
  <a:themeElements>
    <a:clrScheme name="1_汇报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CCFF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000000"/>
      </a:hlink>
      <a:folHlink>
        <a:srgbClr val="AF67FF"/>
      </a:folHlink>
    </a:clrScheme>
    <a:fontScheme name="1_汇报">
      <a:majorFont>
        <a:latin typeface="Times New Roman"/>
        <a:ea typeface="楷体_GB2312"/>
        <a:cs typeface="楷体_GB2312"/>
      </a:majorFont>
      <a:minorFont>
        <a:latin typeface="Times New Roman"/>
        <a:ea typeface="楷体_GB2312"/>
        <a:cs typeface="楷体_GB2312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charset="0"/>
            <a:cs typeface="楷体_GB23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charset="0"/>
            <a:cs typeface="楷体_GB2312" charset="0"/>
          </a:defRPr>
        </a:defPPr>
      </a:lstStyle>
    </a:lnDef>
  </a:objectDefaults>
  <a:extraClrSchemeLst>
    <a:extraClrScheme>
      <a:clrScheme name="1_汇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汇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汇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汇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汇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汇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汇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汇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汇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汇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汇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汇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汇报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000000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intro</Template>
  <TotalTime>69</TotalTime>
  <Words>6148</Words>
  <Application>Microsoft Office PowerPoint</Application>
  <PresentationFormat>全屏显示(4:3)</PresentationFormat>
  <Paragraphs>766</Paragraphs>
  <Slides>86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86</vt:i4>
      </vt:variant>
    </vt:vector>
  </HeadingPairs>
  <TitlesOfParts>
    <vt:vector size="104" baseType="lpstr">
      <vt:lpstr>等线</vt:lpstr>
      <vt:lpstr>黑体</vt:lpstr>
      <vt:lpstr>华文新魏</vt:lpstr>
      <vt:lpstr>华文行楷</vt:lpstr>
      <vt:lpstr>楷体</vt:lpstr>
      <vt:lpstr>楷体_GB2312</vt:lpstr>
      <vt:lpstr>宋体</vt:lpstr>
      <vt:lpstr>微软雅黑</vt:lpstr>
      <vt:lpstr>Arial</vt:lpstr>
      <vt:lpstr>Comic Sans MS</vt:lpstr>
      <vt:lpstr>Times New Roman</vt:lpstr>
      <vt:lpstr>Wingdings</vt:lpstr>
      <vt:lpstr>1_汇报</vt:lpstr>
      <vt:lpstr>公式</vt:lpstr>
      <vt:lpstr>Equation</vt:lpstr>
      <vt:lpstr>Photo Editor 照片</vt:lpstr>
      <vt:lpstr>Photo Editor Photo</vt:lpstr>
      <vt:lpstr>Equation.3</vt:lpstr>
      <vt:lpstr>数字电子技术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原则: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tsinghua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</dc:title>
  <dc:subject>数字电子技术基础</dc:subject>
  <dc:creator>清华大学 王红</dc:creator>
  <cp:lastModifiedBy>DaZhan</cp:lastModifiedBy>
  <cp:revision>556</cp:revision>
  <dcterms:created xsi:type="dcterms:W3CDTF">2003-05-08T03:41:00Z</dcterms:created>
  <dcterms:modified xsi:type="dcterms:W3CDTF">2026-07-01T20:27:10Z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01982C5FC5D442259CAB416D1B10A226_13</vt:lpwstr>
  </property>
  <property fmtid="{D5CDD505-2E9C-101B-9397-08002B2CF9AE}" pid="3" name="KSOProductBuildVer">
    <vt:lpwstr>2052-12.1.0.22529</vt:lpwstr>
  </property>
</Properties>
</file>