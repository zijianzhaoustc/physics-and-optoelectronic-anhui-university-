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DC33F9-BD22-45F7-AFCD-6122687201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1C5B5B4-AC21-436A-BBDA-22A17616F5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25CC7B-F411-4E3E-9712-833BA6107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D6B3F-ACD6-49A7-BB14-63C1E3BA6FE5}" type="datetimeFigureOut">
              <a:rPr lang="zh-CN" altLang="en-US" smtClean="0"/>
              <a:t>2024/12/27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820C43-FE9E-4D2B-B189-0F58756F9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AE4DDC-BED8-4CB6-84CF-3E2CA80AB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82252-3009-4071-8626-700BA454C8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2479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861678-A88E-4574-9980-BB773A957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13388D-8674-411D-976A-739F3B348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3B68D6D-9698-49ED-8AF4-7C6174110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D6B3F-ACD6-49A7-BB14-63C1E3BA6FE5}" type="datetimeFigureOut">
              <a:rPr lang="zh-CN" altLang="en-US" smtClean="0"/>
              <a:t>2024/12/27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E4A15C-C2AC-4210-BB52-66AA8F6F8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A2D58E-AEB3-4C70-BDC1-7D11EA8D0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82252-3009-4071-8626-700BA454C8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309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B82E83-5939-41D3-93EB-363C7520C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0ECD569-A577-421E-9F60-B2554A8E92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12AB90-A09C-4D75-93F5-1FB8962D9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D6B3F-ACD6-49A7-BB14-63C1E3BA6FE5}" type="datetimeFigureOut">
              <a:rPr lang="zh-CN" altLang="en-US" smtClean="0"/>
              <a:t>2024/12/27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8E914F-032F-4F81-92B2-33A60363C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A8D9B8-E461-4498-899E-F7853A52F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82252-3009-4071-8626-700BA454C8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1283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B4154C-40AD-4533-90DE-FF2C8B4C4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424848-A21C-4B6E-B8C9-7E0AD7EFC5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2D18900-AEF3-4A8B-8457-23783BBA28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74BD870-74B8-471D-BD3F-C7D4CA259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D6B3F-ACD6-49A7-BB14-63C1E3BA6FE5}" type="datetimeFigureOut">
              <a:rPr lang="zh-CN" altLang="en-US" smtClean="0"/>
              <a:t>2024/12/27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4B4005B-6750-4086-975C-F8406D2B7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5FE9E34-ECEC-4509-9EC1-B13D2AE3B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82252-3009-4071-8626-700BA454C8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3384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75A6AC-DC70-49A1-9BDD-6A69D1CD4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5C08342-2ACB-4CB1-801E-A8CA0E8D5F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0DCABBA-09E9-459C-A7C9-47E40B42CA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E03A443-6410-48D5-8FF8-62E2097B88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51F0FDC-C982-4FAE-A32F-95B76B7805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FC987A1-3DD9-4951-BABE-AC2472DA1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D6B3F-ACD6-49A7-BB14-63C1E3BA6FE5}" type="datetimeFigureOut">
              <a:rPr lang="zh-CN" altLang="en-US" smtClean="0"/>
              <a:t>2024/12/27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D916629-8589-4F3F-A745-55667D01E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5CC6086-99D4-4B87-A646-5ACFBF83D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82252-3009-4071-8626-700BA454C8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2689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7630E7-8096-4F63-9868-B00A35147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A6DEA35-EB5C-4465-9F98-5A4AF133D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D6B3F-ACD6-49A7-BB14-63C1E3BA6FE5}" type="datetimeFigureOut">
              <a:rPr lang="zh-CN" altLang="en-US" smtClean="0"/>
              <a:t>2024/12/27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8D9FC36-7618-4856-AF34-39A407F90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B807568-3AE4-4283-8058-98A8DAE4D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82252-3009-4071-8626-700BA454C8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8003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E81CEC2-DCDC-4CC5-85BA-D6070CACE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D6B3F-ACD6-49A7-BB14-63C1E3BA6FE5}" type="datetimeFigureOut">
              <a:rPr lang="zh-CN" altLang="en-US" smtClean="0"/>
              <a:t>2024/12/27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EF04FD9-C315-4640-9796-8261FB7CF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28DDB77-33E4-4133-A983-8C9C34BBB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82252-3009-4071-8626-700BA454C8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2864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BDF890-91F3-4BB1-97A5-C08A45590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927951-6C3F-4A85-9F1A-9F8C2144A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AE39FEF-5132-4B8C-B7CF-6DBAD78942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6D85D29-B158-42B5-9690-C6E8EDF70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D6B3F-ACD6-49A7-BB14-63C1E3BA6FE5}" type="datetimeFigureOut">
              <a:rPr lang="zh-CN" altLang="en-US" smtClean="0"/>
              <a:t>2024/12/27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66E4790-A359-467D-9E44-1DC164440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0825DD4-2DCC-4042-9155-C4C61A5CF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82252-3009-4071-8626-700BA454C8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9183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984892-FFEC-42F1-90FF-BA92F3A4D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42C6BA4-1DEE-4216-BBE8-6DA6327128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E249FDC-B313-4443-8A8B-371D47FB5E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A28EDBE-D7AE-4257-A335-7031AFC18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D6B3F-ACD6-49A7-BB14-63C1E3BA6FE5}" type="datetimeFigureOut">
              <a:rPr lang="zh-CN" altLang="en-US" smtClean="0"/>
              <a:t>2024/12/27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C4B1515-A4E2-484F-88F8-0D78C1ADC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D9DD678-E2FC-4822-BD91-5CAD58A08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82252-3009-4071-8626-700BA454C8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1511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846878-9DBE-4852-9EB5-01036A619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E55BF20-C967-4359-98E1-C8D3418C82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307E6F-6DD4-4982-AE05-72171E10C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D6B3F-ACD6-49A7-BB14-63C1E3BA6FE5}" type="datetimeFigureOut">
              <a:rPr lang="zh-CN" altLang="en-US" smtClean="0"/>
              <a:t>2024/12/27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FBC52F-3592-44A8-82F1-1643EF957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AEB420-193D-42AC-AF16-5F3C132CE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82252-3009-4071-8626-700BA454C8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8157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FAD8E93-35FD-4A66-848C-41865E214B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020F7AF-F440-4802-89D2-021C9918AF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FEFED0-F92F-4F97-BCA1-05CB683C9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D6B3F-ACD6-49A7-BB14-63C1E3BA6FE5}" type="datetimeFigureOut">
              <a:rPr lang="zh-CN" altLang="en-US" smtClean="0"/>
              <a:t>2024/12/27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F3C2B9-F300-4A31-B63D-10EC83A9E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623309-F902-4A5C-AF45-272D840CF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382252-3009-4071-8626-700BA454C8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760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566AF24-1C4D-4CDF-99DD-ABB7C798F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5A9EDF4-E4C5-4099-B443-460FF32F8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05331B-D1E4-4BD1-80EF-BECE8EFA88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FD6B3F-ACD6-49A7-BB14-63C1E3BA6FE5}" type="datetimeFigureOut">
              <a:rPr lang="zh-CN" altLang="en-US" smtClean="0"/>
              <a:t>2024/12/27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B71D66-C7CA-4DAD-9BF2-1A829B9485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E716AA7-13A7-42A7-88A8-03DAC1E8D6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382252-3009-4071-8626-700BA454C8C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697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em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image" Target="../media/image5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55.jpg"/><Relationship Id="rId4" Type="http://schemas.openxmlformats.org/officeDocument/2006/relationships/image" Target="../media/image54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g"/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g"/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10A92257-F9D1-4DF3-957E-389F169978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zh-CN" sz="7200" kern="100" dirty="0">
                <a:effectLst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光学小结</a:t>
            </a:r>
            <a:b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</a:br>
            <a:endParaRPr lang="zh-CN" altLang="en-US" dirty="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A52E08F8-007F-48B0-A48F-0000E7AC9D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544238"/>
          </a:xfrm>
        </p:spPr>
        <p:txBody>
          <a:bodyPr/>
          <a:lstStyle/>
          <a:p>
            <a:pPr algn="l">
              <a:lnSpc>
                <a:spcPts val="2000"/>
              </a:lnSpc>
            </a:pPr>
            <a:r>
              <a:rPr lang="zh-CN" altLang="zh-CN" sz="18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注：光学这门课</a:t>
            </a:r>
            <a:r>
              <a:rPr lang="en-US" altLang="zh-CN" sz="18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21</a:t>
            </a:r>
            <a:r>
              <a:rPr lang="zh-CN" altLang="zh-CN" sz="18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级仅作为选修课开放，</a:t>
            </a:r>
            <a:r>
              <a:rPr lang="en-US" altLang="zh-CN" sz="18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22</a:t>
            </a:r>
            <a:r>
              <a:rPr lang="zh-CN" altLang="zh-CN" sz="18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级调整后成为大二的专业课，故这里仅对知识点做一个总结凝练，结合</a:t>
            </a:r>
            <a:r>
              <a:rPr lang="en-US" altLang="zh-CN" sz="18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ppt</a:t>
            </a:r>
            <a:r>
              <a:rPr lang="zh-CN" altLang="zh-CN" sz="18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和部分范围仅供参考学习，切勿当作押题。</a:t>
            </a:r>
            <a:endParaRPr lang="en-US" altLang="zh-CN" sz="18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2000"/>
              </a:lnSpc>
            </a:pPr>
            <a:r>
              <a:rPr lang="zh-CN" altLang="en-US" sz="18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参考书籍：</a:t>
            </a:r>
            <a:r>
              <a:rPr lang="en-US" altLang="zh-CN" sz="18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《</a:t>
            </a:r>
            <a:r>
              <a:rPr lang="zh-CN" altLang="en-US" sz="18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新概念物理教程</a:t>
            </a:r>
            <a:r>
              <a:rPr lang="en-US" altLang="zh-CN" sz="18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-</a:t>
            </a:r>
            <a:r>
              <a:rPr lang="zh-CN" altLang="en-US" sz="18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光学</a:t>
            </a:r>
            <a:r>
              <a:rPr lang="en-US" altLang="zh-CN" sz="18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》-</a:t>
            </a:r>
            <a:r>
              <a:rPr lang="zh-CN" altLang="en-US" sz="18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赵凯华</a:t>
            </a:r>
            <a:endParaRPr lang="en-US" altLang="zh-CN" sz="18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2000"/>
              </a:lnSpc>
            </a:pPr>
            <a:r>
              <a:rPr lang="en-US" altLang="zh-CN" sz="1800" kern="1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	    《</a:t>
            </a:r>
            <a:r>
              <a:rPr lang="zh-CN" altLang="en-US" sz="1800" kern="1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工程光学</a:t>
            </a:r>
            <a:r>
              <a:rPr lang="en-US" altLang="zh-CN" sz="1800" kern="1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》-</a:t>
            </a:r>
            <a:r>
              <a:rPr lang="zh-CN" altLang="en-US" sz="1800" kern="1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郁道银</a:t>
            </a:r>
            <a:endParaRPr lang="en-US" altLang="zh-CN" sz="1800" kern="100" dirty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2000"/>
              </a:lnSpc>
            </a:pPr>
            <a:r>
              <a:rPr lang="en-US" altLang="zh-CN" sz="1800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                    </a:t>
            </a:r>
            <a:r>
              <a:rPr lang="en-US" altLang="zh-CN" sz="18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《</a:t>
            </a:r>
            <a:r>
              <a:rPr lang="zh-CN" altLang="en-US" sz="18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物理光学</a:t>
            </a:r>
            <a:r>
              <a:rPr lang="en-US" altLang="zh-CN" sz="18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》-</a:t>
            </a:r>
            <a:r>
              <a:rPr lang="zh-CN" altLang="en-US" sz="18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梁铨廷</a:t>
            </a:r>
            <a:endParaRPr lang="en-US" altLang="zh-CN" sz="18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l">
              <a:lnSpc>
                <a:spcPts val="2000"/>
              </a:lnSpc>
            </a:pPr>
            <a:r>
              <a:rPr lang="en-US" altLang="zh-CN" sz="1800" kern="1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                    《</a:t>
            </a:r>
            <a:r>
              <a:rPr lang="zh-CN" altLang="en-US" sz="1800" kern="1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应用光学</a:t>
            </a:r>
            <a:r>
              <a:rPr lang="en-US" altLang="zh-CN" sz="1800" kern="1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》-</a:t>
            </a:r>
            <a:r>
              <a:rPr lang="zh-CN" altLang="en-US" sz="1800" kern="1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李林</a:t>
            </a:r>
            <a:endParaRPr lang="en-US" altLang="zh-CN" sz="1800" kern="100" dirty="0">
              <a:effectLst/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8692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6A6154-90B0-4F5B-B697-1C82E3FA3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lnSpc>
                <a:spcPts val="2000"/>
              </a:lnSpc>
            </a:pPr>
            <a:r>
              <a:rPr lang="zh-CN" altLang="zh-CN" kern="100" dirty="0">
                <a:effectLst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第一章光和光的传播</a:t>
            </a:r>
            <a:b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08F9EFD-DDA8-4739-94F0-3578B7079B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1.</a:t>
            </a:r>
            <a:r>
              <a:rPr lang="zh-CN" altLang="en-US" sz="2400" dirty="0">
                <a:latin typeface="华文楷体" panose="02010600040101010101" pitchFamily="2" charset="-122"/>
                <a:ea typeface="华文楷体" panose="02010600040101010101" pitchFamily="2" charset="-122"/>
              </a:rPr>
              <a:t>几何光学基本定律</a:t>
            </a:r>
            <a:endParaRPr lang="en-US" altLang="zh-CN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sz="24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B1D4901-FFD2-4161-8301-2A9B83C84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95593"/>
            <a:ext cx="6863499" cy="4602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773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017C80-BD61-4F12-B1AB-35851C310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0" lang="zh-CN" altLang="zh-CN" sz="4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第一章光和光的传播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7D18EA4-B01D-419C-9BDF-763378C058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l">
                  <a:lnSpc>
                    <a:spcPts val="2000"/>
                  </a:lnSpc>
                </a:pPr>
                <a:r>
                  <a:rPr lang="en-US" altLang="zh-CN" sz="2800" kern="10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2.</a:t>
                </a:r>
                <a:r>
                  <a:rPr lang="zh-CN" altLang="zh-CN" sz="2800" kern="100" dirty="0">
                    <a:effectLst/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全反射，折射棱镜</a:t>
                </a:r>
                <a:endParaRPr lang="zh-CN" altLang="zh-CN" sz="2000" kern="100" dirty="0">
                  <a:effectLst/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r>
                  <a:rPr lang="zh-CN" altLang="en-US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全反射：入射角增大至某一角度</a:t>
                </a:r>
                <a:r>
                  <a:rPr lang="en-US" altLang="zh-CN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C</a:t>
                </a:r>
                <a:r>
                  <a:rPr lang="zh-CN" altLang="en-US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（临界角）时，折射光线消失，光线全部反射。</a:t>
                </a:r>
              </a:p>
              <a:p>
                <a:pPr marL="0" indent="0">
                  <a:buNone/>
                </a:pPr>
                <a:r>
                  <a:rPr lang="zh-CN" altLang="en-US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条件：</a:t>
                </a:r>
                <a:r>
                  <a:rPr lang="en-US" altLang="zh-CN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1</a:t>
                </a:r>
                <a:r>
                  <a:rPr lang="zh-CN" altLang="en-US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）光线从光密介质向光疏介质入射。</a:t>
                </a:r>
                <a:r>
                  <a:rPr lang="en-US" altLang="zh-CN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2</a:t>
                </a:r>
                <a:r>
                  <a:rPr lang="zh-CN" altLang="en-US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）入射角大于临界角</a:t>
                </a:r>
              </a:p>
              <a:p>
                <a:pPr marL="0" indent="0">
                  <a:buNone/>
                </a:pPr>
                <a:r>
                  <a:rPr lang="zh-CN" altLang="en-US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公式：</a:t>
                </a:r>
                <a14:m>
                  <m:oMath xmlns:m="http://schemas.openxmlformats.org/officeDocument/2006/math">
                    <m:r>
                      <a:rPr lang="en-US" altLang="zh-CN" i="1"/>
                      <m:t>𝑠𝑖𝑛𝐶</m:t>
                    </m:r>
                    <m:r>
                      <a:rPr lang="en-US" altLang="zh-CN" i="1"/>
                      <m:t>=</m:t>
                    </m:r>
                    <m:sSub>
                      <m:sSubPr>
                        <m:ctrlPr>
                          <a:rPr lang="zh-CN" altLang="zh-CN" i="1"/>
                        </m:ctrlPr>
                      </m:sSubPr>
                      <m:e>
                        <m:r>
                          <a:rPr lang="en-US" altLang="zh-CN" i="1"/>
                          <m:t>𝑛</m:t>
                        </m:r>
                      </m:e>
                      <m:sub>
                        <m:r>
                          <a:rPr lang="en-US" altLang="zh-CN" i="1"/>
                          <m:t>2</m:t>
                        </m:r>
                      </m:sub>
                    </m:sSub>
                    <m:r>
                      <a:rPr lang="en-US" altLang="zh-CN" i="1"/>
                      <m:t>/</m:t>
                    </m:r>
                    <m:sSub>
                      <m:sSubPr>
                        <m:ctrlPr>
                          <a:rPr lang="zh-CN" altLang="zh-CN" i="1"/>
                        </m:ctrlPr>
                      </m:sSubPr>
                      <m:e>
                        <m:r>
                          <a:rPr lang="en-US" altLang="zh-CN" i="1"/>
                          <m:t>𝑛</m:t>
                        </m:r>
                      </m:e>
                      <m:sub>
                        <m:r>
                          <a:rPr lang="en-US" altLang="zh-CN" i="1"/>
                          <m:t>1</m:t>
                        </m:r>
                      </m:sub>
                    </m:sSub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C7D18EA4-B01D-419C-9BDF-763378C058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4622" r="-19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E530C555-6447-47E4-BFAD-A721F4C0352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780" y="4278159"/>
            <a:ext cx="2663278" cy="2033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823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AEA1AA-8A8F-4F7E-8E60-DDCDD8476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0" lang="zh-CN" altLang="zh-CN" sz="4400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第一章光和光的传播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B7FA3D2-6226-49DA-A842-C54DECDDB1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l">
                  <a:lnSpc>
                    <a:spcPts val="2000"/>
                  </a:lnSpc>
                </a:pPr>
                <a:r>
                  <a:rPr lang="zh-CN" altLang="zh-CN" sz="2800" kern="100" dirty="0">
                    <a:effectLst/>
                    <a:latin typeface="等线" panose="02010600030101010101" pitchFamily="2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折射棱镜</a:t>
                </a:r>
                <a:endParaRPr lang="zh-CN" altLang="zh-CN" sz="20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l">
                  <a:lnSpc>
                    <a:spcPts val="3000"/>
                  </a:lnSpc>
                </a:pPr>
                <a:r>
                  <a:rPr lang="zh-CN" altLang="zh-CN" sz="2800" kern="100" dirty="0">
                    <a:effectLst/>
                    <a:latin typeface="等线" panose="02010600030101010101" pitchFamily="2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当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2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100">
                            <a:effectLst/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2800" i="1" kern="100">
                            <a:effectLst/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sz="2800" i="1" kern="100">
                        <a:effectLst/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=−</m:t>
                    </m:r>
                    <m:sSubSup>
                      <m:sSubSupPr>
                        <m:ctrlPr>
                          <a:rPr lang="zh-CN" altLang="zh-CN" sz="2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800" i="1" kern="100">
                            <a:effectLst/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2800" i="1" kern="100">
                            <a:effectLst/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sz="2800" i="1" kern="100">
                            <a:effectLst/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altLang="zh-CN" sz="2800" kern="100" dirty="0">
                    <a:effectLst/>
                    <a:latin typeface="楷体" panose="02010609060101010101" pitchFamily="49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zh-CN" altLang="zh-CN" sz="2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SupPr>
                      <m:e>
                        <m:r>
                          <a:rPr lang="en-US" altLang="zh-CN" sz="2800" i="1" kern="100">
                            <a:effectLst/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2800" i="1" kern="100">
                            <a:effectLst/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2800" i="1" kern="100">
                            <a:effectLst/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′</m:t>
                        </m:r>
                      </m:sup>
                    </m:sSubSup>
                    <m:r>
                      <a:rPr lang="en-US" altLang="zh-CN" sz="2800" i="1" kern="100">
                        <a:effectLst/>
                        <a:latin typeface="Cambria Math" panose="02040503050406030204" pitchFamily="18" charset="0"/>
                        <a:ea typeface="楷体" panose="02010609060101010101" pitchFamily="49" charset="-122"/>
                        <a:cs typeface="Times New Roman" panose="02020603050405020304" pitchFamily="18" charset="0"/>
                      </a:rPr>
                      <m:t>=−</m:t>
                    </m:r>
                    <m:sSub>
                      <m:sSubPr>
                        <m:ctrlPr>
                          <a:rPr lang="zh-CN" altLang="zh-CN" sz="28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2800" i="1" kern="100">
                            <a:effectLst/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𝐼</m:t>
                        </m:r>
                      </m:e>
                      <m:sub>
                        <m:r>
                          <a:rPr lang="en-US" altLang="zh-CN" sz="2800" i="1" kern="100">
                            <a:effectLst/>
                            <a:latin typeface="Cambria Math" panose="02040503050406030204" pitchFamily="18" charset="0"/>
                            <a:ea typeface="楷体" panose="02010609060101010101" pitchFamily="49" charset="-122"/>
                            <a:cs typeface="Times New Roman" panose="020206030504050203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zh-CN" altLang="zh-CN" sz="2800" kern="100" dirty="0">
                    <a:effectLst/>
                    <a:latin typeface="等线" panose="02010600030101010101" pitchFamily="2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时，偏向角</a:t>
                </a:r>
                <a:r>
                  <a:rPr lang="zh-CN" altLang="zh-CN" sz="3600" kern="100" dirty="0">
                    <a:effectLst/>
                    <a:latin typeface="等线" panose="02010600030101010101" pitchFamily="2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δ</a:t>
                </a:r>
                <a:r>
                  <a:rPr lang="zh-CN" altLang="zh-CN" sz="2800" kern="100" dirty="0">
                    <a:effectLst/>
                    <a:latin typeface="等线" panose="02010600030101010101" pitchFamily="2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有最小值</a:t>
                </a:r>
                <a:r>
                  <a:rPr lang="zh-CN" altLang="zh-CN" sz="3600" kern="100" dirty="0">
                    <a:effectLst/>
                    <a:latin typeface="等线" panose="02010600030101010101" pitchFamily="2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δ</a:t>
                </a:r>
                <a:r>
                  <a:rPr lang="en-US" altLang="zh-CN" sz="3600" kern="100" baseline="-25000" dirty="0">
                    <a:effectLst/>
                    <a:latin typeface="等线" panose="02010600030101010101" pitchFamily="2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m</a:t>
                </a:r>
                <a:r>
                  <a:rPr lang="en-US" altLang="zh-CN" sz="2800" kern="100" dirty="0">
                    <a:effectLst/>
                    <a:latin typeface="楷体" panose="02010609060101010101" pitchFamily="49" charset="-122"/>
                    <a:ea typeface="等线" panose="02010600030101010101" pitchFamily="2" charset="-122"/>
                    <a:cs typeface="Times New Roman" panose="02020603050405020304" pitchFamily="18" charset="0"/>
                  </a:rPr>
                  <a:t>,</a:t>
                </a:r>
                <a:endParaRPr lang="zh-CN" altLang="zh-CN" sz="20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pPr algn="just"/>
                <a:r>
                  <a:rPr lang="zh-CN" altLang="zh-CN" sz="2800" kern="100" dirty="0">
                    <a:effectLst/>
                    <a:latin typeface="等线" panose="02010600030101010101" pitchFamily="2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公式</a:t>
                </a:r>
                <a:r>
                  <a:rPr lang="en-US" altLang="zh-CN" sz="2800" kern="100" dirty="0">
                    <a:effectLst/>
                    <a:latin typeface="等线" panose="02010600030101010101" pitchFamily="2" charset="-122"/>
                    <a:ea typeface="楷体" panose="02010609060101010101" pitchFamily="49" charset="-122"/>
                    <a:cs typeface="Times New Roman" panose="02020603050405020304" pitchFamily="18" charset="0"/>
                  </a:rPr>
                  <a:t>:</a:t>
                </a:r>
                <a14:m>
                  <m:oMath xmlns:m="http://schemas.openxmlformats.org/officeDocument/2006/math">
                    <m:r>
                      <a:rPr lang="en-US" altLang="zh-CN" sz="2800" i="1" ker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𝑠𝑖𝑛</m:t>
                    </m:r>
                    <m:r>
                      <a:rPr lang="en-US" altLang="zh-CN" sz="2800" i="1" ker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⁡</m:t>
                    </m:r>
                    <m:f>
                      <m:fPr>
                        <m:ctrlPr>
                          <a:rPr lang="zh-CN" altLang="zh-CN" sz="2800" i="1" ker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 i="1" ker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𝛼</m:t>
                        </m:r>
                        <m:r>
                          <a:rPr lang="en-US" altLang="zh-CN" sz="2800" i="1" ker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zh-CN" sz="2800" i="1" ker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800" i="1" ker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𝛿</m:t>
                            </m:r>
                          </m:e>
                          <m:sub>
                            <m:r>
                              <a:rPr lang="en-US" altLang="zh-CN" sz="2800" i="1" kern="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num>
                      <m:den>
                        <m:r>
                          <a:rPr lang="en-US" altLang="zh-CN" sz="2800" i="1" ker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800" i="1" ker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2800" i="1" ker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𝑛𝑠𝑖𝑛</m:t>
                    </m:r>
                    <m:r>
                      <a:rPr lang="en-US" altLang="zh-CN" sz="2800" i="1" kern="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⁡</m:t>
                    </m:r>
                    <m:f>
                      <m:fPr>
                        <m:ctrlPr>
                          <a:rPr lang="zh-CN" altLang="zh-CN" sz="2800" i="1" ker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zh-CN" sz="2800" i="1" ker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>
                          <a:rPr lang="en-US" altLang="zh-CN" sz="2800" i="1" kern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zh-CN" altLang="zh-CN" sz="2000" kern="100" dirty="0">
                  <a:effectLst/>
                  <a:latin typeface="等线" panose="02010600030101010101" pitchFamily="2" charset="-122"/>
                  <a:ea typeface="等线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B7FA3D2-6226-49DA-A842-C54DECDDB1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5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00E3790A-E008-4CAD-8786-90260A6E007E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0444" y="3551116"/>
            <a:ext cx="3207234" cy="2312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979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7F4485-4862-4D2D-B3C3-9C5F73B52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zh-CN" sz="4400" kern="0" dirty="0">
                <a:effectLst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第二章几何光学成像</a:t>
            </a:r>
            <a:b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D8BB9D-6910-4698-A281-E5015E44FC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uk-UA" altLang="zh-CN" sz="2800" kern="0" dirty="0">
                <a:effectLst/>
                <a:latin typeface="楷体" panose="02010609060101010101" pitchFamily="49" charset="-122"/>
                <a:ea typeface="等线" panose="02010600030101010101" pitchFamily="2" charset="-122"/>
                <a:cs typeface="Times New Roman" panose="02020603050405020304" pitchFamily="18" charset="0"/>
              </a:rPr>
              <a:t>1.</a:t>
            </a:r>
            <a:r>
              <a:rPr lang="zh-CN" altLang="zh-CN" sz="2800" kern="0" dirty="0">
                <a:effectLst/>
                <a:latin typeface="等线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成像的基本概念与完善成像条件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1908460-CFFF-41C1-B5DF-3D80F507041C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3764" y="2684802"/>
            <a:ext cx="9370243" cy="3216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3360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D83669-6205-4604-8B1C-CD7455531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zh-CN" sz="4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第二章几何光学成像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AD4143-192E-4C70-8BD3-889E31E2C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uk-UA" altLang="zh-CN" sz="2800" kern="0" dirty="0">
                <a:solidFill>
                  <a:srgbClr val="FF0000"/>
                </a:solidFill>
                <a:effectLst/>
                <a:latin typeface="楷体" panose="02010609060101010101" pitchFamily="49" charset="-122"/>
                <a:ea typeface="等线" panose="02010600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zh-CN" sz="2800" kern="0" dirty="0">
                <a:solidFill>
                  <a:srgbClr val="FF0000"/>
                </a:solidFill>
                <a:effectLst/>
                <a:latin typeface="等线" panose="02010600030101010101" pitchFamily="2" charset="-122"/>
                <a:ea typeface="楷体" panose="02010609060101010101" pitchFamily="49" charset="-122"/>
                <a:cs typeface="Times New Roman" panose="02020603050405020304" pitchFamily="18" charset="0"/>
              </a:rPr>
              <a:t>薄透镜（重点）</a:t>
            </a:r>
            <a:endParaRPr lang="zh-CN" altLang="zh-CN" sz="20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1800" dirty="0">
                <a:latin typeface="华文楷体" panose="02010600040101010101" pitchFamily="2" charset="-122"/>
                <a:ea typeface="华文楷体" panose="02010600040101010101" pitchFamily="2" charset="-122"/>
              </a:rPr>
              <a:t>符号规则（右图为单折射面符号规则）</a:t>
            </a:r>
            <a:endParaRPr lang="en-US" altLang="zh-CN" sz="1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sz="1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82BA1BC-BF4D-4032-9D13-D4EFE0ADBE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68631"/>
            <a:ext cx="5949378" cy="330833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C94F914-3D38-483D-885E-D3C20384FE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9378" y="2868631"/>
            <a:ext cx="6073588" cy="3308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267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B29636-92FA-4468-8357-EAEAC0580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zh-CN" sz="4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第二章几何光学成像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BEE127-D85D-4475-8E83-A2CD5EB23C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23967"/>
          </a:xfrm>
        </p:spPr>
        <p:txBody>
          <a:bodyPr>
            <a:normAutofit/>
          </a:bodyPr>
          <a:lstStyle/>
          <a:p>
            <a:pPr>
              <a:lnSpc>
                <a:spcPts val="3000"/>
              </a:lnSpc>
            </a:pP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相关公式</a:t>
            </a:r>
            <a:endParaRPr lang="en-US" altLang="zh-CN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3000"/>
              </a:lnSpc>
            </a:pP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焦距公式：</a:t>
            </a:r>
            <a:endParaRPr lang="en-US" altLang="zh-CN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3000"/>
              </a:lnSpc>
            </a:pP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薄透镜公式：当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n’= n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时</a:t>
            </a:r>
            <a:endParaRPr lang="en-US" altLang="zh-CN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3000"/>
              </a:lnSpc>
            </a:pP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成像公式：牛顿公式</a:t>
            </a:r>
            <a:endParaRPr lang="en-US" altLang="zh-CN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3000"/>
              </a:lnSpc>
            </a:pP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              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高斯公式</a:t>
            </a:r>
            <a:endParaRPr lang="en-US" altLang="zh-CN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3000"/>
              </a:lnSpc>
            </a:pP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横向放大率：</a:t>
            </a:r>
            <a:endParaRPr lang="en-US" altLang="zh-CN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3000"/>
              </a:lnSpc>
            </a:pP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密接透镜：</a:t>
            </a:r>
            <a:endParaRPr lang="en-US" altLang="zh-CN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3000"/>
              </a:lnSpc>
            </a:pPr>
            <a:endParaRPr lang="en-US" altLang="zh-CN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3000"/>
              </a:lnSpc>
            </a:pP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光焦度：</a:t>
            </a:r>
            <a:endParaRPr lang="en-US" altLang="zh-CN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3000"/>
              </a:lnSpc>
            </a:pPr>
            <a:endParaRPr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4F59302-CEEB-4FC1-A8A7-1E316619CF0A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512337" y="21023"/>
            <a:ext cx="5126623" cy="201376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308702A-94DC-4D24-B8E5-881825E859BF}"/>
                  </a:ext>
                </a:extLst>
              </p:cNvPr>
              <p:cNvSpPr txBox="1"/>
              <p:nvPr/>
            </p:nvSpPr>
            <p:spPr>
              <a:xfrm>
                <a:off x="2764412" y="2034788"/>
                <a:ext cx="6094428" cy="6823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zh-CN" altLang="en-US" i="0">
                          <a:latin typeface="Cambria Math" panose="02040503050406030204" pitchFamily="18" charset="0"/>
                        </a:rPr>
                        <m:t>;</m:t>
                      </m:r>
                      <m:sSubSup>
                        <m:sSubSup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zh-CN" altLang="en-US" i="0">
                          <a:latin typeface="Cambria Math" panose="02040503050406030204" pitchFamily="18" charset="0"/>
                        </a:rPr>
                        <m:t>;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′−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  <m:r>
                        <a:rPr lang="zh-CN" altLang="en-US" i="0">
                          <a:latin typeface="Cambria Math" panose="02040503050406030204" pitchFamily="18" charset="0"/>
                        </a:rPr>
                        <m:t>;</m:t>
                      </m:r>
                      <m:sSubSup>
                        <m:sSubSup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′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′−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den>
                      </m:f>
                      <m:r>
                        <a:rPr lang="zh-CN" altLang="en-US" i="0">
                          <a:latin typeface="Cambria Math" panose="02040503050406030204" pitchFamily="18" charset="0"/>
                        </a:rPr>
                        <m:t>;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′</m:t>
                          </m:r>
                        </m:den>
                      </m:f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′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E308702A-94DC-4D24-B8E5-881825E859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4412" y="2034788"/>
                <a:ext cx="6094428" cy="68236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F151B834-4B82-45C3-B14F-4066D5D77F1B}"/>
                  </a:ext>
                </a:extLst>
              </p:cNvPr>
              <p:cNvSpPr txBox="1"/>
              <p:nvPr/>
            </p:nvSpPr>
            <p:spPr>
              <a:xfrm>
                <a:off x="4044098" y="2717154"/>
                <a:ext cx="3165049" cy="88460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′=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en-US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F151B834-4B82-45C3-B14F-4066D5D77F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4098" y="2717154"/>
                <a:ext cx="3165049" cy="88460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A604694A-78FE-4058-8790-8AD070DEFA9C}"/>
                  </a:ext>
                </a:extLst>
              </p:cNvPr>
              <p:cNvSpPr txBox="1"/>
              <p:nvPr/>
            </p:nvSpPr>
            <p:spPr>
              <a:xfrm>
                <a:off x="3487918" y="3897356"/>
                <a:ext cx="1534212" cy="6613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′</m:t>
                          </m:r>
                        </m:den>
                      </m:f>
                      <m:r>
                        <a:rPr lang="zh-CN" altLang="en-US" i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′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A604694A-78FE-4058-8790-8AD070DEFA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7918" y="3897356"/>
                <a:ext cx="1534212" cy="66133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425CC9CC-D3E8-4486-B946-64459F220728}"/>
                  </a:ext>
                </a:extLst>
              </p:cNvPr>
              <p:cNvSpPr txBox="1"/>
              <p:nvPr/>
            </p:nvSpPr>
            <p:spPr>
              <a:xfrm>
                <a:off x="3671740" y="3450760"/>
                <a:ext cx="116656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𝑥𝑥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′=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𝑓𝑓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′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425CC9CC-D3E8-4486-B946-64459F2207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1740" y="3450760"/>
                <a:ext cx="1166567" cy="369332"/>
              </a:xfrm>
              <a:prstGeom prst="rect">
                <a:avLst/>
              </a:prstGeom>
              <a:blipFill>
                <a:blip r:embed="rId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5" name="图片 24">
            <a:extLst>
              <a:ext uri="{FF2B5EF4-FFF2-40B4-BE49-F238E27FC236}">
                <a16:creationId xmlns:a16="http://schemas.microsoft.com/office/drawing/2014/main" id="{60186BFE-5F42-435D-9B36-56CD90CCD0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3755" y="4424852"/>
            <a:ext cx="4476750" cy="62865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FFA0B7E5-B609-44A0-A008-209881161E26}"/>
                  </a:ext>
                </a:extLst>
              </p:cNvPr>
              <p:cNvSpPr txBox="1"/>
              <p:nvPr/>
            </p:nvSpPr>
            <p:spPr>
              <a:xfrm>
                <a:off x="2597085" y="5086187"/>
                <a:ext cx="2241222" cy="6613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r>
                        <a:rPr lang="zh-CN" altLang="en-US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′</m:t>
                          </m:r>
                        </m:den>
                      </m:f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zh-CN" altLang="en-US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FFA0B7E5-B609-44A0-A008-209881161E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7085" y="5086187"/>
                <a:ext cx="2241222" cy="66133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C25C6BCE-EC53-4E8D-ADA9-9EDC478AAFE8}"/>
                  </a:ext>
                </a:extLst>
              </p:cNvPr>
              <p:cNvSpPr txBox="1"/>
              <p:nvPr/>
            </p:nvSpPr>
            <p:spPr>
              <a:xfrm>
                <a:off x="2309566" y="5870847"/>
                <a:ext cx="2156381" cy="6613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den>
                      </m:f>
                      <m:r>
                        <a:rPr lang="zh-CN" altLang="en-US" i="0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C25C6BCE-EC53-4E8D-ADA9-9EDC478AAF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9566" y="5870847"/>
                <a:ext cx="2156381" cy="66133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89892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0F744C-C3F0-4F12-B92A-67D57C13E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0" lang="zh-CN" altLang="zh-CN" sz="4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第二章几何光学成像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073558-1D32-4762-9696-0677983981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3.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焦面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marR="0" lvl="0" indent="-22860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7EAC2D9-BE6E-4F19-B03E-569D122C5C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6340" y="2341651"/>
            <a:ext cx="5829379" cy="3867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82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E08B26-7297-4DB0-8C8D-C57789123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0" lang="zh-CN" altLang="zh-CN" sz="4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第二章几何光学成像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2851E2-0E01-41A3-852B-84784E4AE1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4.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作图法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939D2E5-238D-4768-ABAA-4E7601F574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94573"/>
            <a:ext cx="6409684" cy="388239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652CF0CC-62E0-4CB8-A17C-AD8D563E63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7103" y="2294573"/>
            <a:ext cx="5676658" cy="4017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02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C300BC-FD5E-48E3-BB61-3CC4F7506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0" lang="zh-CN" altLang="zh-CN" sz="4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第二章几何光学成像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5DACAC-F45B-4872-A02B-D62E7052C6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76833"/>
          </a:xfrm>
        </p:spPr>
        <p:txBody>
          <a:bodyPr/>
          <a:lstStyle/>
          <a:p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5.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光学仪器相关公式（本节推荐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ppt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的图片辅助理解）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3000"/>
              </a:lnSpc>
            </a:pP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投影仪器：</a:t>
            </a:r>
            <a:endParaRPr lang="en-US" altLang="zh-CN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3000"/>
              </a:lnSpc>
            </a:pP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照相机：物移量和像移量关系：</a:t>
            </a:r>
            <a:endParaRPr lang="en-US" altLang="zh-CN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3000"/>
              </a:lnSpc>
            </a:pP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人眼：近点：人眼能看清楚的最近点；远点：人眼能看清楚的最远点。</a:t>
            </a: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S0=25cm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明视距离</a:t>
            </a:r>
            <a:endParaRPr lang="en-US" altLang="zh-CN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3000"/>
              </a:lnSpc>
            </a:pPr>
            <a:r>
              <a:rPr lang="en-US" altLang="zh-CN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       </a:t>
            </a: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人眼视角：</a:t>
            </a:r>
            <a:endParaRPr lang="en-US" altLang="zh-CN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3000"/>
              </a:lnSpc>
            </a:pP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放大镜：视角放大率</a:t>
            </a:r>
            <a:endParaRPr lang="en-US" altLang="zh-CN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ts val="3000"/>
              </a:lnSpc>
            </a:pPr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显微镜：                       物镜焦距、目镜焦距越短，光学筒长越大，显微镜放大倍率越高</a:t>
            </a:r>
            <a:endParaRPr lang="en-US" altLang="zh-CN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望远镜：</a:t>
            </a:r>
            <a:endParaRPr lang="en-US" altLang="zh-CN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en-US" altLang="zh-CN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棱镜光谱仪</a:t>
            </a:r>
            <a:endParaRPr lang="en-US" altLang="zh-CN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5A84FE5-BF3E-42CE-9807-C68CB190FE7C}"/>
                  </a:ext>
                </a:extLst>
              </p:cNvPr>
              <p:cNvSpPr txBox="1"/>
              <p:nvPr/>
            </p:nvSpPr>
            <p:spPr>
              <a:xfrm>
                <a:off x="2196445" y="2185200"/>
                <a:ext cx="1864150" cy="6823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′</m:t>
                          </m:r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r>
                        <a:rPr lang="zh-CN" altLang="en-US" i="0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′</m:t>
                          </m:r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5A84FE5-BF3E-42CE-9807-C68CB190FE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6445" y="2185200"/>
                <a:ext cx="1864150" cy="68236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70D0B4F-844D-44A7-A5B1-8E7C0971A344}"/>
                  </a:ext>
                </a:extLst>
              </p:cNvPr>
              <p:cNvSpPr txBox="1"/>
              <p:nvPr/>
            </p:nvSpPr>
            <p:spPr>
              <a:xfrm>
                <a:off x="4538612" y="2867566"/>
                <a:ext cx="1760455" cy="6481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′</m:t>
                          </m:r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p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zh-CN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F70D0B4F-844D-44A7-A5B1-8E7C0971A3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8612" y="2867566"/>
                <a:ext cx="1760455" cy="64812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47F42F1-09DC-4047-B5B5-4ED55B707411}"/>
                  </a:ext>
                </a:extLst>
              </p:cNvPr>
              <p:cNvSpPr txBox="1"/>
              <p:nvPr/>
            </p:nvSpPr>
            <p:spPr>
              <a:xfrm>
                <a:off x="2960015" y="3789031"/>
                <a:ext cx="1194847" cy="5666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47F42F1-09DC-4047-B5B5-4ED55B7074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0015" y="3789031"/>
                <a:ext cx="1194847" cy="56669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EDED73D-2483-4159-9B13-A682543CE4F5}"/>
                  </a:ext>
                </a:extLst>
              </p:cNvPr>
              <p:cNvSpPr txBox="1"/>
              <p:nvPr/>
            </p:nvSpPr>
            <p:spPr>
              <a:xfrm>
                <a:off x="3208646" y="4284643"/>
                <a:ext cx="1892431" cy="6823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′</m:t>
                          </m:r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𝑓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EDED73D-2483-4159-9B13-A682543CE4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8646" y="4284643"/>
                <a:ext cx="1892431" cy="68236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933A90F-0AB0-4230-AEB5-635FEB88FEA2}"/>
                  </a:ext>
                </a:extLst>
              </p:cNvPr>
              <p:cNvSpPr txBox="1"/>
              <p:nvPr/>
            </p:nvSpPr>
            <p:spPr>
              <a:xfrm>
                <a:off x="2136348" y="4851337"/>
                <a:ext cx="1421090" cy="66133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𝛥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9933A90F-0AB0-4230-AEB5-635FEB88FE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6348" y="4851337"/>
                <a:ext cx="1421090" cy="66133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92A1EE8C-8A85-4B9A-BA9D-60D2F91509F7}"/>
                  </a:ext>
                </a:extLst>
              </p:cNvPr>
              <p:cNvSpPr txBox="1"/>
              <p:nvPr/>
            </p:nvSpPr>
            <p:spPr>
              <a:xfrm>
                <a:off x="2136348" y="5554520"/>
                <a:ext cx="1760456" cy="6823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′</m:t>
                          </m:r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𝜔</m:t>
                          </m:r>
                        </m:den>
                      </m:f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92A1EE8C-8A85-4B9A-BA9D-60D2F91509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6348" y="5554520"/>
                <a:ext cx="1760456" cy="68236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1846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CA533B-9426-4711-84C9-173C1B2DB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0" lang="zh-CN" altLang="zh-CN" sz="4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第</a:t>
            </a: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三</a:t>
            </a:r>
            <a:r>
              <a:rPr kumimoji="0" lang="zh-CN" altLang="zh-CN" sz="4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章</a:t>
            </a: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干涉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83E06B5-BCC4-4898-BAE8-6F96E97E99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1.</a:t>
            </a:r>
            <a:r>
              <a:rPr lang="zh-CN" altLang="en-US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干涉相关定义公式</a:t>
            </a:r>
            <a:endParaRPr lang="en-US" altLang="zh-CN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en-US" altLang="zh-CN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en-US" altLang="zh-CN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en-US" altLang="zh-CN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干涉条纹光强分布：</a:t>
            </a:r>
            <a:endParaRPr lang="en-US" altLang="zh-CN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en-US" altLang="zh-CN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C141B0E-3F87-44E2-8D23-E6EDF9261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939" y="2272989"/>
            <a:ext cx="7992915" cy="152491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74C902E3-E415-4AF9-84EA-829998AA5379}"/>
                  </a:ext>
                </a:extLst>
              </p:cNvPr>
              <p:cNvSpPr txBox="1"/>
              <p:nvPr/>
            </p:nvSpPr>
            <p:spPr>
              <a:xfrm>
                <a:off x="3226325" y="3797905"/>
                <a:ext cx="5229518" cy="6170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i="0">
                          <a:latin typeface="Cambria Math" panose="02040503050406030204" pitchFamily="18" charset="0"/>
                        </a:rPr>
                        <m:t>+2</m:t>
                      </m:r>
                      <m:rad>
                        <m:radPr>
                          <m:degHide m:val="on"/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rad>
                      <m:r>
                        <m:rPr>
                          <m:sty m:val="p"/>
                        </m:rPr>
                        <a:rPr lang="zh-CN" altLang="en-US" i="0">
                          <a:latin typeface="Cambria Math" panose="02040503050406030204" pitchFamily="18" charset="0"/>
                        </a:rPr>
                        <m:t>cos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=4</m:t>
                      </m:r>
                      <m:sSub>
                        <m:sSub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i="0">
                              <a:latin typeface="Cambria Math" panose="02040503050406030204" pitchFamily="18" charset="0"/>
                            </a:rPr>
                            <m:t>cos</m:t>
                          </m:r>
                        </m:e>
                        <m:sup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>
                        <m:f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</m:num>
                        <m:den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=4</m:t>
                      </m:r>
                      <m:sSup>
                        <m:sSup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CN" altLang="en-US" i="0">
                              <a:latin typeface="Cambria Math" panose="02040503050406030204" pitchFamily="18" charset="0"/>
                            </a:rPr>
                            <m:t>cos</m:t>
                          </m:r>
                        </m:e>
                        <m:sup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f>
                        <m:f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𝛿</m:t>
                          </m:r>
                        </m:num>
                        <m:den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74C902E3-E415-4AF9-84EA-829998AA53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6325" y="3797905"/>
                <a:ext cx="5229518" cy="61709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A389858-CCBA-44E0-8A68-4443B5E0FDE4}"/>
                  </a:ext>
                </a:extLst>
              </p:cNvPr>
              <p:cNvSpPr txBox="1"/>
              <p:nvPr/>
            </p:nvSpPr>
            <p:spPr>
              <a:xfrm>
                <a:off x="8559537" y="3797905"/>
                <a:ext cx="2882245" cy="612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𝛥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CA389858-CCBA-44E0-8A68-4443B5E0FD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9537" y="3797905"/>
                <a:ext cx="2882245" cy="6127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图片 12">
            <a:extLst>
              <a:ext uri="{FF2B5EF4-FFF2-40B4-BE49-F238E27FC236}">
                <a16:creationId xmlns:a16="http://schemas.microsoft.com/office/drawing/2014/main" id="{F2FF49A1-6C1A-4450-BBF9-9CEFEF022E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9939" y="4410701"/>
            <a:ext cx="6035563" cy="2377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8385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2BB342-8B99-4E18-B866-E93C97E68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0" lang="zh-CN" altLang="zh-CN" sz="4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第</a:t>
            </a: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三</a:t>
            </a:r>
            <a:r>
              <a:rPr kumimoji="0" lang="zh-CN" altLang="zh-CN" sz="4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章</a:t>
            </a: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干涉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0A1474-5F38-4DD4-BC11-49D4C2E97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薄膜干涉（等厚干涉）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F894452-3FFB-42F3-B6EE-FDB7D8009B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53640"/>
            <a:ext cx="5671366" cy="353238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7CBC0C1-4098-444F-B36E-96D9A4454A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407603"/>
            <a:ext cx="5996940" cy="2346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0131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CFF46F-5EC7-467E-A37A-76A9AFA26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0" lang="zh-CN" altLang="zh-CN" sz="4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第</a:t>
            </a: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三</a:t>
            </a:r>
            <a:r>
              <a:rPr kumimoji="0" lang="zh-CN" altLang="zh-CN" sz="4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章</a:t>
            </a: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干涉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8261B9-1237-4E14-A263-622DCB0CBC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应用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66BC75D-B5A5-4461-9CFA-E2A2BFB59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99914"/>
            <a:ext cx="6271803" cy="445808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7580B2D-1AFF-4C86-A139-BCCF0E0A09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399914"/>
            <a:ext cx="3436620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7244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8FC23F-26C4-4C9A-9DB6-93C752980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0" lang="zh-CN" altLang="zh-CN" sz="4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第</a:t>
            </a: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三</a:t>
            </a:r>
            <a:r>
              <a:rPr kumimoji="0" lang="zh-CN" altLang="zh-CN" sz="4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章</a:t>
            </a: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干涉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92C12F-53C3-4CB1-B93F-C7D53D3AB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牛顿环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en-US" altLang="zh-CN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442ADDC-E777-4928-99AB-E7D1E2287F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44867"/>
            <a:ext cx="5997457" cy="396703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65E1333-B194-417E-88C5-170AA69F6D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9542" y="2466973"/>
            <a:ext cx="6102458" cy="3832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3740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AE806F-F9E3-42DA-B0A0-1701A5674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0" lang="zh-CN" altLang="zh-CN" sz="4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第</a:t>
            </a: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三</a:t>
            </a:r>
            <a:r>
              <a:rPr kumimoji="0" lang="zh-CN" altLang="zh-CN" sz="4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章</a:t>
            </a: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干涉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3E768F-413E-4F1C-B0AD-17F36A5C72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3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薄膜干涉（等</a:t>
            </a:r>
            <a:r>
              <a:rPr lang="zh-CN" altLang="en-US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倾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干涉）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72DDFDB-A83C-44AB-B9E8-F3F23F3A17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98224"/>
            <a:ext cx="5630057" cy="3046774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6588481-A783-4F85-A043-78E5F8780F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7880" y="1480741"/>
            <a:ext cx="6294120" cy="447294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9E53AE0-3F23-4F69-B9E2-37C43D9ACC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23788"/>
            <a:ext cx="4769963" cy="1434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8707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DE8824-FCA6-44F1-9936-E16E74FB2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0" lang="zh-CN" altLang="zh-CN" sz="4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第</a:t>
            </a: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三</a:t>
            </a:r>
            <a:r>
              <a:rPr kumimoji="0" lang="zh-CN" altLang="zh-CN" sz="4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章</a:t>
            </a: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干涉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67F53F-83E3-4A15-AA40-E1C8BF938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迈克尔逊干涉仪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5B3412E-3DF2-438E-BC2B-21DFBB96F6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06993"/>
            <a:ext cx="7866027" cy="4551007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7E1A54C-1115-4757-8249-2528D6FD46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8856" y="2205884"/>
            <a:ext cx="3631630" cy="444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2078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733648-BB49-4760-939D-6D784D3E4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0" lang="zh-CN" altLang="zh-CN" sz="4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第</a:t>
            </a: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三</a:t>
            </a:r>
            <a:r>
              <a:rPr kumimoji="0" lang="zh-CN" altLang="zh-CN" sz="4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章</a:t>
            </a: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干涉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F080B3-B40B-4A21-AC12-D1A471B14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条纹对比度、空间相干性、时间相干性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F673D35-7E4B-4126-A784-1B709A6080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366" y="3162300"/>
            <a:ext cx="8511540" cy="36957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5B2CA17D-C552-40C4-A9D3-575606CC2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3618" y="2527048"/>
            <a:ext cx="4463413" cy="567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4147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F32915-7564-40A2-AACA-547F3A67F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0" lang="zh-CN" altLang="zh-CN" sz="4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第</a:t>
            </a: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三</a:t>
            </a:r>
            <a:r>
              <a:rPr kumimoji="0" lang="zh-CN" altLang="zh-CN" sz="4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章</a:t>
            </a: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干涉</a:t>
            </a:r>
            <a:endParaRPr lang="zh-CN" altLang="en-US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65D3E5EF-3868-4AAA-905F-B29D7D9096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7370" y="2301366"/>
            <a:ext cx="8557260" cy="2796540"/>
          </a:xfrm>
        </p:spPr>
      </p:pic>
    </p:spTree>
    <p:extLst>
      <p:ext uri="{BB962C8B-B14F-4D97-AF65-F5344CB8AC3E}">
        <p14:creationId xmlns:p14="http://schemas.microsoft.com/office/powerpoint/2010/main" val="2189128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6C9F82-AC9F-4090-B1D1-534A4CA7A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0" lang="zh-CN" altLang="zh-CN" sz="4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第</a:t>
            </a: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四</a:t>
            </a:r>
            <a:r>
              <a:rPr kumimoji="0" lang="zh-CN" altLang="zh-CN" sz="4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章</a:t>
            </a: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衍射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C2AD6B-E917-4E66-8A55-21D427884B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1.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惠更斯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-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菲涅尔原理，巴比涅原理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2F76D8A-410C-4BB7-A306-F838AA9637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14425"/>
            <a:ext cx="6012823" cy="371461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9D2AE39-8110-4BEF-89A4-B812568ECF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681871"/>
            <a:ext cx="5524818" cy="1494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1739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A93E28-8F82-4882-9C49-0D0EC8591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4064" y="100853"/>
            <a:ext cx="8871408" cy="803799"/>
          </a:xfrm>
        </p:spPr>
        <p:txBody>
          <a:bodyPr/>
          <a:lstStyle/>
          <a:p>
            <a:pPr algn="ctr"/>
            <a:r>
              <a:rPr kumimoji="0" lang="zh-CN" altLang="zh-CN" sz="4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第</a:t>
            </a: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四</a:t>
            </a:r>
            <a:r>
              <a:rPr kumimoji="0" lang="zh-CN" altLang="zh-CN" sz="4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章</a:t>
            </a: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衍射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71FC54-E343-4F7C-B9C1-786134491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1968" y="904652"/>
            <a:ext cx="10515600" cy="4351338"/>
          </a:xfrm>
        </p:spPr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2.</a:t>
            </a:r>
            <a:r>
              <a:rPr lang="zh-CN" altLang="en-US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单缝夫琅禾费衍射</a:t>
            </a:r>
            <a:endParaRPr lang="en-US" altLang="zh-CN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sz="20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61A5F21-1A25-479A-A6D1-CA4958D4B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3870" y="903551"/>
            <a:ext cx="6255794" cy="581633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1D09BEC-1E4C-43D1-8485-57E263F11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08466"/>
            <a:ext cx="5823870" cy="4085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6196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F5E383-BE41-470F-8AE9-2CB4729E5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3613"/>
            <a:ext cx="10515600" cy="1325563"/>
          </a:xfrm>
        </p:spPr>
        <p:txBody>
          <a:bodyPr/>
          <a:lstStyle/>
          <a:p>
            <a:pPr algn="ctr"/>
            <a:r>
              <a:rPr kumimoji="0" lang="zh-CN" altLang="zh-CN" sz="4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第</a:t>
            </a: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四</a:t>
            </a:r>
            <a:r>
              <a:rPr kumimoji="0" lang="zh-CN" altLang="zh-CN" sz="4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章</a:t>
            </a: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衍射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0B11C0-F919-4164-BA6E-1B3629AE7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41375"/>
            <a:ext cx="10515600" cy="4351338"/>
          </a:xfrm>
        </p:spPr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3.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多缝夫琅禾费衍射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AE719C1-5B33-4826-BB75-D979DC3B48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5123" y="1026216"/>
            <a:ext cx="5715000" cy="184404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483F1B2-5A9B-4300-9D34-90E0CB285B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2273" y="2994867"/>
            <a:ext cx="5600700" cy="377952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04E24B5-3D00-432D-9347-9300365D332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341" y="1340776"/>
            <a:ext cx="2948940" cy="439674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6347DCD8-1863-47FA-90D7-2013C25154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20341" y="5509143"/>
            <a:ext cx="4480948" cy="1348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8778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8FE586-6143-42AA-BBAF-07496C989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0" lang="zh-CN" altLang="zh-CN" sz="4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第</a:t>
            </a: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五</a:t>
            </a:r>
            <a:r>
              <a:rPr kumimoji="0" lang="zh-CN" altLang="zh-CN" sz="4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章</a:t>
            </a: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偏振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E92748-1CB1-4E7E-82BC-9033B9ED01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1.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光的偏振性与五种偏振态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自然光：                                                              线偏振光：</a:t>
            </a:r>
            <a:endParaRPr lang="en-US" altLang="zh-CN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en-US" altLang="zh-CN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en-US" altLang="zh-CN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部分偏振光：</a:t>
            </a:r>
            <a:endParaRPr lang="en-US" altLang="zh-CN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en-US" altLang="zh-CN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en-US" altLang="zh-CN" sz="20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000" dirty="0">
                <a:latin typeface="华文楷体" panose="02010600040101010101" pitchFamily="2" charset="-122"/>
                <a:ea typeface="华文楷体" panose="02010600040101010101" pitchFamily="2" charset="-122"/>
              </a:rPr>
              <a:t>圆偏振光                                                                       椭圆偏振光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0C24A46-16AC-4950-B561-0A3412059F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4455" y="2308860"/>
            <a:ext cx="3703320" cy="112014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D24832B8-1717-4AB4-A4D4-ECBA0E2391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0101" y="2308860"/>
            <a:ext cx="3086100" cy="104394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012A0E3-E263-48E8-98E3-C8502248B0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3761" y="3563937"/>
            <a:ext cx="5006340" cy="88392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3B91470-6862-464F-89A9-068984EDE6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783" y="5066029"/>
            <a:ext cx="5239766" cy="1120140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1D0EFF80-770A-4537-B6AC-8395F248CD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2181" y="5142229"/>
            <a:ext cx="5104417" cy="1043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0441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D62F5D-47BE-4C2E-AAEF-7247A5326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0" lang="zh-CN" altLang="zh-CN" sz="4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第</a:t>
            </a: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五</a:t>
            </a:r>
            <a:r>
              <a:rPr kumimoji="0" lang="zh-CN" altLang="zh-CN" sz="4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章</a:t>
            </a: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偏振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A533CAA-E639-4772-B724-CA30139239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马吕斯定律</a:t>
                </a: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r>
                  <a:rPr lang="zh-CN" altLang="en-US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如何区分椭圆光左右旋：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𝑠𝑖𝑛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𝜑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&gt;0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为</m:t>
                    </m:r>
                  </m:oMath>
                </a14:m>
                <a:r>
                  <a:rPr lang="zh-CN" altLang="en-US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左旋，反之为右旋</a:t>
                </a: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0" indent="0">
                  <a:buNone/>
                </a:pPr>
                <a:endParaRPr lang="zh-CN" altLang="en-US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A533CAA-E639-4772-B724-CA30139239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94909AE3-BC37-4042-8386-759083F22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862" y="2417702"/>
            <a:ext cx="6454699" cy="268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1468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715C96-39D5-4809-8607-4196D81A4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0" lang="zh-CN" altLang="zh-CN" sz="4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第</a:t>
            </a: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五</a:t>
            </a:r>
            <a:r>
              <a:rPr kumimoji="0" lang="zh-CN" altLang="zh-CN" sz="4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章</a:t>
            </a: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偏振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07EF3A-B1AC-4B19-BC76-22DDD3FBA1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2.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双折射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CCF72B7-754D-4661-865F-66CA36A79E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88818"/>
            <a:ext cx="5562600" cy="168402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262E66B-DB44-4D5F-82F0-3BBE872006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72838"/>
            <a:ext cx="5638800" cy="169926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CE51E60-8521-4385-9B93-FF98F88161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5404" y="1886560"/>
            <a:ext cx="6416596" cy="422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5974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BAB5B9-1954-4ABE-8792-AF97CACEE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0" lang="zh-CN" altLang="zh-CN" sz="4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第</a:t>
            </a: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五</a:t>
            </a:r>
            <a:r>
              <a:rPr kumimoji="0" lang="zh-CN" altLang="zh-CN" sz="4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章</a:t>
            </a:r>
            <a:r>
              <a:rPr kumimoji="0" lang="zh-CN" altLang="en-US" sz="4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德彪钢笔行书字库" panose="02000000000000000000" pitchFamily="50" charset="-122"/>
                <a:cs typeface="Times New Roman" panose="02020603050405020304" pitchFamily="18" charset="0"/>
              </a:rPr>
              <a:t>偏振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1FC74B-3F4A-4E21-BFDF-C11DF53AD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3.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晶体的惠更斯作图法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C1AAA62-2665-482F-8793-69386CFFBA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14688"/>
            <a:ext cx="5719429" cy="287948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04E40F3-E60D-4B5B-9D47-4EFCD598DE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9429" y="2082800"/>
            <a:ext cx="617982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674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</TotalTime>
  <Words>657</Words>
  <Application>Microsoft Office PowerPoint</Application>
  <PresentationFormat>宽屏</PresentationFormat>
  <Paragraphs>112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2" baseType="lpstr">
      <vt:lpstr>等线</vt:lpstr>
      <vt:lpstr>等线 Light</vt:lpstr>
      <vt:lpstr>华文楷体</vt:lpstr>
      <vt:lpstr>楷体</vt:lpstr>
      <vt:lpstr>Arial</vt:lpstr>
      <vt:lpstr>Cambria Math</vt:lpstr>
      <vt:lpstr>Office 主题​​</vt:lpstr>
      <vt:lpstr>光学小结 </vt:lpstr>
      <vt:lpstr>第一章光和光的传播 </vt:lpstr>
      <vt:lpstr>第一章光和光的传播</vt:lpstr>
      <vt:lpstr>第一章光和光的传播</vt:lpstr>
      <vt:lpstr>第二章几何光学成像 </vt:lpstr>
      <vt:lpstr>第二章几何光学成像</vt:lpstr>
      <vt:lpstr>第二章几何光学成像</vt:lpstr>
      <vt:lpstr>第二章几何光学成像</vt:lpstr>
      <vt:lpstr>第二章几何光学成像</vt:lpstr>
      <vt:lpstr>第二章几何光学成像</vt:lpstr>
      <vt:lpstr>第三章干涉</vt:lpstr>
      <vt:lpstr>第三章干涉</vt:lpstr>
      <vt:lpstr>第三章干涉</vt:lpstr>
      <vt:lpstr>第三章干涉</vt:lpstr>
      <vt:lpstr>第三章干涉</vt:lpstr>
      <vt:lpstr>第三章干涉</vt:lpstr>
      <vt:lpstr>第三章干涉</vt:lpstr>
      <vt:lpstr>第三章干涉</vt:lpstr>
      <vt:lpstr>第四章衍射</vt:lpstr>
      <vt:lpstr>第四章衍射</vt:lpstr>
      <vt:lpstr>第四章衍射</vt:lpstr>
      <vt:lpstr>第五章偏振</vt:lpstr>
      <vt:lpstr>第五章偏振</vt:lpstr>
      <vt:lpstr>第五章偏振</vt:lpstr>
      <vt:lpstr>第五章偏振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光学小结 </dc:title>
  <dc:creator>赵 子健</dc:creator>
  <cp:lastModifiedBy>赵 子健</cp:lastModifiedBy>
  <cp:revision>4</cp:revision>
  <dcterms:created xsi:type="dcterms:W3CDTF">2024-12-27T06:41:30Z</dcterms:created>
  <dcterms:modified xsi:type="dcterms:W3CDTF">2024-12-27T11:59:35Z</dcterms:modified>
</cp:coreProperties>
</file>